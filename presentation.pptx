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2"/>
  </p:sldMasterIdLst>
  <p:notesMasterIdLst>
    <p:notesMasterId r:id="rId16"/>
  </p:notesMasterIdLst>
  <p:handoutMasterIdLst>
    <p:handoutMasterId r:id="rId17"/>
  </p:handoutMasterIdLst>
  <p:sldIdLst>
    <p:sldId id="273" r:id="rId3"/>
    <p:sldId id="270" r:id="rId4"/>
    <p:sldId id="276" r:id="rId5"/>
    <p:sldId id="279" r:id="rId6"/>
    <p:sldId id="280" r:id="rId7"/>
    <p:sldId id="282" r:id="rId8"/>
    <p:sldId id="281" r:id="rId9"/>
    <p:sldId id="285" r:id="rId10"/>
    <p:sldId id="275" r:id="rId11"/>
    <p:sldId id="278" r:id="rId12"/>
    <p:sldId id="283" r:id="rId13"/>
    <p:sldId id="277" r:id="rId14"/>
    <p:sldId id="274" r:id="rId15"/>
  </p:sldIdLst>
  <p:sldSz cx="12192000" cy="6858000"/>
  <p:notesSz cx="6858000" cy="9144000"/>
  <p:custDataLst>
    <p:tags r:id="rId18"/>
  </p:custDataLst>
  <p:defaultTextStyle>
    <a:defPPr rtl="0">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EBEB"/>
    <a:srgbClr val="F8F8F8"/>
    <a:srgbClr val="D24726"/>
    <a:srgbClr val="D2B4A6"/>
    <a:srgbClr val="734F29"/>
    <a:srgbClr val="DD462F"/>
    <a:srgbClr val="AEB785"/>
    <a:srgbClr val="EFD5A2"/>
    <a:srgbClr val="3B3026"/>
    <a:srgbClr val="ECE1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693" autoAdjust="0"/>
    <p:restoredTop sz="94274" autoAdjust="0"/>
  </p:normalViewPr>
  <p:slideViewPr>
    <p:cSldViewPr showGuides="1">
      <p:cViewPr>
        <p:scale>
          <a:sx n="67" d="100"/>
          <a:sy n="67" d="100"/>
        </p:scale>
        <p:origin x="1236" y="807"/>
      </p:cViewPr>
      <p:guideLst>
        <p:guide orient="horz" pos="2160"/>
        <p:guide pos="3840"/>
      </p:guideLst>
    </p:cSldViewPr>
  </p:slideViewPr>
  <p:notesTextViewPr>
    <p:cViewPr>
      <p:scale>
        <a:sx n="1" d="1"/>
        <a:sy n="1" d="1"/>
      </p:scale>
      <p:origin x="0" y="0"/>
    </p:cViewPr>
  </p:notesTextViewPr>
  <p:notesViewPr>
    <p:cSldViewPr>
      <p:cViewPr varScale="1">
        <p:scale>
          <a:sx n="88" d="100"/>
          <a:sy n="88" d="100"/>
        </p:scale>
        <p:origin x="3786" y="10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handoutMaster" Target="handoutMasters/handoutMaster1.xml"/><Relationship Id="rId2" Type="http://schemas.openxmlformats.org/officeDocument/2006/relationships/slideMaster" Target="slideMasters/slideMaster1.xml"/><Relationship Id="rId16" Type="http://schemas.openxmlformats.org/officeDocument/2006/relationships/notesMaster" Target="notesMasters/notesMaster1.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dirty="0">
              <a:latin typeface="Microsoft YaHei UI" panose="020B0503020204020204" pitchFamily="34" charset="-122"/>
              <a:ea typeface="Microsoft YaHei UI"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744022C-5079-4642-AC6E-7894F9978BBA}" type="datetime2">
              <a:rPr lang="zh-CN" altLang="en-US" smtClean="0">
                <a:latin typeface="Microsoft YaHei UI" panose="020B0503020204020204" pitchFamily="34" charset="-122"/>
                <a:ea typeface="Microsoft YaHei UI" panose="020B0503020204020204" pitchFamily="34" charset="-122"/>
              </a:rPr>
              <a:t>2026年3月7日</a:t>
            </a:fld>
            <a:endParaRPr lang="zh-CN" altLang="en-US" dirty="0">
              <a:latin typeface="Microsoft YaHei UI" panose="020B0503020204020204" pitchFamily="34" charset="-122"/>
              <a:ea typeface="Microsoft YaHei UI"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dirty="0">
              <a:latin typeface="Microsoft YaHei UI" panose="020B0503020204020204" pitchFamily="34" charset="-122"/>
              <a:ea typeface="Microsoft YaHei UI"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BE3BD5-D202-4020-A93E-A1AA1A84DE69}" type="slidenum">
              <a:rPr lang="en-US" altLang="zh-CN" smtClean="0">
                <a:latin typeface="Microsoft YaHei UI" panose="020B0503020204020204" pitchFamily="34" charset="-122"/>
                <a:ea typeface="Microsoft YaHei UI" panose="020B0503020204020204" pitchFamily="34" charset="-122"/>
              </a:rPr>
              <a:t>‹#›</a:t>
            </a:fld>
            <a:endParaRPr lang="zh-CN" altLang="en-US" dirty="0">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icrosoft YaHei UI" panose="020B0503020204020204" pitchFamily="34" charset="-122"/>
                <a:ea typeface="Microsoft YaHei UI" panose="020B0503020204020204" pitchFamily="34" charset="-122"/>
              </a:defRPr>
            </a:lvl1pPr>
          </a:lstStyle>
          <a:p>
            <a:endParaRPr lang="zh-CN" altLang="en-US" noProof="0"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icrosoft YaHei UI" panose="020B0503020204020204" pitchFamily="34" charset="-122"/>
                <a:ea typeface="Microsoft YaHei UI" panose="020B0503020204020204" pitchFamily="34" charset="-122"/>
              </a:defRPr>
            </a:lvl1pPr>
          </a:lstStyle>
          <a:p>
            <a:fld id="{70747F27-0AFF-49DE-ABD2-AA502995B8AE}" type="datetime2">
              <a:rPr lang="zh-CN" altLang="en-US" smtClean="0"/>
              <a:t>2026年3月7日</a:t>
            </a:fld>
            <a:endParaRPr 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n-US" dirty="0"/>
              <a:t>单击此处编辑母版文本样式</a:t>
            </a:r>
          </a:p>
          <a:p>
            <a:pPr lvl="1" rtl="0"/>
            <a:r>
              <a:rPr lang="en-US" dirty="0"/>
              <a:t>第二级</a:t>
            </a:r>
          </a:p>
          <a:p>
            <a:pPr lvl="2" rtl="0"/>
            <a:r>
              <a:rPr lang="en-US" dirty="0"/>
              <a:t>第三级</a:t>
            </a:r>
          </a:p>
          <a:p>
            <a:pPr lvl="3" rtl="0"/>
            <a:r>
              <a:rPr lang="en-US" dirty="0"/>
              <a:t>第四级</a:t>
            </a:r>
          </a:p>
          <a:p>
            <a:pPr lvl="4" rtl="0"/>
            <a:r>
              <a:rPr lang="en-US"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icrosoft YaHei UI" panose="020B0503020204020204" pitchFamily="34" charset="-122"/>
                <a:ea typeface="Microsoft YaHei UI" panose="020B0503020204020204" pitchFamily="34" charset="-122"/>
              </a:defRPr>
            </a:lvl1pPr>
          </a:lstStyle>
          <a:p>
            <a:endParaRPr lang="zh-CN" altLang="en-US" noProof="0"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icrosoft YaHei UI" panose="020B0503020204020204" pitchFamily="34" charset="-122"/>
                <a:ea typeface="Microsoft YaHei UI" panose="020B0503020204020204" pitchFamily="34" charset="-122"/>
              </a:defRPr>
            </a:lvl1pPr>
          </a:lstStyle>
          <a:p>
            <a:fld id="{DF61EA0F-A667-4B49-8422-0062BC55E249}" type="slidenum">
              <a:rPr lang="en-US" smtClean="0"/>
              <a:t>‹#›</a:t>
            </a:fld>
            <a:endParaRPr lang="en-US" dirty="0"/>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1pPr>
    <a:lvl2pPr marL="4572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2pPr>
    <a:lvl3pPr marL="9144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3pPr>
    <a:lvl4pPr marL="13716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4pPr>
    <a:lvl5pPr marL="1828800" algn="l" defTabSz="914400" rtl="0" eaLnBrk="1" latinLnBrk="0" hangingPunct="1">
      <a:defRPr sz="1200" kern="1200">
        <a:solidFill>
          <a:schemeClr val="tx1"/>
        </a:solidFill>
        <a:latin typeface="Microsoft YaHei UI" panose="020B0503020204020204" pitchFamily="34" charset="-122"/>
        <a:ea typeface="Microsoft YaHei UI"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altLang="zh-CN" smtClean="0"/>
              <a:t>1</a:t>
            </a:fld>
            <a:endParaRPr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rtlCol="0"/>
          <a:lstStyle/>
          <a:p>
            <a:pPr rtl="0"/>
            <a:endParaRPr lang="zh-CN" altLang="en-US" dirty="0"/>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685800" y="1143000"/>
            <a:ext cx="5486400" cy="3086100"/>
          </a:xfrm>
        </p:spPr>
      </p:sp>
      <p:sp>
        <p:nvSpPr>
          <p:cNvPr id="3" name="备注占位符 2"/>
          <p:cNvSpPr>
            <a:spLocks noGrp="1"/>
          </p:cNvSpPr>
          <p:nvPr>
            <p:ph type="body" idx="1"/>
          </p:nvPr>
        </p:nvSpPr>
        <p:spPr/>
        <p:txBody>
          <a:bodyPr rtlCol="0"/>
          <a:lstStyle/>
          <a:p>
            <a:pPr rtl="0"/>
            <a:r>
              <a:rPr lang="en-US" sz="1200" kern="1200" dirty="0">
                <a:solidFill>
                  <a:schemeClr val="tx1"/>
                </a:solidFill>
                <a:effectLst/>
                <a:cs typeface="+mn-cs"/>
              </a:rPr>
              <a:t>在幻灯片放映模式下，选择箭头访问相应链接</a:t>
            </a:r>
            <a:r>
              <a:rPr lang="en-US" dirty="0"/>
              <a:t>。</a:t>
            </a:r>
          </a:p>
        </p:txBody>
      </p:sp>
      <p:sp>
        <p:nvSpPr>
          <p:cNvPr id="4" name="灯片编号占位符 3"/>
          <p:cNvSpPr>
            <a:spLocks noGrp="1"/>
          </p:cNvSpPr>
          <p:nvPr>
            <p:ph type="sldNum" sz="quarter" idx="10"/>
          </p:nvPr>
        </p:nvSpPr>
        <p:spPr/>
        <p:txBody>
          <a:bodyPr rtlCol="0"/>
          <a:lstStyle/>
          <a:p>
            <a:pPr rtl="0"/>
            <a:fld id="{DF61EA0F-A667-4B49-8422-0062BC55E249}" type="slidenum">
              <a:rPr lang="en-US" smtClean="0"/>
              <a:t>13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
        <p:nvSpPr>
          <p:cNvPr id="7" name="长方形 6"/>
          <p:cNvSpPr/>
          <p:nvPr/>
        </p:nvSpPr>
        <p:spPr>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dirty="0">
              <a:latin typeface="Microsoft YaHei UI" panose="020B0503020204020204" pitchFamily="34" charset="-122"/>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长方形 6"/>
          <p:cNvSpPr/>
          <p:nvPr/>
        </p:nvSpPr>
        <p:spPr>
          <a:xfrm>
            <a:off x="8963" y="10923"/>
            <a:ext cx="12192000" cy="691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dirty="0">
              <a:latin typeface="Microsoft YaHei UI" panose="020B0503020204020204" pitchFamily="34" charset="-122"/>
              <a:ea typeface="Microsoft YaHei UI" panose="020B0503020204020204" pitchFamily="34" charset="-122"/>
            </a:endParaRPr>
          </a:p>
        </p:txBody>
      </p:sp>
      <p:sp>
        <p:nvSpPr>
          <p:cNvPr id="2" name="标题 1"/>
          <p:cNvSpPr>
            <a:spLocks noGrp="1"/>
          </p:cNvSpPr>
          <p:nvPr>
            <p:ph type="title"/>
          </p:nvPr>
        </p:nvSpPr>
        <p:spPr>
          <a:xfrm>
            <a:off x="604433" y="10923"/>
            <a:ext cx="10749367" cy="730034"/>
          </a:xfrm>
        </p:spPr>
        <p:txBody>
          <a:bodyPr rtlCol="0" anchor="b">
            <a:normAutofit/>
          </a:bodyPr>
          <a:lstStyle>
            <a:lvl1pPr>
              <a:defRPr sz="3600">
                <a:solidFill>
                  <a:schemeClr val="bg1"/>
                </a:solidFill>
                <a:latin typeface="Microsoft YaHei UI" panose="020B0503020204020204" pitchFamily="34" charset="-122"/>
                <a:ea typeface="Microsoft YaHei UI" panose="020B0503020204020204" pitchFamily="34" charset="-122"/>
              </a:defRPr>
            </a:lvl1pPr>
          </a:lstStyle>
          <a:p>
            <a:pPr rtl="0"/>
            <a:r>
              <a:rPr lang="zh-CN" altLang="en-US" dirty="0"/>
              <a:t>单击此处编辑母版标题样式</a:t>
            </a:r>
            <a:endParaRPr lang="en-US" dirty="0"/>
          </a:p>
        </p:txBody>
      </p:sp>
      <p:sp>
        <p:nvSpPr>
          <p:cNvPr id="3" name="内容占位符 2"/>
          <p:cNvSpPr>
            <a:spLocks noGrp="1"/>
          </p:cNvSpPr>
          <p:nvPr>
            <p:ph idx="1" hasCustomPrompt="1"/>
          </p:nvPr>
        </p:nvSpPr>
        <p:spPr>
          <a:xfrm>
            <a:off x="838201" y="980728"/>
            <a:ext cx="4167753" cy="5196235"/>
          </a:xfrm>
        </p:spPr>
        <p:txBody>
          <a:bodyPr lIns="0" tIns="0" rIns="0" bIns="0" rtlCol="0">
            <a:normAutofit/>
          </a:bodyPr>
          <a:lstStyle>
            <a:lvl1pPr marL="0" indent="0">
              <a:lnSpc>
                <a:spcPct val="130000"/>
              </a:lnSpc>
              <a:spcBef>
                <a:spcPts val="500"/>
              </a:spcBef>
              <a:spcAft>
                <a:spcPts val="1000"/>
              </a:spcAft>
              <a:buNone/>
              <a:defRPr sz="16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vl2pPr>
              <a:lnSpc>
                <a:spcPct val="130000"/>
              </a:lnSpc>
              <a:spcBef>
                <a:spcPts val="500"/>
              </a:spcBef>
              <a:spcAft>
                <a:spcPts val="1000"/>
              </a:spcAft>
              <a:defRPr sz="1400" baseline="0">
                <a:solidFill>
                  <a:schemeClr val="tx1">
                    <a:lumMod val="65000"/>
                    <a:lumOff val="35000"/>
                  </a:schemeClr>
                </a:solidFill>
                <a:latin typeface="Microsoft YaHei UI" panose="020B0503020204020204" pitchFamily="34" charset="-122"/>
                <a:ea typeface="Microsoft YaHei UI" panose="020B0503020204020204" pitchFamily="34" charset="-122"/>
              </a:defRPr>
            </a:lvl2pPr>
            <a:lvl3pPr>
              <a:lnSpc>
                <a:spcPct val="130000"/>
              </a:lnSpc>
              <a:spcAft>
                <a:spcPts val="1000"/>
              </a:spcAft>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3pPr>
            <a:lvl4pPr>
              <a:lnSpc>
                <a:spcPct val="130000"/>
              </a:lnSpc>
              <a:spcAft>
                <a:spcPts val="1000"/>
              </a:spcAft>
              <a:defRPr sz="1100" baseline="0">
                <a:solidFill>
                  <a:schemeClr val="tx1">
                    <a:lumMod val="65000"/>
                    <a:lumOff val="35000"/>
                  </a:schemeClr>
                </a:solidFill>
                <a:latin typeface="Microsoft YaHei UI" panose="020B0503020204020204" pitchFamily="34" charset="-122"/>
                <a:ea typeface="Microsoft YaHei UI" panose="020B0503020204020204" pitchFamily="34" charset="-122"/>
              </a:defRPr>
            </a:lvl4pPr>
            <a:lvl5pPr>
              <a:lnSpc>
                <a:spcPct val="130000"/>
              </a:lnSpc>
              <a:spcAft>
                <a:spcPts val="1000"/>
              </a:spcAft>
              <a:defRPr sz="1100" baseline="0">
                <a:solidFill>
                  <a:schemeClr val="tx1">
                    <a:lumMod val="65000"/>
                    <a:lumOff val="35000"/>
                  </a:schemeClr>
                </a:solidFill>
                <a:latin typeface="Microsoft YaHei UI" panose="020B0503020204020204" pitchFamily="34" charset="-122"/>
                <a:ea typeface="Microsoft YaHei UI" panose="020B0503020204020204" pitchFamily="34" charset="-122"/>
              </a:defRPr>
            </a:lvl5pPr>
          </a:lstStyle>
          <a:p>
            <a:pPr lvl="0" rtl="0"/>
            <a:r>
              <a:rPr lang="zh-CN" altLang="en-US"/>
              <a:t>编辑母版文本样式
第二级
第三级
第四级
第五级</a:t>
            </a:r>
            <a:endParaRPr lang="en-US" dirty="0"/>
          </a:p>
        </p:txBody>
      </p:sp>
      <p:sp>
        <p:nvSpPr>
          <p:cNvPr id="4" name="日期占位符 3"/>
          <p:cNvSpPr>
            <a:spLocks noGrp="1"/>
          </p:cNvSpPr>
          <p:nvPr>
            <p:ph type="dt" sz="half" idx="10"/>
          </p:nvPr>
        </p:nvSpPr>
        <p:spPr/>
        <p:txBody>
          <a:bodyPr rtlCol="0"/>
          <a:lstStyle>
            <a:lvl1pPr>
              <a:defRPr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94B3CDE5-BC73-4849-8D92-CB00948283D7}" type="datetime2">
              <a:rPr lang="zh-CN" altLang="en-US" smtClean="0"/>
              <a:t>2026年3月7日</a:t>
            </a:fld>
            <a:endParaRPr lang="en-US"/>
          </a:p>
        </p:txBody>
      </p:sp>
      <p:sp>
        <p:nvSpPr>
          <p:cNvPr id="5" name="页脚占位符 4"/>
          <p:cNvSpPr>
            <a:spLocks noGrp="1"/>
          </p:cNvSpPr>
          <p:nvPr>
            <p:ph type="ftr" sz="quarter" idx="11"/>
          </p:nvPr>
        </p:nvSpPr>
        <p:spPr/>
        <p:txBody>
          <a:bodyPr rtlCol="0"/>
          <a:lstStyle>
            <a:lvl1pPr>
              <a:defRPr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endParaRPr lang="en-US"/>
          </a:p>
        </p:txBody>
      </p:sp>
      <p:sp>
        <p:nvSpPr>
          <p:cNvPr id="6" name="灯片编号占位符 5"/>
          <p:cNvSpPr>
            <a:spLocks noGrp="1"/>
          </p:cNvSpPr>
          <p:nvPr>
            <p:ph type="sldNum" sz="quarter" idx="12"/>
          </p:nvPr>
        </p:nvSpPr>
        <p:spPr/>
        <p:txBody>
          <a:bodyPr rtlCol="0"/>
          <a:lstStyle>
            <a:lvl1pPr>
              <a:defRPr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节标题">
    <p:spTree>
      <p:nvGrpSpPr>
        <p:cNvPr id="1" name=""/>
        <p:cNvGrpSpPr/>
        <p:nvPr/>
      </p:nvGrpSpPr>
      <p:grpSpPr>
        <a:xfrm>
          <a:off x="0" y="0"/>
          <a:ext cx="0" cy="0"/>
          <a:chOff x="0" y="0"/>
          <a:chExt cx="0" cy="0"/>
        </a:xfrm>
      </p:grpSpPr>
      <p:sp>
        <p:nvSpPr>
          <p:cNvPr id="9" name="长方形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
        <p:nvSpPr>
          <p:cNvPr id="10" name="长方形 9"/>
          <p:cNvSpPr/>
          <p:nvPr userDrawn="1"/>
        </p:nvSpPr>
        <p:spPr>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800" noProof="0">
              <a:latin typeface="Microsoft YaHei UI" panose="020B0503020204020204" pitchFamily="34" charset="-122"/>
              <a:ea typeface="Microsoft YaHei UI" panose="020B0503020204020204" pitchFamily="34" charset="-122"/>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zh-CN" altLang="en-US" noProof="0" dirty="0"/>
              <a:t>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4" name="日期占位符 3"/>
          <p:cNvSpPr>
            <a:spLocks noGrp="1"/>
          </p:cNvSpPr>
          <p:nvPr>
            <p:ph type="dt" sz="half" idx="2"/>
          </p:nvPr>
        </p:nvSpPr>
        <p:spPr>
          <a:xfrm>
            <a:off x="838200" y="63563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131E3292-D461-4042-A5EB-629C7A8279A7}" type="datetime2">
              <a:rPr lang="zh-CN" altLang="en-US" smtClean="0"/>
              <a:t>2026年3月7日</a:t>
            </a:fld>
            <a:endParaRPr lang="zh-CN" altLang="en-US" dirty="0"/>
          </a:p>
        </p:txBody>
      </p:sp>
      <p:sp>
        <p:nvSpPr>
          <p:cNvPr id="5" name="页脚占位符 4"/>
          <p:cNvSpPr>
            <a:spLocks noGrp="1"/>
          </p:cNvSpPr>
          <p:nvPr>
            <p:ph type="ftr" sz="quarter" idx="3"/>
          </p:nvPr>
        </p:nvSpPr>
        <p:spPr>
          <a:xfrm>
            <a:off x="4648200" y="63563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endParaRPr lang="zh-CN" altLang="en-US" dirty="0"/>
          </a:p>
        </p:txBody>
      </p:sp>
      <p:sp>
        <p:nvSpPr>
          <p:cNvPr id="6" name="灯片编号占位符 5"/>
          <p:cNvSpPr>
            <a:spLocks noGrp="1"/>
          </p:cNvSpPr>
          <p:nvPr>
            <p:ph type="sldNum" sz="quarter" idx="4"/>
          </p:nvPr>
        </p:nvSpPr>
        <p:spPr>
          <a:xfrm>
            <a:off x="8077200" y="63563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t>‹#›</a:t>
            </a:fld>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l" defTabSz="914400" rtl="0" eaLnBrk="1" latinLnBrk="0" hangingPunct="1">
        <a:spcBef>
          <a:spcPct val="0"/>
        </a:spcBef>
        <a:buNone/>
        <a:defRPr sz="44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228600" indent="-228600" algn="l" defTabSz="914400" rtl="0" eaLnBrk="1" latinLnBrk="0" hangingPunct="1">
        <a:lnSpc>
          <a:spcPct val="90000"/>
        </a:lnSpc>
        <a:spcBef>
          <a:spcPct val="30000"/>
        </a:spcBef>
        <a:buFont typeface="Arial" panose="020B0604020202020204" pitchFamily="34" charset="0"/>
        <a:buChar char="•"/>
        <a:defRPr sz="2800" kern="1200">
          <a:solidFill>
            <a:schemeClr val="tx1"/>
          </a:solidFill>
          <a:latin typeface="Microsoft YaHei UI" panose="020B0503020204020204" pitchFamily="34" charset="-122"/>
          <a:ea typeface="Microsoft YaHei UI" panose="020B0503020204020204" pitchFamily="34" charset="-122"/>
          <a:cs typeface="+mn-cs"/>
        </a:defRPr>
      </a:lvl1pPr>
      <a:lvl2pPr marL="685800" indent="-228600" algn="l" defTabSz="914400" rtl="0" eaLnBrk="1" latinLnBrk="0" hangingPunct="1">
        <a:lnSpc>
          <a:spcPct val="90000"/>
        </a:lnSpc>
        <a:spcBef>
          <a:spcPct val="30000"/>
        </a:spcBef>
        <a:buFont typeface="Arial" panose="020B0604020202020204" pitchFamily="34" charset="0"/>
        <a:buChar char="•"/>
        <a:defRPr sz="2400" kern="1200">
          <a:solidFill>
            <a:schemeClr val="tx1"/>
          </a:solidFill>
          <a:latin typeface="Microsoft YaHei UI" panose="020B0503020204020204" pitchFamily="34" charset="-122"/>
          <a:ea typeface="Microsoft YaHei UI" panose="020B0503020204020204" pitchFamily="34" charset="-122"/>
          <a:cs typeface="+mn-cs"/>
        </a:defRPr>
      </a:lvl2pPr>
      <a:lvl3pPr marL="1143000" indent="-228600" algn="l" defTabSz="914400" rtl="0" eaLnBrk="1" latinLnBrk="0" hangingPunct="1">
        <a:lnSpc>
          <a:spcPct val="90000"/>
        </a:lnSpc>
        <a:spcBef>
          <a:spcPct val="30000"/>
        </a:spcBef>
        <a:buFont typeface="Arial" panose="020B0604020202020204" pitchFamily="34" charset="0"/>
        <a:buChar char="•"/>
        <a:defRPr sz="2000" kern="1200">
          <a:solidFill>
            <a:schemeClr val="tx1"/>
          </a:solidFill>
          <a:latin typeface="Microsoft YaHei UI" panose="020B0503020204020204" pitchFamily="34" charset="-122"/>
          <a:ea typeface="Microsoft YaHei UI" panose="020B0503020204020204" pitchFamily="34" charset="-122"/>
          <a:cs typeface="+mn-cs"/>
        </a:defRPr>
      </a:lvl3pPr>
      <a:lvl4pPr marL="1600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icrosoft YaHei UI" panose="020B0503020204020204" pitchFamily="34" charset="-122"/>
          <a:ea typeface="Microsoft YaHei UI" panose="020B0503020204020204" pitchFamily="34" charset="-122"/>
          <a:cs typeface="+mn-cs"/>
        </a:defRPr>
      </a:lvl4pPr>
      <a:lvl5pPr marL="20574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icrosoft YaHei UI" panose="020B0503020204020204" pitchFamily="34" charset="-122"/>
          <a:ea typeface="Microsoft YaHei UI" panose="020B0503020204020204" pitchFamily="34" charset="-122"/>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github.com/rain-lei/oureda-25-web-winter.gi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codewars.com/kata/62013b174c72240016600e60/train/javascript"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idx="4294967295"/>
          </p:nvPr>
        </p:nvSpPr>
        <p:spPr>
          <a:xfrm>
            <a:off x="811306" y="1164325"/>
            <a:ext cx="10613286" cy="2389365"/>
          </a:xfrm>
        </p:spPr>
        <p:txBody>
          <a:bodyPr rtlCol="0">
            <a:noAutofit/>
          </a:bodyPr>
          <a:lstStyle/>
          <a:p>
            <a:pPr rtl="0"/>
            <a:r>
              <a:rPr lang="en-US" altLang="zh-CN" sz="4600" dirty="0" err="1">
                <a:solidFill>
                  <a:schemeClr val="bg1"/>
                </a:solidFill>
                <a:cs typeface="Arial" panose="020B0604020202020204" pitchFamily="34" charset="0"/>
              </a:rPr>
              <a:t>OurEDA</a:t>
            </a:r>
            <a:r>
              <a:rPr lang="zh-CN" altLang="en-US" sz="4600" dirty="0">
                <a:solidFill>
                  <a:schemeClr val="bg1"/>
                </a:solidFill>
                <a:cs typeface="Arial" panose="020B0604020202020204" pitchFamily="34" charset="0"/>
              </a:rPr>
              <a:t> </a:t>
            </a:r>
            <a:r>
              <a:rPr lang="en-US" altLang="zh-CN" sz="4600">
                <a:solidFill>
                  <a:schemeClr val="bg1"/>
                </a:solidFill>
                <a:cs typeface="Arial" panose="020B0604020202020204" pitchFamily="34" charset="0"/>
              </a:rPr>
              <a:t>2025</a:t>
            </a:r>
            <a:r>
              <a:rPr lang="zh-CN" altLang="en-US" sz="4600">
                <a:solidFill>
                  <a:schemeClr val="bg1"/>
                </a:solidFill>
                <a:cs typeface="Arial" panose="020B0604020202020204" pitchFamily="34" charset="0"/>
              </a:rPr>
              <a:t>级大一上作业</a:t>
            </a:r>
            <a:r>
              <a:rPr lang="zh-CN" altLang="en-US" sz="4600" dirty="0">
                <a:solidFill>
                  <a:schemeClr val="bg1"/>
                </a:solidFill>
                <a:cs typeface="Arial" panose="020B0604020202020204" pitchFamily="34" charset="0"/>
              </a:rPr>
              <a:t>答辩</a:t>
            </a:r>
            <a:br>
              <a:rPr lang="en-US" altLang="zh-CN" sz="4600" dirty="0">
                <a:solidFill>
                  <a:schemeClr val="bg1"/>
                </a:solidFill>
                <a:cs typeface="Arial" panose="020B0604020202020204" pitchFamily="34" charset="0"/>
              </a:rPr>
            </a:br>
            <a:r>
              <a:rPr lang="zh-CN" altLang="en-US" sz="4600" dirty="0">
                <a:solidFill>
                  <a:schemeClr val="bg1"/>
                </a:solidFill>
                <a:cs typeface="Arial" panose="020B0604020202020204" pitchFamily="34" charset="0"/>
              </a:rPr>
              <a:t>方向：</a:t>
            </a:r>
            <a:r>
              <a:rPr lang="en-US" altLang="zh-CN" sz="4600" dirty="0">
                <a:solidFill>
                  <a:schemeClr val="bg1"/>
                </a:solidFill>
                <a:cs typeface="Arial" panose="020B0604020202020204" pitchFamily="34" charset="0"/>
              </a:rPr>
              <a:t>WEB</a:t>
            </a:r>
            <a:endParaRPr lang="en-US" sz="4600" dirty="0">
              <a:solidFill>
                <a:schemeClr val="bg1"/>
              </a:solidFill>
              <a:cs typeface="Arial" panose="020B0604020202020204" pitchFamily="34" charset="0"/>
            </a:endParaRPr>
          </a:p>
        </p:txBody>
      </p:sp>
      <p:sp>
        <p:nvSpPr>
          <p:cNvPr id="3" name="副标题 2"/>
          <p:cNvSpPr>
            <a:spLocks noGrp="1"/>
          </p:cNvSpPr>
          <p:nvPr>
            <p:ph type="subTitle" idx="4294967295"/>
          </p:nvPr>
        </p:nvSpPr>
        <p:spPr>
          <a:xfrm>
            <a:off x="827465" y="4437112"/>
            <a:ext cx="9582736" cy="1133856"/>
          </a:xfrm>
        </p:spPr>
        <p:txBody>
          <a:bodyPr rtlCol="0">
            <a:normAutofit/>
          </a:bodyPr>
          <a:lstStyle/>
          <a:p>
            <a:pPr marL="0" indent="0" rtl="0">
              <a:buNone/>
            </a:pPr>
            <a:r>
              <a:rPr lang="zh-CN" altLang="en-US" sz="2400" dirty="0">
                <a:solidFill>
                  <a:schemeClr val="bg1"/>
                </a:solidFill>
                <a:cs typeface="Arial" panose="020B0604020202020204" pitchFamily="34" charset="0"/>
              </a:rPr>
              <a:t>答辩人</a:t>
            </a:r>
            <a:r>
              <a:rPr lang="zh-CN" altLang="en-US" sz="2400" dirty="0">
                <a:solidFill>
                  <a:schemeClr val="bg1"/>
                </a:solidFill>
                <a:cs typeface="Arial" panose="020B0604020202020204" pitchFamily="34" charset="0"/>
                <a:sym typeface="Wingdings" panose="05000000000000000000" pitchFamily="2" charset="2"/>
              </a:rPr>
              <a:t>：雷宇</a:t>
            </a:r>
            <a:r>
              <a:rPr lang="en-US" altLang="zh-CN" sz="2400" dirty="0">
                <a:solidFill>
                  <a:schemeClr val="bg1"/>
                </a:solidFill>
                <a:cs typeface="Arial" panose="020B0604020202020204" pitchFamily="34" charset="0"/>
                <a:sym typeface="Wingdings" panose="05000000000000000000" pitchFamily="2" charset="2"/>
              </a:rPr>
              <a:t> </a:t>
            </a:r>
            <a:r>
              <a:rPr lang="zh-CN" altLang="en-US" sz="2400" dirty="0">
                <a:solidFill>
                  <a:schemeClr val="bg1"/>
                </a:solidFill>
                <a:cs typeface="Arial" panose="020B0604020202020204" pitchFamily="34" charset="0"/>
                <a:sym typeface="Wingdings" panose="05000000000000000000" pitchFamily="2" charset="2"/>
              </a:rPr>
              <a:t>求实</a:t>
            </a:r>
            <a:r>
              <a:rPr lang="en-US" altLang="zh-CN" sz="2400" dirty="0">
                <a:solidFill>
                  <a:schemeClr val="bg1"/>
                </a:solidFill>
                <a:cs typeface="Arial" panose="020B0604020202020204" pitchFamily="34" charset="0"/>
                <a:sym typeface="Wingdings" panose="05000000000000000000" pitchFamily="2" charset="2"/>
              </a:rPr>
              <a:t>2501 QQ</a:t>
            </a:r>
            <a:r>
              <a:rPr lang="zh-CN" altLang="en-US" sz="2400" dirty="0">
                <a:solidFill>
                  <a:schemeClr val="bg1"/>
                </a:solidFill>
                <a:cs typeface="Arial" panose="020B0604020202020204" pitchFamily="34" charset="0"/>
                <a:sym typeface="Wingdings" panose="05000000000000000000" pitchFamily="2" charset="2"/>
              </a:rPr>
              <a:t>：</a:t>
            </a:r>
            <a:r>
              <a:rPr lang="en-US" altLang="zh-CN" sz="2400" dirty="0">
                <a:solidFill>
                  <a:schemeClr val="bg1"/>
                </a:solidFill>
                <a:cs typeface="Arial" panose="020B0604020202020204" pitchFamily="34" charset="0"/>
                <a:sym typeface="Wingdings" panose="05000000000000000000" pitchFamily="2" charset="2"/>
              </a:rPr>
              <a:t>3012291549</a:t>
            </a:r>
            <a:endParaRPr lang="en-US" altLang="zh-CN" sz="2400" dirty="0">
              <a:solidFill>
                <a:schemeClr val="bg1"/>
              </a:solidFill>
              <a:cs typeface="Arial" panose="020B0604020202020204" pitchFamily="34" charset="0"/>
            </a:endParaRPr>
          </a:p>
          <a:p>
            <a:pPr marL="0" indent="0" rtl="0">
              <a:buNone/>
            </a:pPr>
            <a:r>
              <a:rPr lang="zh-CN" altLang="en-US" sz="2400" dirty="0">
                <a:solidFill>
                  <a:schemeClr val="bg1"/>
                </a:solidFill>
                <a:cs typeface="Arial" panose="020B0604020202020204" pitchFamily="34" charset="0"/>
              </a:rPr>
              <a:t>答辩时间：</a:t>
            </a:r>
            <a:r>
              <a:rPr lang="en-US" sz="2400" dirty="0">
                <a:solidFill>
                  <a:schemeClr val="bg1"/>
                </a:solidFill>
                <a:cs typeface="Arial" panose="020B0604020202020204" pitchFamily="34" charset="0"/>
              </a:rPr>
              <a:t>2026.03.08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en-US" altLang="zh-CN" b="1" dirty="0"/>
              <a:t>Git</a:t>
            </a:r>
            <a:endParaRPr lang="en-US" altLang="zh-CN" dirty="0"/>
          </a:p>
        </p:txBody>
      </p:sp>
      <p:pic>
        <p:nvPicPr>
          <p:cNvPr id="4" name="图片 3"/>
          <p:cNvPicPr>
            <a:picLocks noChangeAspect="1"/>
          </p:cNvPicPr>
          <p:nvPr/>
        </p:nvPicPr>
        <p:blipFill>
          <a:blip r:embed="rId3"/>
          <a:stretch>
            <a:fillRect/>
          </a:stretch>
        </p:blipFill>
        <p:spPr>
          <a:xfrm>
            <a:off x="604433" y="1412776"/>
            <a:ext cx="1438476" cy="1600423"/>
          </a:xfrm>
          <a:prstGeom prst="rect">
            <a:avLst/>
          </a:prstGeom>
        </p:spPr>
      </p:pic>
      <p:sp>
        <p:nvSpPr>
          <p:cNvPr id="5" name="文本框 4"/>
          <p:cNvSpPr txBox="1"/>
          <p:nvPr/>
        </p:nvSpPr>
        <p:spPr>
          <a:xfrm>
            <a:off x="2423592" y="1556792"/>
            <a:ext cx="9937104" cy="2677656"/>
          </a:xfrm>
          <a:prstGeom prst="rect">
            <a:avLst/>
          </a:prstGeom>
          <a:noFill/>
        </p:spPr>
        <p:txBody>
          <a:bodyPr wrap="square" rtlCol="0">
            <a:spAutoFit/>
          </a:bodyPr>
          <a:lstStyle/>
          <a:p>
            <a:r>
              <a:rPr lang="en-US" altLang="zh-CN" sz="2400" b="1" dirty="0" err="1"/>
              <a:t>Github</a:t>
            </a:r>
            <a:r>
              <a:rPr lang="zh-CN" altLang="en-US" sz="2400" b="1" dirty="0"/>
              <a:t>：</a:t>
            </a:r>
            <a:r>
              <a:rPr lang="en-US" altLang="zh-CN" sz="2400" b="1" dirty="0"/>
              <a:t>fork</a:t>
            </a:r>
          </a:p>
          <a:p>
            <a:r>
              <a:rPr lang="en-US" altLang="zh-CN" sz="2400" b="1" dirty="0"/>
              <a:t>git clone </a:t>
            </a:r>
            <a:r>
              <a:rPr lang="en-US" altLang="zh-CN" sz="2400" b="1" dirty="0">
                <a:hlinkClick r:id="rId4"/>
              </a:rPr>
              <a:t>https://github.com/rain-lei/oureda-25-web-winter.git</a:t>
            </a:r>
            <a:endParaRPr lang="en-US" altLang="zh-CN" sz="2400" b="1" dirty="0"/>
          </a:p>
          <a:p>
            <a:r>
              <a:rPr lang="en-US" altLang="zh-CN" sz="2400" b="1" dirty="0"/>
              <a:t>git checkout -b git-homework</a:t>
            </a:r>
          </a:p>
          <a:p>
            <a:r>
              <a:rPr lang="en-US" altLang="zh-CN" sz="2400" b="1" dirty="0"/>
              <a:t>git add .</a:t>
            </a:r>
          </a:p>
          <a:p>
            <a:r>
              <a:rPr lang="en-US" altLang="zh-CN" sz="2400" b="1" dirty="0"/>
              <a:t>git commit -m “”</a:t>
            </a:r>
          </a:p>
          <a:p>
            <a:r>
              <a:rPr lang="en-US" altLang="zh-CN" sz="2400" b="1" dirty="0"/>
              <a:t>git push origin git-homework</a:t>
            </a:r>
          </a:p>
          <a:p>
            <a:r>
              <a:rPr lang="en-US" altLang="zh-CN" sz="2400" b="1" dirty="0" err="1"/>
              <a:t>Github</a:t>
            </a:r>
            <a:r>
              <a:rPr lang="zh-CN" altLang="en-US" sz="2400" b="1" dirty="0"/>
              <a:t>操作</a:t>
            </a:r>
          </a:p>
        </p:txBody>
      </p:sp>
      <p:pic>
        <p:nvPicPr>
          <p:cNvPr id="7" name="图片 6"/>
          <p:cNvPicPr>
            <a:picLocks noChangeAspect="1"/>
          </p:cNvPicPr>
          <p:nvPr/>
        </p:nvPicPr>
        <p:blipFill>
          <a:blip r:embed="rId5"/>
          <a:stretch>
            <a:fillRect/>
          </a:stretch>
        </p:blipFill>
        <p:spPr>
          <a:xfrm>
            <a:off x="14266" y="5597858"/>
            <a:ext cx="7449590" cy="1038370"/>
          </a:xfrm>
          <a:prstGeom prst="rect">
            <a:avLst/>
          </a:prstGeom>
        </p:spPr>
      </p:pic>
      <p:pic>
        <p:nvPicPr>
          <p:cNvPr id="6" name="图片 5"/>
          <p:cNvPicPr>
            <a:picLocks noChangeAspect="1"/>
          </p:cNvPicPr>
          <p:nvPr/>
        </p:nvPicPr>
        <p:blipFill>
          <a:blip r:embed="rId6"/>
          <a:stretch>
            <a:fillRect/>
          </a:stretch>
        </p:blipFill>
        <p:spPr>
          <a:xfrm>
            <a:off x="7824192" y="2365954"/>
            <a:ext cx="3653845" cy="406082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zh-CN" altLang="en-US" dirty="0"/>
              <a:t>知识点自测</a:t>
            </a:r>
            <a:endParaRPr lang="en-US" altLang="zh-CN" dirty="0"/>
          </a:p>
        </p:txBody>
      </p:sp>
      <p:sp>
        <p:nvSpPr>
          <p:cNvPr id="5" name="文本框 4"/>
          <p:cNvSpPr txBox="1"/>
          <p:nvPr/>
        </p:nvSpPr>
        <p:spPr>
          <a:xfrm>
            <a:off x="335360" y="5318082"/>
            <a:ext cx="9937104" cy="1200329"/>
          </a:xfrm>
          <a:prstGeom prst="rect">
            <a:avLst/>
          </a:prstGeom>
          <a:noFill/>
        </p:spPr>
        <p:txBody>
          <a:bodyPr wrap="square" rtlCol="0">
            <a:spAutoFit/>
          </a:bodyPr>
          <a:lstStyle/>
          <a:p>
            <a:r>
              <a:rPr lang="en-US" altLang="zh-CN" sz="2400" b="1" dirty="0"/>
              <a:t>【3</a:t>
            </a:r>
            <a:r>
              <a:rPr lang="zh-CN" altLang="en-US" sz="2400" b="1" dirty="0"/>
              <a:t>小时前端入门教程（</a:t>
            </a:r>
            <a:r>
              <a:rPr lang="en-US" altLang="zh-CN" sz="2400" b="1" dirty="0"/>
              <a:t>HTML+CSS+JS</a:t>
            </a:r>
            <a:r>
              <a:rPr lang="zh-CN" altLang="en-US" sz="2400" b="1" dirty="0"/>
              <a:t>）</a:t>
            </a:r>
            <a:r>
              <a:rPr lang="en-US" altLang="zh-CN" sz="2400" b="1" dirty="0"/>
              <a:t>】 https://www.bilibili.com/video/BV1BT4y1W7Aw/?share_source=copy_web&amp;vd_source=058ab172730a5bc8ad036318d540a3c0</a:t>
            </a:r>
            <a:endParaRPr lang="zh-CN" altLang="en-US" sz="2400" b="1" dirty="0"/>
          </a:p>
        </p:txBody>
      </p:sp>
      <p:pic>
        <p:nvPicPr>
          <p:cNvPr id="6" name="图片 5"/>
          <p:cNvPicPr>
            <a:picLocks noChangeAspect="1"/>
          </p:cNvPicPr>
          <p:nvPr/>
        </p:nvPicPr>
        <p:blipFill>
          <a:blip r:embed="rId3"/>
          <a:stretch>
            <a:fillRect/>
          </a:stretch>
        </p:blipFill>
        <p:spPr>
          <a:xfrm>
            <a:off x="335360" y="1124744"/>
            <a:ext cx="4427316" cy="3809551"/>
          </a:xfrm>
          <a:prstGeom prst="rect">
            <a:avLst/>
          </a:prstGeom>
        </p:spPr>
      </p:pic>
      <p:sp>
        <p:nvSpPr>
          <p:cNvPr id="8" name="文本框 7"/>
          <p:cNvSpPr txBox="1"/>
          <p:nvPr/>
        </p:nvSpPr>
        <p:spPr>
          <a:xfrm>
            <a:off x="5159896" y="2960674"/>
            <a:ext cx="5184576" cy="1569660"/>
          </a:xfrm>
          <a:prstGeom prst="rect">
            <a:avLst/>
          </a:prstGeom>
          <a:noFill/>
        </p:spPr>
        <p:txBody>
          <a:bodyPr wrap="square" rtlCol="0">
            <a:spAutoFit/>
          </a:bodyPr>
          <a:lstStyle/>
          <a:p>
            <a:r>
              <a:rPr lang="en-US" altLang="zh-CN" sz="3200" b="1" dirty="0"/>
              <a:t>+	</a:t>
            </a:r>
            <a:r>
              <a:rPr lang="zh-CN" altLang="en-US" sz="3200" b="1" dirty="0"/>
              <a:t>专项问题（黑马）</a:t>
            </a:r>
            <a:endParaRPr lang="en-US" altLang="zh-CN" sz="3200" b="1" dirty="0"/>
          </a:p>
          <a:p>
            <a:r>
              <a:rPr lang="en-US" altLang="zh-CN" sz="3200" b="1" dirty="0"/>
              <a:t>+	AI</a:t>
            </a:r>
          </a:p>
          <a:p>
            <a:r>
              <a:rPr lang="en-US" altLang="zh-CN" sz="3200" b="1" dirty="0"/>
              <a:t>+	</a:t>
            </a:r>
            <a:r>
              <a:rPr lang="zh-CN" altLang="en-US" sz="3200" b="1" dirty="0"/>
              <a:t>菜鸟教程（字典）</a:t>
            </a:r>
          </a:p>
        </p:txBody>
      </p:sp>
      <p:pic>
        <p:nvPicPr>
          <p:cNvPr id="10" name="图片 9"/>
          <p:cNvPicPr>
            <a:picLocks noChangeAspect="1"/>
          </p:cNvPicPr>
          <p:nvPr/>
        </p:nvPicPr>
        <p:blipFill>
          <a:blip r:embed="rId4"/>
          <a:stretch>
            <a:fillRect/>
          </a:stretch>
        </p:blipFill>
        <p:spPr>
          <a:xfrm>
            <a:off x="5375920" y="775495"/>
            <a:ext cx="5663952" cy="1809978"/>
          </a:xfrm>
          <a:prstGeom prst="rect">
            <a:avLst/>
          </a:prstGeom>
        </p:spPr>
      </p:pic>
      <p:pic>
        <p:nvPicPr>
          <p:cNvPr id="4" name="图片 3"/>
          <p:cNvPicPr>
            <a:picLocks noChangeAspect="1"/>
          </p:cNvPicPr>
          <p:nvPr/>
        </p:nvPicPr>
        <p:blipFill>
          <a:blip r:embed="rId5"/>
          <a:stretch>
            <a:fillRect/>
          </a:stretch>
        </p:blipFill>
        <p:spPr>
          <a:xfrm>
            <a:off x="9445779" y="2307242"/>
            <a:ext cx="2410861" cy="21319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en-US" altLang="zh-CN" b="1" dirty="0"/>
              <a:t>Wordle</a:t>
            </a:r>
            <a:endParaRPr lang="en-US" altLang="zh-CN" dirty="0"/>
          </a:p>
        </p:txBody>
      </p:sp>
      <p:sp>
        <p:nvSpPr>
          <p:cNvPr id="5" name="文本框 4"/>
          <p:cNvSpPr txBox="1"/>
          <p:nvPr/>
        </p:nvSpPr>
        <p:spPr>
          <a:xfrm>
            <a:off x="2423592" y="1556792"/>
            <a:ext cx="9937104" cy="461665"/>
          </a:xfrm>
          <a:prstGeom prst="rect">
            <a:avLst/>
          </a:prstGeom>
          <a:noFill/>
        </p:spPr>
        <p:txBody>
          <a:bodyPr wrap="square" rtlCol="0">
            <a:spAutoFit/>
          </a:bodyPr>
          <a:lstStyle/>
          <a:p>
            <a:endParaRPr lang="en-US" altLang="zh-CN" sz="2400" b="1" dirty="0" err="1"/>
          </a:p>
        </p:txBody>
      </p:sp>
      <p:pic>
        <p:nvPicPr>
          <p:cNvPr id="6" name="图片 5"/>
          <p:cNvPicPr>
            <a:picLocks noChangeAspect="1"/>
          </p:cNvPicPr>
          <p:nvPr/>
        </p:nvPicPr>
        <p:blipFill>
          <a:blip r:embed="rId3"/>
          <a:stretch>
            <a:fillRect/>
          </a:stretch>
        </p:blipFill>
        <p:spPr>
          <a:xfrm>
            <a:off x="-168696" y="692696"/>
            <a:ext cx="14958239" cy="3780112"/>
          </a:xfrm>
          <a:prstGeom prst="rect">
            <a:avLst/>
          </a:prstGeom>
        </p:spPr>
      </p:pic>
      <p:sp>
        <p:nvSpPr>
          <p:cNvPr id="7" name="文本框 6"/>
          <p:cNvSpPr txBox="1"/>
          <p:nvPr/>
        </p:nvSpPr>
        <p:spPr>
          <a:xfrm>
            <a:off x="1631504" y="769324"/>
            <a:ext cx="6624736" cy="3416320"/>
          </a:xfrm>
          <a:prstGeom prst="rect">
            <a:avLst/>
          </a:prstGeom>
          <a:noFill/>
        </p:spPr>
        <p:txBody>
          <a:bodyPr wrap="square" rtlCol="0">
            <a:spAutoFit/>
          </a:bodyPr>
          <a:lstStyle/>
          <a:p>
            <a:r>
              <a:rPr lang="zh-CN" altLang="en-US" dirty="0"/>
              <a:t>多次尝试</a:t>
            </a:r>
            <a:endParaRPr lang="en-US" altLang="zh-CN" dirty="0"/>
          </a:p>
          <a:p>
            <a:endParaRPr lang="en-US" altLang="zh-CN" dirty="0"/>
          </a:p>
          <a:p>
            <a:endParaRPr lang="en-US" altLang="zh-CN" dirty="0"/>
          </a:p>
          <a:p>
            <a:r>
              <a:rPr lang="zh-CN" altLang="en-US" dirty="0"/>
              <a:t>手敲，</a:t>
            </a:r>
            <a:r>
              <a:rPr lang="en-US" altLang="zh-CN" dirty="0"/>
              <a:t>ai</a:t>
            </a:r>
            <a:r>
              <a:rPr lang="zh-CN" altLang="en-US" dirty="0"/>
              <a:t>提供总体步骤说明，变量，函数逻辑自行实现</a:t>
            </a:r>
            <a:endParaRPr lang="en-US" altLang="zh-CN" dirty="0"/>
          </a:p>
          <a:p>
            <a:endParaRPr lang="en-US" altLang="zh-CN" dirty="0"/>
          </a:p>
          <a:p>
            <a:r>
              <a:rPr lang="zh-CN" altLang="en-US" dirty="0"/>
              <a:t>用于在线网站制作</a:t>
            </a:r>
            <a:endParaRPr lang="en-US" altLang="zh-CN" dirty="0"/>
          </a:p>
          <a:p>
            <a:endParaRPr lang="en-US" altLang="zh-CN" dirty="0"/>
          </a:p>
          <a:p>
            <a:r>
              <a:rPr lang="en-US" altLang="zh-CN" dirty="0"/>
              <a:t>ai</a:t>
            </a:r>
            <a:r>
              <a:rPr lang="zh-CN" altLang="en-US" dirty="0"/>
              <a:t>思路主导，顺</a:t>
            </a:r>
            <a:r>
              <a:rPr lang="en-US" altLang="zh-CN" dirty="0"/>
              <a:t>ai</a:t>
            </a:r>
            <a:r>
              <a:rPr lang="zh-CN" altLang="en-US" dirty="0"/>
              <a:t>思路编写（部分函数逻辑不合预期函数内容）</a:t>
            </a:r>
            <a:endParaRPr lang="en-US" altLang="zh-CN" dirty="0"/>
          </a:p>
          <a:p>
            <a:endParaRPr lang="en-US" altLang="zh-CN" dirty="0"/>
          </a:p>
          <a:p>
            <a:r>
              <a:rPr lang="zh-CN" altLang="en-US" dirty="0"/>
              <a:t>初期纯</a:t>
            </a:r>
            <a:r>
              <a:rPr lang="en-US" altLang="zh-CN" dirty="0"/>
              <a:t>vibe coding</a:t>
            </a:r>
          </a:p>
          <a:p>
            <a:endParaRPr lang="en-US" altLang="zh-CN" dirty="0"/>
          </a:p>
          <a:p>
            <a:r>
              <a:rPr lang="zh-CN" altLang="en-US" dirty="0"/>
              <a:t>上传</a:t>
            </a:r>
            <a:r>
              <a:rPr lang="en-US" altLang="zh-CN" dirty="0"/>
              <a:t>git</a:t>
            </a:r>
            <a:r>
              <a:rPr lang="zh-CN" altLang="en-US" dirty="0"/>
              <a:t>任务</a:t>
            </a:r>
            <a:endParaRPr lang="en-US" altLang="zh-CN" dirty="0"/>
          </a:p>
        </p:txBody>
      </p:sp>
      <p:pic>
        <p:nvPicPr>
          <p:cNvPr id="4" name="图片 3"/>
          <p:cNvPicPr>
            <a:picLocks noChangeAspect="1"/>
          </p:cNvPicPr>
          <p:nvPr/>
        </p:nvPicPr>
        <p:blipFill>
          <a:blip r:embed="rId4"/>
          <a:stretch>
            <a:fillRect/>
          </a:stretch>
        </p:blipFill>
        <p:spPr>
          <a:xfrm>
            <a:off x="6577644" y="3101109"/>
            <a:ext cx="2764796" cy="3416319"/>
          </a:xfrm>
          <a:prstGeom prst="rect">
            <a:avLst/>
          </a:prstGeom>
        </p:spPr>
      </p:pic>
      <p:pic>
        <p:nvPicPr>
          <p:cNvPr id="9" name="图片 8"/>
          <p:cNvPicPr>
            <a:picLocks noChangeAspect="1"/>
          </p:cNvPicPr>
          <p:nvPr/>
        </p:nvPicPr>
        <p:blipFill>
          <a:blip r:embed="rId5"/>
          <a:stretch>
            <a:fillRect/>
          </a:stretch>
        </p:blipFill>
        <p:spPr>
          <a:xfrm>
            <a:off x="3863752" y="3140968"/>
            <a:ext cx="2543541" cy="3365756"/>
          </a:xfrm>
          <a:prstGeom prst="rect">
            <a:avLst/>
          </a:prstGeom>
        </p:spPr>
      </p:pic>
      <p:pic>
        <p:nvPicPr>
          <p:cNvPr id="10" name="图片 9"/>
          <p:cNvPicPr>
            <a:picLocks noChangeAspect="1"/>
          </p:cNvPicPr>
          <p:nvPr/>
        </p:nvPicPr>
        <p:blipFill>
          <a:blip r:embed="rId6"/>
          <a:stretch>
            <a:fillRect/>
          </a:stretch>
        </p:blipFill>
        <p:spPr>
          <a:xfrm>
            <a:off x="9778407" y="3109520"/>
            <a:ext cx="2378026" cy="345894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en-US" altLang="zh-CN" b="1" dirty="0"/>
              <a:t>Wordle</a:t>
            </a:r>
            <a:endParaRPr lang="en-US" altLang="zh-CN" dirty="0"/>
          </a:p>
        </p:txBody>
      </p:sp>
      <p:sp>
        <p:nvSpPr>
          <p:cNvPr id="5" name="文本框 4"/>
          <p:cNvSpPr txBox="1"/>
          <p:nvPr/>
        </p:nvSpPr>
        <p:spPr>
          <a:xfrm>
            <a:off x="2423592" y="1556792"/>
            <a:ext cx="9937104" cy="461665"/>
          </a:xfrm>
          <a:prstGeom prst="rect">
            <a:avLst/>
          </a:prstGeom>
          <a:noFill/>
        </p:spPr>
        <p:txBody>
          <a:bodyPr wrap="square" rtlCol="0">
            <a:spAutoFit/>
          </a:bodyPr>
          <a:lstStyle/>
          <a:p>
            <a:endParaRPr lang="en-US" altLang="zh-CN" sz="2400" b="1" dirty="0" err="1"/>
          </a:p>
        </p:txBody>
      </p:sp>
      <p:pic>
        <p:nvPicPr>
          <p:cNvPr id="6" name="图片 5"/>
          <p:cNvPicPr>
            <a:picLocks noChangeAspect="1"/>
          </p:cNvPicPr>
          <p:nvPr/>
        </p:nvPicPr>
        <p:blipFill>
          <a:blip r:embed="rId3"/>
          <a:stretch>
            <a:fillRect/>
          </a:stretch>
        </p:blipFill>
        <p:spPr>
          <a:xfrm>
            <a:off x="-168696" y="692696"/>
            <a:ext cx="14958239" cy="3780112"/>
          </a:xfrm>
          <a:prstGeom prst="rect">
            <a:avLst/>
          </a:prstGeom>
        </p:spPr>
      </p:pic>
      <p:sp>
        <p:nvSpPr>
          <p:cNvPr id="7" name="文本框 6"/>
          <p:cNvSpPr txBox="1"/>
          <p:nvPr/>
        </p:nvSpPr>
        <p:spPr>
          <a:xfrm>
            <a:off x="1631504" y="769324"/>
            <a:ext cx="6624736" cy="3416320"/>
          </a:xfrm>
          <a:prstGeom prst="rect">
            <a:avLst/>
          </a:prstGeom>
          <a:noFill/>
        </p:spPr>
        <p:txBody>
          <a:bodyPr wrap="square" rtlCol="0">
            <a:spAutoFit/>
          </a:bodyPr>
          <a:lstStyle/>
          <a:p>
            <a:r>
              <a:rPr lang="zh-CN" altLang="en-US" dirty="0"/>
              <a:t>多次尝试</a:t>
            </a:r>
            <a:endParaRPr lang="en-US" altLang="zh-CN" dirty="0"/>
          </a:p>
          <a:p>
            <a:endParaRPr lang="en-US" altLang="zh-CN" dirty="0"/>
          </a:p>
          <a:p>
            <a:endParaRPr lang="en-US" altLang="zh-CN" dirty="0"/>
          </a:p>
          <a:p>
            <a:r>
              <a:rPr lang="zh-CN" altLang="en-US" dirty="0"/>
              <a:t>手敲，</a:t>
            </a:r>
            <a:r>
              <a:rPr lang="en-US" altLang="zh-CN" dirty="0"/>
              <a:t>ai</a:t>
            </a:r>
            <a:r>
              <a:rPr lang="zh-CN" altLang="en-US" dirty="0"/>
              <a:t>提供总体步骤说明，变量，函数逻辑自行实现</a:t>
            </a:r>
            <a:endParaRPr lang="en-US" altLang="zh-CN" dirty="0"/>
          </a:p>
          <a:p>
            <a:endParaRPr lang="en-US" altLang="zh-CN" dirty="0"/>
          </a:p>
          <a:p>
            <a:r>
              <a:rPr lang="zh-CN" altLang="en-US" dirty="0"/>
              <a:t>用于在线网站制作</a:t>
            </a:r>
            <a:endParaRPr lang="en-US" altLang="zh-CN" dirty="0"/>
          </a:p>
          <a:p>
            <a:endParaRPr lang="en-US" altLang="zh-CN" dirty="0"/>
          </a:p>
          <a:p>
            <a:r>
              <a:rPr lang="en-US" altLang="zh-CN" dirty="0"/>
              <a:t>ai</a:t>
            </a:r>
            <a:r>
              <a:rPr lang="zh-CN" altLang="en-US" dirty="0"/>
              <a:t>思路主导，顺</a:t>
            </a:r>
            <a:r>
              <a:rPr lang="en-US" altLang="zh-CN" dirty="0"/>
              <a:t>ai</a:t>
            </a:r>
            <a:r>
              <a:rPr lang="zh-CN" altLang="en-US" dirty="0"/>
              <a:t>思路编写（部分函数逻辑不合预期函数内容）</a:t>
            </a:r>
            <a:endParaRPr lang="en-US" altLang="zh-CN" dirty="0"/>
          </a:p>
          <a:p>
            <a:endParaRPr lang="en-US" altLang="zh-CN" dirty="0"/>
          </a:p>
          <a:p>
            <a:r>
              <a:rPr lang="zh-CN" altLang="en-US" dirty="0"/>
              <a:t>初期纯</a:t>
            </a:r>
            <a:r>
              <a:rPr lang="en-US" altLang="zh-CN" dirty="0"/>
              <a:t>vibe coding</a:t>
            </a:r>
          </a:p>
          <a:p>
            <a:endParaRPr lang="en-US" altLang="zh-CN" dirty="0"/>
          </a:p>
          <a:p>
            <a:r>
              <a:rPr lang="zh-CN" altLang="en-US" dirty="0"/>
              <a:t>上传</a:t>
            </a:r>
            <a:r>
              <a:rPr lang="en-US" altLang="zh-CN" dirty="0"/>
              <a:t>git</a:t>
            </a:r>
            <a:r>
              <a:rPr lang="zh-CN" altLang="en-US" dirty="0"/>
              <a:t>任务</a:t>
            </a:r>
            <a:endParaRPr lang="en-US" altLang="zh-CN" dirty="0"/>
          </a:p>
        </p:txBody>
      </p:sp>
      <p:pic>
        <p:nvPicPr>
          <p:cNvPr id="4" name="图片 3"/>
          <p:cNvPicPr>
            <a:picLocks noChangeAspect="1"/>
          </p:cNvPicPr>
          <p:nvPr/>
        </p:nvPicPr>
        <p:blipFill>
          <a:blip r:embed="rId4"/>
          <a:stretch>
            <a:fillRect/>
          </a:stretch>
        </p:blipFill>
        <p:spPr>
          <a:xfrm>
            <a:off x="5979116" y="1081842"/>
            <a:ext cx="3437256" cy="4247243"/>
          </a:xfrm>
          <a:prstGeom prst="rect">
            <a:avLst/>
          </a:prstGeom>
        </p:spPr>
      </p:pic>
      <p:pic>
        <p:nvPicPr>
          <p:cNvPr id="9" name="图片 8"/>
          <p:cNvPicPr>
            <a:picLocks noChangeAspect="1"/>
          </p:cNvPicPr>
          <p:nvPr/>
        </p:nvPicPr>
        <p:blipFill>
          <a:blip r:embed="rId5"/>
          <a:stretch>
            <a:fillRect/>
          </a:stretch>
        </p:blipFill>
        <p:spPr>
          <a:xfrm>
            <a:off x="1263563" y="874514"/>
            <a:ext cx="3523052" cy="4661900"/>
          </a:xfrm>
          <a:prstGeom prst="rect">
            <a:avLst/>
          </a:prstGeom>
        </p:spPr>
      </p:pic>
      <p:sp>
        <p:nvSpPr>
          <p:cNvPr id="3" name="文本框 2"/>
          <p:cNvSpPr txBox="1"/>
          <p:nvPr/>
        </p:nvSpPr>
        <p:spPr>
          <a:xfrm>
            <a:off x="1199456" y="5636723"/>
            <a:ext cx="2880320" cy="646331"/>
          </a:xfrm>
          <a:prstGeom prst="rect">
            <a:avLst/>
          </a:prstGeom>
          <a:noFill/>
        </p:spPr>
        <p:txBody>
          <a:bodyPr wrap="square" rtlCol="0">
            <a:spAutoFit/>
          </a:bodyPr>
          <a:lstStyle/>
          <a:p>
            <a:r>
              <a:rPr lang="en-US" altLang="zh-CN" dirty="0"/>
              <a:t>TRAE</a:t>
            </a:r>
            <a:r>
              <a:rPr lang="zh-CN" altLang="en-US" dirty="0"/>
              <a:t>国际版</a:t>
            </a:r>
            <a:r>
              <a:rPr lang="en-US" altLang="zh-CN" dirty="0"/>
              <a:t>SOLO</a:t>
            </a:r>
            <a:r>
              <a:rPr lang="zh-CN" altLang="en-US" dirty="0"/>
              <a:t>功能</a:t>
            </a:r>
            <a:r>
              <a:rPr lang="en-US" altLang="zh-CN" dirty="0" err="1"/>
              <a:t>vibecoding</a:t>
            </a:r>
            <a:r>
              <a:rPr lang="zh-CN" altLang="en-US" dirty="0"/>
              <a:t>版本</a:t>
            </a:r>
          </a:p>
        </p:txBody>
      </p:sp>
      <p:sp>
        <p:nvSpPr>
          <p:cNvPr id="8" name="文本框 7"/>
          <p:cNvSpPr txBox="1"/>
          <p:nvPr/>
        </p:nvSpPr>
        <p:spPr>
          <a:xfrm>
            <a:off x="5879976" y="5636723"/>
            <a:ext cx="3672408" cy="645160"/>
          </a:xfrm>
          <a:prstGeom prst="rect">
            <a:avLst/>
          </a:prstGeom>
          <a:noFill/>
        </p:spPr>
        <p:txBody>
          <a:bodyPr wrap="square" rtlCol="0">
            <a:spAutoFit/>
          </a:bodyPr>
          <a:lstStyle/>
          <a:p>
            <a:r>
              <a:rPr lang="en-US" altLang="zh-CN" dirty="0" err="1"/>
              <a:t>Aicopilot</a:t>
            </a:r>
            <a:r>
              <a:rPr lang="zh-CN" altLang="en-US" dirty="0"/>
              <a:t>版本</a:t>
            </a:r>
          </a:p>
          <a:p>
            <a:r>
              <a:rPr lang="zh-CN" altLang="en-US" dirty="0"/>
              <a:t>边学边操作</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en-US" altLang="zh-CN" b="1" dirty="0"/>
              <a:t>Wordle</a:t>
            </a:r>
            <a:endParaRPr lang="en-US" altLang="zh-CN" dirty="0"/>
          </a:p>
        </p:txBody>
      </p:sp>
      <p:sp>
        <p:nvSpPr>
          <p:cNvPr id="5" name="文本框 4"/>
          <p:cNvSpPr txBox="1"/>
          <p:nvPr/>
        </p:nvSpPr>
        <p:spPr>
          <a:xfrm>
            <a:off x="2423592" y="1556792"/>
            <a:ext cx="9937104" cy="461665"/>
          </a:xfrm>
          <a:prstGeom prst="rect">
            <a:avLst/>
          </a:prstGeom>
          <a:noFill/>
        </p:spPr>
        <p:txBody>
          <a:bodyPr wrap="square" rtlCol="0">
            <a:spAutoFit/>
          </a:bodyPr>
          <a:lstStyle/>
          <a:p>
            <a:endParaRPr lang="en-US" altLang="zh-CN" sz="2400" b="1" dirty="0" err="1"/>
          </a:p>
        </p:txBody>
      </p:sp>
      <p:pic>
        <p:nvPicPr>
          <p:cNvPr id="4" name="图片 3"/>
          <p:cNvPicPr>
            <a:picLocks noChangeAspect="1"/>
          </p:cNvPicPr>
          <p:nvPr/>
        </p:nvPicPr>
        <p:blipFill>
          <a:blip r:embed="rId3"/>
          <a:stretch>
            <a:fillRect/>
          </a:stretch>
        </p:blipFill>
        <p:spPr>
          <a:xfrm>
            <a:off x="119336" y="707521"/>
            <a:ext cx="3437256" cy="4247243"/>
          </a:xfrm>
          <a:prstGeom prst="rect">
            <a:avLst/>
          </a:prstGeom>
        </p:spPr>
      </p:pic>
      <p:sp>
        <p:nvSpPr>
          <p:cNvPr id="8" name="文本框 7"/>
          <p:cNvSpPr txBox="1"/>
          <p:nvPr/>
        </p:nvSpPr>
        <p:spPr>
          <a:xfrm>
            <a:off x="335360" y="5170434"/>
            <a:ext cx="3672408" cy="923330"/>
          </a:xfrm>
          <a:prstGeom prst="rect">
            <a:avLst/>
          </a:prstGeom>
          <a:noFill/>
        </p:spPr>
        <p:txBody>
          <a:bodyPr wrap="square" rtlCol="0">
            <a:spAutoFit/>
          </a:bodyPr>
          <a:lstStyle/>
          <a:p>
            <a:r>
              <a:rPr lang="en-US" altLang="zh-CN" dirty="0" err="1"/>
              <a:t>Aicopilot</a:t>
            </a:r>
            <a:r>
              <a:rPr lang="zh-CN" altLang="en-US" dirty="0"/>
              <a:t>版本</a:t>
            </a:r>
            <a:endParaRPr lang="en-US" altLang="zh-CN" dirty="0"/>
          </a:p>
          <a:p>
            <a:r>
              <a:rPr lang="zh-CN" altLang="en-US" dirty="0"/>
              <a:t>功能展示最完善</a:t>
            </a:r>
            <a:endParaRPr lang="en-US" altLang="zh-CN" dirty="0"/>
          </a:p>
          <a:p>
            <a:r>
              <a:rPr lang="zh-CN" altLang="en-US" dirty="0"/>
              <a:t>效果最好</a:t>
            </a:r>
            <a:endParaRPr lang="en-US" altLang="zh-CN" dirty="0"/>
          </a:p>
        </p:txBody>
      </p:sp>
      <p:sp>
        <p:nvSpPr>
          <p:cNvPr id="10" name="文本框 9"/>
          <p:cNvSpPr txBox="1"/>
          <p:nvPr/>
        </p:nvSpPr>
        <p:spPr>
          <a:xfrm>
            <a:off x="8256240" y="836712"/>
            <a:ext cx="5203535" cy="4524315"/>
          </a:xfrm>
          <a:prstGeom prst="rect">
            <a:avLst/>
          </a:prstGeom>
          <a:noFill/>
        </p:spPr>
        <p:txBody>
          <a:bodyPr wrap="square" rtlCol="0">
            <a:spAutoFit/>
          </a:bodyPr>
          <a:lstStyle/>
          <a:p>
            <a:r>
              <a:rPr lang="zh-CN" altLang="en-US" dirty="0"/>
              <a:t>转为</a:t>
            </a:r>
            <a:r>
              <a:rPr lang="en-US" altLang="zh-CN" dirty="0"/>
              <a:t>ai</a:t>
            </a:r>
            <a:r>
              <a:rPr lang="zh-CN" altLang="en-US" dirty="0"/>
              <a:t>讲解步骤，指导每一步该做什么</a:t>
            </a:r>
            <a:r>
              <a:rPr lang="en-US" altLang="zh-CN" dirty="0"/>
              <a:t>+</a:t>
            </a:r>
            <a:r>
              <a:rPr lang="zh-CN" altLang="en-US" dirty="0"/>
              <a:t>下一步该做什么</a:t>
            </a:r>
            <a:r>
              <a:rPr lang="en-US" altLang="zh-CN" dirty="0"/>
              <a:t>+</a:t>
            </a:r>
            <a:r>
              <a:rPr lang="zh-CN" altLang="en-US" dirty="0"/>
              <a:t>本步是否有</a:t>
            </a:r>
            <a:r>
              <a:rPr lang="en-US" altLang="zh-CN" dirty="0"/>
              <a:t>bug</a:t>
            </a:r>
          </a:p>
          <a:p>
            <a:r>
              <a:rPr lang="zh-CN" altLang="en-US" dirty="0"/>
              <a:t>总体使用</a:t>
            </a:r>
            <a:r>
              <a:rPr lang="en-US" altLang="zh-CN" dirty="0"/>
              <a:t>copilot</a:t>
            </a:r>
            <a:r>
              <a:rPr lang="zh-CN" altLang="en-US" dirty="0"/>
              <a:t>辅助</a:t>
            </a:r>
            <a:endParaRPr lang="en-US" altLang="zh-CN" dirty="0"/>
          </a:p>
          <a:p>
            <a:r>
              <a:rPr lang="zh-CN" altLang="en-US" dirty="0"/>
              <a:t>新建</a:t>
            </a:r>
            <a:r>
              <a:rPr lang="en-US" altLang="zh-CN" dirty="0" err="1"/>
              <a:t>ai_guide</a:t>
            </a:r>
            <a:r>
              <a:rPr lang="zh-CN" altLang="en-US" dirty="0"/>
              <a:t>文件，所有交互尽量集成在该</a:t>
            </a:r>
            <a:r>
              <a:rPr lang="en-US" altLang="zh-CN" dirty="0"/>
              <a:t>markdown</a:t>
            </a:r>
            <a:r>
              <a:rPr lang="zh-CN" altLang="en-US" dirty="0"/>
              <a:t>文档中</a:t>
            </a:r>
            <a:endParaRPr lang="en-US" altLang="zh-CN" dirty="0"/>
          </a:p>
          <a:p>
            <a:pPr marL="800100" lvl="1" indent="-342900">
              <a:buFont typeface="+mj-lt"/>
              <a:buAutoNum type="arabicPeriod"/>
            </a:pPr>
            <a:r>
              <a:rPr lang="zh-CN" altLang="en-US" dirty="0"/>
              <a:t>不直接修改代码，确保代码完整性不被大部分修改</a:t>
            </a:r>
            <a:endParaRPr lang="en-US" altLang="zh-CN" dirty="0"/>
          </a:p>
          <a:p>
            <a:pPr marL="800100" lvl="1" indent="-342900">
              <a:buFont typeface="+mj-lt"/>
              <a:buAutoNum type="arabicPeriod"/>
            </a:pPr>
            <a:r>
              <a:rPr lang="zh-CN" altLang="en-US" dirty="0"/>
              <a:t>能把握编程节奏</a:t>
            </a:r>
            <a:endParaRPr lang="en-US" altLang="zh-CN" dirty="0"/>
          </a:p>
          <a:p>
            <a:pPr marL="800100" lvl="1" indent="-342900">
              <a:buFont typeface="+mj-lt"/>
              <a:buAutoNum type="arabicPeriod"/>
            </a:pPr>
            <a:r>
              <a:rPr lang="zh-CN" altLang="en-US" dirty="0"/>
              <a:t>避免上下文过长使得</a:t>
            </a:r>
            <a:r>
              <a:rPr lang="en-US" altLang="zh-CN" dirty="0"/>
              <a:t>ai</a:t>
            </a:r>
            <a:r>
              <a:rPr lang="zh-CN" altLang="en-US" dirty="0"/>
              <a:t>记忆失效</a:t>
            </a:r>
            <a:endParaRPr lang="en-US" altLang="zh-CN" dirty="0"/>
          </a:p>
          <a:p>
            <a:pPr marL="800100" lvl="1" indent="-342900">
              <a:buFont typeface="+mj-lt"/>
              <a:buAutoNum type="arabicPeriod"/>
            </a:pPr>
            <a:r>
              <a:rPr lang="zh-CN" altLang="en-US" dirty="0"/>
              <a:t>使开发过程有迹可循，条理顺序清晰</a:t>
            </a:r>
            <a:endParaRPr lang="en-US" altLang="zh-CN" dirty="0"/>
          </a:p>
          <a:p>
            <a:pPr lvl="1"/>
            <a:endParaRPr lang="en-US" altLang="zh-CN" dirty="0"/>
          </a:p>
          <a:p>
            <a:pPr lvl="1"/>
            <a:r>
              <a:rPr lang="zh-CN" altLang="en-US" dirty="0"/>
              <a:t>类似于</a:t>
            </a:r>
            <a:r>
              <a:rPr lang="en-US" altLang="zh-CN" dirty="0"/>
              <a:t>Skill</a:t>
            </a:r>
          </a:p>
          <a:p>
            <a:pPr lvl="1"/>
            <a:endParaRPr lang="en-US" altLang="zh-CN" dirty="0"/>
          </a:p>
          <a:p>
            <a:pPr marL="800100" lvl="1" indent="-342900">
              <a:buFont typeface="+mj-lt"/>
              <a:buAutoNum type="arabicPeriod"/>
            </a:pPr>
            <a:endParaRPr lang="en-US" altLang="zh-CN" dirty="0"/>
          </a:p>
          <a:p>
            <a:pPr marL="800100" lvl="1" indent="-342900">
              <a:buFont typeface="+mj-lt"/>
              <a:buAutoNum type="arabicPeriod"/>
            </a:pPr>
            <a:endParaRPr lang="en-US" altLang="zh-CN" dirty="0"/>
          </a:p>
          <a:p>
            <a:pPr marL="285750" indent="-285750">
              <a:buFont typeface="Arial" panose="020B0604020202020204" pitchFamily="34" charset="0"/>
              <a:buChar char="•"/>
            </a:pPr>
            <a:endParaRPr lang="zh-CN" altLang="en-US" dirty="0"/>
          </a:p>
        </p:txBody>
      </p:sp>
      <p:pic>
        <p:nvPicPr>
          <p:cNvPr id="12" name="图片 11"/>
          <p:cNvPicPr>
            <a:picLocks noChangeAspect="1"/>
          </p:cNvPicPr>
          <p:nvPr/>
        </p:nvPicPr>
        <p:blipFill>
          <a:blip r:embed="rId4"/>
          <a:stretch>
            <a:fillRect/>
          </a:stretch>
        </p:blipFill>
        <p:spPr>
          <a:xfrm>
            <a:off x="2711624" y="707520"/>
            <a:ext cx="5328592" cy="2290385"/>
          </a:xfrm>
          <a:prstGeom prst="rect">
            <a:avLst/>
          </a:prstGeom>
        </p:spPr>
      </p:pic>
      <p:pic>
        <p:nvPicPr>
          <p:cNvPr id="14" name="图片 13"/>
          <p:cNvPicPr>
            <a:picLocks noChangeAspect="1"/>
          </p:cNvPicPr>
          <p:nvPr/>
        </p:nvPicPr>
        <p:blipFill>
          <a:blip r:embed="rId5"/>
          <a:stretch>
            <a:fillRect/>
          </a:stretch>
        </p:blipFill>
        <p:spPr>
          <a:xfrm>
            <a:off x="2946140" y="3006916"/>
            <a:ext cx="5203536" cy="3715365"/>
          </a:xfrm>
          <a:prstGeom prst="rect">
            <a:avLst/>
          </a:prstGeom>
        </p:spPr>
      </p:pic>
      <p:sp>
        <p:nvSpPr>
          <p:cNvPr id="15" name="文本框 14"/>
          <p:cNvSpPr txBox="1"/>
          <p:nvPr/>
        </p:nvSpPr>
        <p:spPr>
          <a:xfrm>
            <a:off x="8184232" y="4509120"/>
            <a:ext cx="3888432" cy="2031325"/>
          </a:xfrm>
          <a:prstGeom prst="rect">
            <a:avLst/>
          </a:prstGeom>
          <a:noFill/>
        </p:spPr>
        <p:txBody>
          <a:bodyPr wrap="square" rtlCol="0">
            <a:spAutoFit/>
          </a:bodyPr>
          <a:lstStyle/>
          <a:p>
            <a:r>
              <a:rPr lang="zh-CN" altLang="en-US" dirty="0"/>
              <a:t>问题</a:t>
            </a:r>
            <a:endParaRPr lang="en-US" altLang="zh-CN" dirty="0"/>
          </a:p>
          <a:p>
            <a:r>
              <a:rPr lang="en-US" altLang="zh-CN" dirty="0"/>
              <a:t>1.</a:t>
            </a:r>
            <a:r>
              <a:rPr lang="zh-CN" altLang="en-US" dirty="0"/>
              <a:t>实现逻辑以</a:t>
            </a:r>
            <a:r>
              <a:rPr lang="en-US" altLang="zh-CN" dirty="0"/>
              <a:t>ai</a:t>
            </a:r>
            <a:r>
              <a:rPr lang="zh-CN" altLang="en-US" dirty="0"/>
              <a:t>为主导，不能精准控制每个函数实际实现内容</a:t>
            </a:r>
            <a:endParaRPr lang="en-US" altLang="zh-CN" dirty="0"/>
          </a:p>
          <a:p>
            <a:r>
              <a:rPr lang="en-US" altLang="zh-CN" dirty="0"/>
              <a:t>2.</a:t>
            </a:r>
            <a:r>
              <a:rPr lang="zh-CN" altLang="en-US" dirty="0"/>
              <a:t>不能整体把握编程节奏，学习效果不佳（不踏实）</a:t>
            </a:r>
            <a:endParaRPr lang="en-US" altLang="zh-CN" dirty="0"/>
          </a:p>
          <a:p>
            <a:r>
              <a:rPr lang="en-US" altLang="zh-CN" dirty="0"/>
              <a:t>3.</a:t>
            </a:r>
            <a:r>
              <a:rPr lang="zh-CN" altLang="en-US" dirty="0"/>
              <a:t>键盘生成用</a:t>
            </a:r>
            <a:r>
              <a:rPr lang="en-US" altLang="zh-CN" dirty="0"/>
              <a:t>JS</a:t>
            </a:r>
            <a:r>
              <a:rPr lang="zh-CN" altLang="en-US" dirty="0"/>
              <a:t>实现等，功底不深</a:t>
            </a:r>
            <a:endParaRPr lang="en-US" altLang="zh-CN" dirty="0"/>
          </a:p>
          <a:p>
            <a:r>
              <a:rPr lang="zh-CN" altLang="en-US" dirty="0"/>
              <a:t>只能任</a:t>
            </a:r>
            <a:r>
              <a:rPr lang="en-US" altLang="zh-CN" dirty="0"/>
              <a:t>ai</a:t>
            </a:r>
            <a:r>
              <a:rPr lang="zh-CN" altLang="en-US" dirty="0"/>
              <a:t>发挥</a:t>
            </a:r>
            <a:endParaRPr lang="en-US" altLang="zh-CN"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劣质手搓版</a:t>
            </a:r>
          </a:p>
        </p:txBody>
      </p:sp>
      <p:pic>
        <p:nvPicPr>
          <p:cNvPr id="4" name="内容占位符 3"/>
          <p:cNvPicPr>
            <a:picLocks noGrp="1" noChangeAspect="1"/>
          </p:cNvPicPr>
          <p:nvPr>
            <p:ph idx="1"/>
          </p:nvPr>
        </p:nvPicPr>
        <p:blipFill>
          <a:blip r:embed="rId2"/>
          <a:stretch>
            <a:fillRect/>
          </a:stretch>
        </p:blipFill>
        <p:spPr>
          <a:xfrm>
            <a:off x="-2544960" y="1001395"/>
            <a:ext cx="8166735" cy="4855210"/>
          </a:xfrm>
          <a:prstGeom prst="rect">
            <a:avLst/>
          </a:prstGeom>
        </p:spPr>
      </p:pic>
      <p:sp>
        <p:nvSpPr>
          <p:cNvPr id="7" name="文本框 6"/>
          <p:cNvSpPr txBox="1"/>
          <p:nvPr/>
        </p:nvSpPr>
        <p:spPr>
          <a:xfrm>
            <a:off x="6168390" y="1196340"/>
            <a:ext cx="3505200" cy="3139321"/>
          </a:xfrm>
          <a:prstGeom prst="rect">
            <a:avLst/>
          </a:prstGeom>
          <a:noFill/>
        </p:spPr>
        <p:txBody>
          <a:bodyPr wrap="square" rtlCol="0">
            <a:spAutoFit/>
          </a:bodyPr>
          <a:lstStyle/>
          <a:p>
            <a:r>
              <a:rPr lang="en-US" altLang="zh-CN" dirty="0"/>
              <a:t>Claude Code</a:t>
            </a:r>
            <a:r>
              <a:rPr lang="zh-CN" altLang="en-US" dirty="0"/>
              <a:t>指引，</a:t>
            </a:r>
            <a:r>
              <a:rPr lang="en-US" altLang="zh-CN" dirty="0" err="1"/>
              <a:t>api</a:t>
            </a:r>
            <a:r>
              <a:rPr lang="zh-CN" altLang="en-US" dirty="0"/>
              <a:t>调用</a:t>
            </a:r>
            <a:r>
              <a:rPr lang="en-US" altLang="zh-CN" dirty="0"/>
              <a:t>qwen3-coder-plus</a:t>
            </a:r>
          </a:p>
          <a:p>
            <a:endParaRPr lang="en-US" altLang="zh-CN" dirty="0"/>
          </a:p>
          <a:p>
            <a:r>
              <a:rPr lang="zh-CN" altLang="en-US" dirty="0"/>
              <a:t>简单但功能实现清晰</a:t>
            </a:r>
            <a:endParaRPr lang="en-US" altLang="zh-CN" dirty="0"/>
          </a:p>
          <a:p>
            <a:endParaRPr lang="en-US" altLang="zh-CN" dirty="0"/>
          </a:p>
          <a:p>
            <a:r>
              <a:rPr lang="en-US" altLang="zh-CN" dirty="0"/>
              <a:t>HTML</a:t>
            </a:r>
            <a:r>
              <a:rPr lang="zh-CN" altLang="en-US" dirty="0"/>
              <a:t>框架搭建更明晰</a:t>
            </a:r>
            <a:endParaRPr lang="en-US" altLang="zh-CN" dirty="0"/>
          </a:p>
          <a:p>
            <a:endParaRPr lang="en-US" altLang="zh-CN" dirty="0"/>
          </a:p>
          <a:p>
            <a:r>
              <a:rPr lang="zh-CN" altLang="en-US" dirty="0"/>
              <a:t>各控件管理更符合（至少是个人的）逻辑</a:t>
            </a:r>
            <a:endParaRPr lang="en-US" altLang="zh-CN" dirty="0"/>
          </a:p>
          <a:p>
            <a:endParaRPr lang="en-US" altLang="zh-CN" dirty="0"/>
          </a:p>
          <a:p>
            <a:r>
              <a:rPr lang="zh-CN" altLang="en-US" dirty="0"/>
              <a:t>仅有补充式及</a:t>
            </a:r>
            <a:r>
              <a:rPr lang="en-US" altLang="zh-CN" dirty="0"/>
              <a:t>bug</a:t>
            </a:r>
            <a:r>
              <a:rPr lang="zh-CN" altLang="en-US" dirty="0"/>
              <a:t>排除</a:t>
            </a:r>
            <a:endParaRPr lang="en-US" altLang="zh-CN" dirty="0"/>
          </a:p>
        </p:txBody>
      </p:sp>
      <p:pic>
        <p:nvPicPr>
          <p:cNvPr id="9" name="图片 8"/>
          <p:cNvPicPr>
            <a:picLocks noChangeAspect="1"/>
          </p:cNvPicPr>
          <p:nvPr/>
        </p:nvPicPr>
        <p:blipFill>
          <a:blip r:embed="rId3"/>
          <a:stretch>
            <a:fillRect/>
          </a:stretch>
        </p:blipFill>
        <p:spPr>
          <a:xfrm>
            <a:off x="10056440" y="764704"/>
            <a:ext cx="1987916" cy="5489848"/>
          </a:xfrm>
          <a:prstGeom prst="rect">
            <a:avLst/>
          </a:prstGeom>
        </p:spPr>
      </p:pic>
      <p:pic>
        <p:nvPicPr>
          <p:cNvPr id="11" name="图片 10"/>
          <p:cNvPicPr>
            <a:picLocks noChangeAspect="1"/>
          </p:cNvPicPr>
          <p:nvPr/>
        </p:nvPicPr>
        <p:blipFill>
          <a:blip r:embed="rId4"/>
          <a:stretch>
            <a:fillRect/>
          </a:stretch>
        </p:blipFill>
        <p:spPr>
          <a:xfrm>
            <a:off x="5808567" y="5085095"/>
            <a:ext cx="3528392" cy="925399"/>
          </a:xfrm>
          <a:prstGeom prst="rect">
            <a:avLst/>
          </a:prstGeom>
        </p:spPr>
      </p:pic>
      <p:sp>
        <p:nvSpPr>
          <p:cNvPr id="3" name="文本框 2">
            <a:extLst>
              <a:ext uri="{FF2B5EF4-FFF2-40B4-BE49-F238E27FC236}">
                <a16:creationId xmlns:a16="http://schemas.microsoft.com/office/drawing/2014/main" id="{ACA84F6D-E55F-6717-657E-7ADC618F1D77}"/>
              </a:ext>
            </a:extLst>
          </p:cNvPr>
          <p:cNvSpPr txBox="1"/>
          <p:nvPr/>
        </p:nvSpPr>
        <p:spPr>
          <a:xfrm>
            <a:off x="2711623" y="1844824"/>
            <a:ext cx="2714093" cy="3308598"/>
          </a:xfrm>
          <a:prstGeom prst="rect">
            <a:avLst/>
          </a:prstGeom>
          <a:noFill/>
        </p:spPr>
        <p:txBody>
          <a:bodyPr wrap="square" rtlCol="0">
            <a:spAutoFit/>
          </a:bodyPr>
          <a:lstStyle/>
          <a:p>
            <a:r>
              <a:rPr lang="zh-CN" altLang="en-US" sz="1100" dirty="0">
                <a:solidFill>
                  <a:schemeClr val="bg1"/>
                </a:solidFill>
              </a:rPr>
              <a:t>你是一个精通前端的代码老师，但我只是一个即将学习前端三件套的学生，我现在想要以这个</a:t>
            </a:r>
            <a:r>
              <a:rPr lang="en-US" altLang="zh-CN" sz="1100" dirty="0">
                <a:solidFill>
                  <a:schemeClr val="bg1"/>
                </a:solidFill>
              </a:rPr>
              <a:t>wordle</a:t>
            </a:r>
            <a:r>
              <a:rPr lang="zh-CN" altLang="en-US" sz="1100" dirty="0">
                <a:solidFill>
                  <a:schemeClr val="bg1"/>
                </a:solidFill>
              </a:rPr>
              <a:t>程序作为练手学习代码，所以你现在需要通览整个代码，并完成</a:t>
            </a:r>
            <a:r>
              <a:rPr lang="en-US" altLang="zh-CN" sz="1100" dirty="0">
                <a:solidFill>
                  <a:schemeClr val="bg1"/>
                </a:solidFill>
              </a:rPr>
              <a:t>aiguide.md</a:t>
            </a:r>
            <a:r>
              <a:rPr lang="zh-CN" altLang="en-US" sz="1100" dirty="0">
                <a:solidFill>
                  <a:schemeClr val="bg1"/>
                </a:solidFill>
              </a:rPr>
              <a:t>这个说明书式的文档的书写，来教会我这个萌新，注意，你不能修改其他的任何代码，同时请符合编写完成这个项目的逻辑的顺序进行教学，这个图片是预期的效果，请参照教学，同时，请尽量以最简单最容易的效果进行教学，以便我能接受，同时请听从</a:t>
            </a:r>
            <a:r>
              <a:rPr lang="en-US" altLang="zh-CN" sz="1100" dirty="0" err="1">
                <a:solidFill>
                  <a:schemeClr val="bg1"/>
                </a:solidFill>
              </a:rPr>
              <a:t>js</a:t>
            </a:r>
            <a:r>
              <a:rPr lang="zh-CN" altLang="en-US" sz="1100" dirty="0">
                <a:solidFill>
                  <a:schemeClr val="bg1"/>
                </a:solidFill>
              </a:rPr>
              <a:t>里面的教学指引要求，不要新增不必要的函数并尽量不要新增多余的这个图片是预期的效果，请参照教学，同时，请尽量以最简单最容易的</a:t>
            </a:r>
          </a:p>
          <a:p>
            <a:r>
              <a:rPr lang="zh-CN" altLang="en-US" sz="1100" dirty="0">
                <a:solidFill>
                  <a:schemeClr val="bg1"/>
                </a:solidFill>
              </a:rPr>
              <a:t>  效果进行教学，以便我能接受，同时请听从</a:t>
            </a:r>
            <a:r>
              <a:rPr lang="en-US" altLang="zh-CN" sz="1100" dirty="0" err="1">
                <a:solidFill>
                  <a:schemeClr val="bg1"/>
                </a:solidFill>
              </a:rPr>
              <a:t>js</a:t>
            </a:r>
            <a:r>
              <a:rPr lang="zh-CN" altLang="en-US" sz="1100" dirty="0">
                <a:solidFill>
                  <a:schemeClr val="bg1"/>
                </a:solidFill>
              </a:rPr>
              <a:t>里面的教学指引要求，不要新增不必要的函数并尽量不要新增多余的，可以直接使用</a:t>
            </a:r>
            <a:r>
              <a:rPr lang="en-US" altLang="zh-CN" sz="1100" dirty="0" err="1">
                <a:solidFill>
                  <a:schemeClr val="bg1"/>
                </a:solidFill>
              </a:rPr>
              <a:t>js</a:t>
            </a:r>
            <a:r>
              <a:rPr lang="zh-CN" altLang="en-US" sz="1100" dirty="0">
                <a:solidFill>
                  <a:schemeClr val="bg1"/>
                </a:solidFill>
              </a:rPr>
              <a:t>里面已有变量的变量，谢谢 </a:t>
            </a:r>
          </a:p>
          <a:p>
            <a:endParaRPr lang="zh-CN" altLang="en-US" sz="1100" dirty="0">
              <a:solidFill>
                <a:schemeClr val="bg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4D270A-E8A0-DC38-4268-DEAE05618947}"/>
              </a:ext>
            </a:extLst>
          </p:cNvPr>
          <p:cNvSpPr>
            <a:spLocks noGrp="1"/>
          </p:cNvSpPr>
          <p:nvPr>
            <p:ph type="title"/>
          </p:nvPr>
        </p:nvSpPr>
        <p:spPr/>
        <p:txBody>
          <a:bodyPr/>
          <a:lstStyle/>
          <a:p>
            <a:r>
              <a:rPr lang="zh-CN" altLang="en-US" dirty="0"/>
              <a:t>“提示词工程”</a:t>
            </a:r>
          </a:p>
        </p:txBody>
      </p:sp>
      <p:sp>
        <p:nvSpPr>
          <p:cNvPr id="3" name="内容占位符 2">
            <a:extLst>
              <a:ext uri="{FF2B5EF4-FFF2-40B4-BE49-F238E27FC236}">
                <a16:creationId xmlns:a16="http://schemas.microsoft.com/office/drawing/2014/main" id="{6F81759B-B8C8-8F80-35AB-89EE1F70AD04}"/>
              </a:ext>
            </a:extLst>
          </p:cNvPr>
          <p:cNvSpPr>
            <a:spLocks noGrp="1"/>
          </p:cNvSpPr>
          <p:nvPr>
            <p:ph idx="1"/>
          </p:nvPr>
        </p:nvSpPr>
        <p:spPr>
          <a:xfrm>
            <a:off x="168782" y="980726"/>
            <a:ext cx="4167753" cy="5196235"/>
          </a:xfrm>
        </p:spPr>
        <p:txBody>
          <a:bodyPr>
            <a:normAutofit lnSpcReduction="10000"/>
          </a:bodyPr>
          <a:lstStyle/>
          <a:p>
            <a:r>
              <a:rPr lang="zh-CN" altLang="en-US" dirty="0"/>
              <a:t>你是一个精通前端的代码老师，但我只是一个即将学习前端三件套的学生，我现在想要以这个</a:t>
            </a:r>
            <a:r>
              <a:rPr lang="en-US" altLang="zh-CN" dirty="0"/>
              <a:t>wordle</a:t>
            </a:r>
            <a:r>
              <a:rPr lang="zh-CN" altLang="en-US" dirty="0"/>
              <a:t>程序作为练手学习代码，所以你现在需要通览整个代码，并完成</a:t>
            </a:r>
            <a:r>
              <a:rPr lang="en-US" altLang="zh-CN" dirty="0"/>
              <a:t>aiguide.md</a:t>
            </a:r>
            <a:r>
              <a:rPr lang="zh-CN" altLang="en-US" dirty="0"/>
              <a:t>这个说明书式的文档的书写，来教会我这个萌新，注意，你不能修改其他的任何代码，同时请符合编写完成这个项目的逻辑的顺序进行教学，这个图片是预期的效果，请参照教学，同时，请尽量以最简单最容易的效果进行教学，以便我能接受，同时请听从</a:t>
            </a:r>
            <a:r>
              <a:rPr lang="en-US" altLang="zh-CN" dirty="0" err="1"/>
              <a:t>js</a:t>
            </a:r>
            <a:r>
              <a:rPr lang="zh-CN" altLang="en-US" dirty="0"/>
              <a:t>里面的教学指引要求，不要新增不必要的函数并尽量不要新增多余的这个图片是预期的效果，请参照教学，同时，请尽量以最简单最容易的效果进行教学，以便我能接受，同时请听从</a:t>
            </a:r>
            <a:r>
              <a:rPr lang="en-US" altLang="zh-CN" dirty="0" err="1"/>
              <a:t>js</a:t>
            </a:r>
            <a:r>
              <a:rPr lang="zh-CN" altLang="en-US" dirty="0"/>
              <a:t>里面的教学指引要求，不要新增不必要的函数并尽量不要新增多余的，可以直接使用</a:t>
            </a:r>
            <a:r>
              <a:rPr lang="en-US" altLang="zh-CN" dirty="0" err="1"/>
              <a:t>js</a:t>
            </a:r>
            <a:r>
              <a:rPr lang="zh-CN" altLang="en-US" dirty="0"/>
              <a:t>里面已有变量的变量，谢谢 </a:t>
            </a:r>
          </a:p>
          <a:p>
            <a:endParaRPr lang="zh-CN" altLang="en-US" dirty="0"/>
          </a:p>
          <a:p>
            <a:endParaRPr lang="zh-CN" altLang="en-US" dirty="0"/>
          </a:p>
        </p:txBody>
      </p:sp>
      <p:pic>
        <p:nvPicPr>
          <p:cNvPr id="5" name="图片 4">
            <a:extLst>
              <a:ext uri="{FF2B5EF4-FFF2-40B4-BE49-F238E27FC236}">
                <a16:creationId xmlns:a16="http://schemas.microsoft.com/office/drawing/2014/main" id="{77040F4D-F754-28E6-3BBE-51E8B0EC468C}"/>
              </a:ext>
            </a:extLst>
          </p:cNvPr>
          <p:cNvPicPr>
            <a:picLocks noChangeAspect="1"/>
          </p:cNvPicPr>
          <p:nvPr/>
        </p:nvPicPr>
        <p:blipFill>
          <a:blip r:embed="rId2"/>
          <a:stretch>
            <a:fillRect/>
          </a:stretch>
        </p:blipFill>
        <p:spPr>
          <a:xfrm>
            <a:off x="4336535" y="1052736"/>
            <a:ext cx="7855465" cy="4846651"/>
          </a:xfrm>
          <a:prstGeom prst="rect">
            <a:avLst/>
          </a:prstGeom>
        </p:spPr>
      </p:pic>
    </p:spTree>
    <p:extLst>
      <p:ext uri="{BB962C8B-B14F-4D97-AF65-F5344CB8AC3E}">
        <p14:creationId xmlns:p14="http://schemas.microsoft.com/office/powerpoint/2010/main" val="16279282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ormAutofit/>
          </a:bodyPr>
          <a:lstStyle/>
          <a:p>
            <a:r>
              <a:rPr lang="en-US" altLang="zh-CN" b="1" dirty="0"/>
              <a:t>Wordle</a:t>
            </a:r>
            <a:endParaRPr lang="en-US" altLang="zh-CN" dirty="0"/>
          </a:p>
        </p:txBody>
      </p:sp>
      <p:sp>
        <p:nvSpPr>
          <p:cNvPr id="5" name="文本框 4"/>
          <p:cNvSpPr txBox="1"/>
          <p:nvPr/>
        </p:nvSpPr>
        <p:spPr>
          <a:xfrm>
            <a:off x="2423592" y="1556792"/>
            <a:ext cx="9937104" cy="461665"/>
          </a:xfrm>
          <a:prstGeom prst="rect">
            <a:avLst/>
          </a:prstGeom>
          <a:noFill/>
        </p:spPr>
        <p:txBody>
          <a:bodyPr wrap="square" rtlCol="0">
            <a:spAutoFit/>
          </a:bodyPr>
          <a:lstStyle/>
          <a:p>
            <a:endParaRPr lang="en-US" altLang="zh-CN" sz="2400" b="1" dirty="0" err="1"/>
          </a:p>
        </p:txBody>
      </p:sp>
      <p:pic>
        <p:nvPicPr>
          <p:cNvPr id="6" name="ECB019B1-382A-4266-B25C-5B523AA43C14-1"/>
          <p:cNvPicPr>
            <a:picLocks noChangeAspect="1"/>
          </p:cNvPicPr>
          <p:nvPr/>
        </p:nvPicPr>
        <p:blipFill>
          <a:blip r:embed="rId3"/>
          <a:stretch>
            <a:fillRect/>
          </a:stretch>
        </p:blipFill>
        <p:spPr>
          <a:xfrm>
            <a:off x="1055370" y="116205"/>
            <a:ext cx="9065895" cy="4011295"/>
          </a:xfrm>
          <a:prstGeom prst="rect">
            <a:avLst/>
          </a:prstGeom>
        </p:spPr>
      </p:pic>
      <p:pic>
        <p:nvPicPr>
          <p:cNvPr id="7" name="ECB019B1-382A-4266-B25C-5B523AA43C14-2"/>
          <p:cNvPicPr>
            <a:picLocks noChangeAspect="1"/>
          </p:cNvPicPr>
          <p:nvPr/>
        </p:nvPicPr>
        <p:blipFill>
          <a:blip r:embed="rId4"/>
          <a:stretch>
            <a:fillRect/>
          </a:stretch>
        </p:blipFill>
        <p:spPr>
          <a:xfrm>
            <a:off x="1415415" y="3501390"/>
            <a:ext cx="8943975" cy="3400425"/>
          </a:xfrm>
          <a:prstGeom prst="rect">
            <a:avLst/>
          </a:prstGeom>
        </p:spPr>
      </p:pic>
      <p:cxnSp>
        <p:nvCxnSpPr>
          <p:cNvPr id="10" name="肘形连接符 9"/>
          <p:cNvCxnSpPr>
            <a:stCxn id="7" idx="1"/>
            <a:endCxn id="6" idx="1"/>
          </p:cNvCxnSpPr>
          <p:nvPr/>
        </p:nvCxnSpPr>
        <p:spPr>
          <a:xfrm rot="10800000">
            <a:off x="1055370" y="2122170"/>
            <a:ext cx="360045" cy="3079750"/>
          </a:xfrm>
          <a:prstGeom prst="bentConnector3">
            <a:avLst>
              <a:gd name="adj1" fmla="val 166138"/>
            </a:avLst>
          </a:prstGeom>
          <a:ln>
            <a:tailEnd type="arrow"/>
          </a:ln>
        </p:spPr>
        <p:style>
          <a:lnRef idx="2">
            <a:schemeClr val="accent1"/>
          </a:lnRef>
          <a:fillRef idx="0">
            <a:srgbClr val="FFFFFF"/>
          </a:fillRef>
          <a:effectRef idx="0">
            <a:srgbClr val="FFFFFF"/>
          </a:effectRef>
          <a:fontRef idx="minor">
            <a:schemeClr val="tx1"/>
          </a:fontRef>
        </p:style>
      </p:cxnSp>
      <p:sp>
        <p:nvSpPr>
          <p:cNvPr id="11" name="文本框 10"/>
          <p:cNvSpPr txBox="1"/>
          <p:nvPr/>
        </p:nvSpPr>
        <p:spPr>
          <a:xfrm>
            <a:off x="-24765" y="2564765"/>
            <a:ext cx="1361440" cy="645160"/>
          </a:xfrm>
          <a:prstGeom prst="rect">
            <a:avLst/>
          </a:prstGeom>
          <a:noFill/>
        </p:spPr>
        <p:txBody>
          <a:bodyPr wrap="square" rtlCol="0">
            <a:spAutoFit/>
          </a:bodyPr>
          <a:lstStyle/>
          <a:p>
            <a:r>
              <a:rPr lang="en-US" altLang="zh-CN"/>
              <a:t>restart</a:t>
            </a:r>
          </a:p>
          <a:p>
            <a:r>
              <a:rPr lang="en-US" altLang="zh-CN"/>
              <a:t>button</a:t>
            </a:r>
          </a:p>
        </p:txBody>
      </p:sp>
      <p:sp>
        <p:nvSpPr>
          <p:cNvPr id="12" name="圆角矩形 11"/>
          <p:cNvSpPr/>
          <p:nvPr/>
        </p:nvSpPr>
        <p:spPr>
          <a:xfrm>
            <a:off x="10142220" y="904875"/>
            <a:ext cx="1797050" cy="1012190"/>
          </a:xfrm>
          <a:prstGeom prst="roundRect">
            <a:avLst/>
          </a:prstGeom>
          <a:noFill/>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r>
              <a:rPr lang="en-US" altLang="zh-CN">
                <a:solidFill>
                  <a:schemeClr val="tx1"/>
                </a:solidFill>
              </a:rPr>
              <a:t>showanswer</a:t>
            </a:r>
          </a:p>
          <a:p>
            <a:pPr algn="ctr"/>
            <a:r>
              <a:rPr lang="en-US" altLang="zh-CN">
                <a:solidFill>
                  <a:schemeClr val="tx1"/>
                </a:solidFill>
              </a:rPr>
              <a:t>button-&gt;</a:t>
            </a:r>
          </a:p>
          <a:p>
            <a:pPr algn="ctr"/>
            <a:r>
              <a:rPr lang="en-US" altLang="zh-CN">
                <a:solidFill>
                  <a:schemeClr val="tx1"/>
                </a:solidFill>
              </a:rPr>
              <a:t>alert</a:t>
            </a:r>
          </a:p>
          <a:p>
            <a:pPr algn="ctr"/>
            <a:endParaRPr lang="en-US" altLang="zh-CN">
              <a:solidFill>
                <a:schemeClr val="tx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核心函数</a:t>
            </a:r>
          </a:p>
        </p:txBody>
      </p:sp>
      <p:sp>
        <p:nvSpPr>
          <p:cNvPr id="3" name="内容占位符 2"/>
          <p:cNvSpPr>
            <a:spLocks noGrp="1"/>
          </p:cNvSpPr>
          <p:nvPr>
            <p:ph idx="1"/>
          </p:nvPr>
        </p:nvSpPr>
        <p:spPr>
          <a:xfrm>
            <a:off x="838201" y="980728"/>
            <a:ext cx="10154343" cy="5196235"/>
          </a:xfrm>
        </p:spPr>
        <p:txBody>
          <a:bodyPr numCol="3">
            <a:normAutofit fontScale="92500" lnSpcReduction="10000"/>
          </a:bodyPr>
          <a:lstStyle/>
          <a:p>
            <a:pPr>
              <a:lnSpc>
                <a:spcPct val="120000"/>
              </a:lnSpc>
            </a:pPr>
            <a:r>
              <a:rPr lang="zh-CN" altLang="en-US" u="sng" dirty="0">
                <a:hlinkClick r:id="rId2"/>
              </a:rPr>
              <a:t>核心函数实现纯手搓</a:t>
            </a:r>
            <a:endParaRPr lang="en-US" altLang="zh-CN" u="sng" dirty="0">
              <a:hlinkClick r:id="rId2"/>
            </a:endParaRPr>
          </a:p>
          <a:p>
            <a:pPr>
              <a:lnSpc>
                <a:spcPct val="120000"/>
              </a:lnSpc>
            </a:pPr>
            <a:r>
              <a:rPr lang="en-US" altLang="zh-CN" u="sng" dirty="0" err="1">
                <a:hlinkClick r:id="rId2"/>
              </a:rPr>
              <a:t>codewars</a:t>
            </a:r>
            <a:endParaRPr lang="en-US" altLang="zh-CN" dirty="0"/>
          </a:p>
          <a:p>
            <a:pPr>
              <a:lnSpc>
                <a:spcPct val="120000"/>
              </a:lnSpc>
            </a:pPr>
            <a:r>
              <a:rPr lang="en-US" altLang="zh-CN" dirty="0"/>
              <a:t>function resolver(guess, answer) {</a:t>
            </a:r>
          </a:p>
          <a:p>
            <a:pPr>
              <a:lnSpc>
                <a:spcPct val="120000"/>
              </a:lnSpc>
            </a:pPr>
            <a:r>
              <a:rPr lang="en-US" altLang="zh-CN" dirty="0"/>
              <a:t>  let </a:t>
            </a:r>
            <a:r>
              <a:rPr lang="en-US" altLang="zh-CN" dirty="0" err="1"/>
              <a:t>answerLength</a:t>
            </a:r>
            <a:r>
              <a:rPr lang="en-US" altLang="zh-CN" dirty="0"/>
              <a:t> = 5;</a:t>
            </a:r>
          </a:p>
          <a:p>
            <a:pPr>
              <a:lnSpc>
                <a:spcPct val="120000"/>
              </a:lnSpc>
            </a:pPr>
            <a:r>
              <a:rPr lang="en-US" altLang="zh-CN" dirty="0"/>
              <a:t>  let result = ['b', 'b', 'b', 'b', 'b'];</a:t>
            </a:r>
          </a:p>
          <a:p>
            <a:pPr>
              <a:lnSpc>
                <a:spcPct val="120000"/>
              </a:lnSpc>
            </a:pPr>
            <a:r>
              <a:rPr lang="en-US" altLang="zh-CN" dirty="0"/>
              <a:t>  let </a:t>
            </a:r>
            <a:r>
              <a:rPr lang="en-US" altLang="zh-CN" dirty="0" err="1"/>
              <a:t>guessArr</a:t>
            </a:r>
            <a:r>
              <a:rPr lang="en-US" altLang="zh-CN" dirty="0"/>
              <a:t> = </a:t>
            </a:r>
            <a:r>
              <a:rPr lang="en-US" altLang="zh-CN" dirty="0" err="1"/>
              <a:t>guess.toUpperCase</a:t>
            </a:r>
            <a:r>
              <a:rPr lang="en-US" altLang="zh-CN" dirty="0"/>
              <a:t>().split("");</a:t>
            </a:r>
          </a:p>
          <a:p>
            <a:pPr>
              <a:lnSpc>
                <a:spcPct val="120000"/>
              </a:lnSpc>
            </a:pPr>
            <a:r>
              <a:rPr lang="en-US" altLang="zh-CN" dirty="0"/>
              <a:t>  let </a:t>
            </a:r>
            <a:r>
              <a:rPr lang="en-US" altLang="zh-CN" dirty="0" err="1"/>
              <a:t>answerArr</a:t>
            </a:r>
            <a:r>
              <a:rPr lang="en-US" altLang="zh-CN" dirty="0"/>
              <a:t> = </a:t>
            </a:r>
            <a:r>
              <a:rPr lang="en-US" altLang="zh-CN" dirty="0" err="1"/>
              <a:t>answer.toUpperCase</a:t>
            </a:r>
            <a:r>
              <a:rPr lang="en-US" altLang="zh-CN" dirty="0"/>
              <a:t>().split("");</a:t>
            </a:r>
          </a:p>
          <a:p>
            <a:pPr>
              <a:lnSpc>
                <a:spcPct val="120000"/>
              </a:lnSpc>
            </a:pPr>
            <a:r>
              <a:rPr lang="en-US" altLang="zh-CN" dirty="0"/>
              <a:t>  for (let </a:t>
            </a:r>
            <a:r>
              <a:rPr lang="en-US" altLang="zh-CN" dirty="0" err="1"/>
              <a:t>i</a:t>
            </a:r>
            <a:r>
              <a:rPr lang="en-US" altLang="zh-CN" dirty="0"/>
              <a:t> = 0 ; </a:t>
            </a:r>
            <a:r>
              <a:rPr lang="en-US" altLang="zh-CN" dirty="0" err="1"/>
              <a:t>i</a:t>
            </a:r>
            <a:r>
              <a:rPr lang="en-US" altLang="zh-CN" dirty="0"/>
              <a:t> &lt; </a:t>
            </a:r>
            <a:r>
              <a:rPr lang="en-US" altLang="zh-CN" dirty="0" err="1"/>
              <a:t>answerLength</a:t>
            </a:r>
            <a:r>
              <a:rPr lang="en-US" altLang="zh-CN" dirty="0"/>
              <a:t> ; </a:t>
            </a:r>
            <a:r>
              <a:rPr lang="en-US" altLang="zh-CN" dirty="0" err="1"/>
              <a:t>i</a:t>
            </a:r>
            <a:r>
              <a:rPr lang="en-US" altLang="zh-CN" dirty="0"/>
              <a:t>++) {</a:t>
            </a:r>
          </a:p>
          <a:p>
            <a:pPr>
              <a:lnSpc>
                <a:spcPct val="120000"/>
              </a:lnSpc>
            </a:pPr>
            <a:r>
              <a:rPr lang="en-US" altLang="zh-CN" dirty="0"/>
              <a:t>    if (</a:t>
            </a:r>
            <a:r>
              <a:rPr lang="en-US" altLang="zh-CN" dirty="0" err="1"/>
              <a:t>guessArr</a:t>
            </a:r>
            <a:r>
              <a:rPr lang="en-US" altLang="zh-CN" dirty="0"/>
              <a:t>[</a:t>
            </a:r>
            <a:r>
              <a:rPr lang="en-US" altLang="zh-CN" dirty="0" err="1"/>
              <a:t>i</a:t>
            </a:r>
            <a:r>
              <a:rPr lang="en-US" altLang="zh-CN" dirty="0"/>
              <a:t>] === </a:t>
            </a:r>
            <a:r>
              <a:rPr lang="en-US" altLang="zh-CN" dirty="0" err="1"/>
              <a:t>answerArr</a:t>
            </a:r>
            <a:r>
              <a:rPr lang="en-US" altLang="zh-CN" dirty="0"/>
              <a:t>[</a:t>
            </a:r>
            <a:r>
              <a:rPr lang="en-US" altLang="zh-CN" dirty="0" err="1"/>
              <a:t>i</a:t>
            </a:r>
            <a:r>
              <a:rPr lang="en-US" altLang="zh-CN" dirty="0"/>
              <a:t>]) {</a:t>
            </a:r>
          </a:p>
          <a:p>
            <a:pPr>
              <a:lnSpc>
                <a:spcPct val="120000"/>
              </a:lnSpc>
            </a:pPr>
            <a:r>
              <a:rPr lang="en-US" altLang="zh-CN" dirty="0"/>
              <a:t>      result[</a:t>
            </a:r>
            <a:r>
              <a:rPr lang="en-US" altLang="zh-CN" dirty="0" err="1"/>
              <a:t>i</a:t>
            </a:r>
            <a:r>
              <a:rPr lang="en-US" altLang="zh-CN" dirty="0"/>
              <a:t>] = 'g';</a:t>
            </a:r>
          </a:p>
          <a:p>
            <a:pPr>
              <a:lnSpc>
                <a:spcPct val="120000"/>
              </a:lnSpc>
            </a:pPr>
            <a:r>
              <a:rPr lang="en-US" altLang="zh-CN" dirty="0"/>
              <a:t>      </a:t>
            </a:r>
            <a:r>
              <a:rPr lang="en-US" altLang="zh-CN" dirty="0" err="1"/>
              <a:t>answerArr</a:t>
            </a:r>
            <a:r>
              <a:rPr lang="en-US" altLang="zh-CN" dirty="0"/>
              <a:t>[</a:t>
            </a:r>
            <a:r>
              <a:rPr lang="en-US" altLang="zh-CN" dirty="0" err="1"/>
              <a:t>i</a:t>
            </a:r>
            <a:r>
              <a:rPr lang="en-US" altLang="zh-CN" dirty="0"/>
              <a:t>] = '';</a:t>
            </a:r>
          </a:p>
          <a:p>
            <a:pPr>
              <a:lnSpc>
                <a:spcPct val="120000"/>
              </a:lnSpc>
            </a:pPr>
            <a:r>
              <a:rPr lang="en-US" altLang="zh-CN" dirty="0"/>
              <a:t>    }</a:t>
            </a:r>
          </a:p>
          <a:p>
            <a:pPr>
              <a:lnSpc>
                <a:spcPct val="120000"/>
              </a:lnSpc>
            </a:pPr>
            <a:r>
              <a:rPr lang="en-US" altLang="zh-CN" dirty="0"/>
              <a:t>  }</a:t>
            </a:r>
          </a:p>
          <a:p>
            <a:pPr>
              <a:lnSpc>
                <a:spcPct val="120000"/>
              </a:lnSpc>
            </a:pPr>
            <a:r>
              <a:rPr lang="en-US" altLang="zh-CN" dirty="0"/>
              <a:t>  for (let </a:t>
            </a:r>
            <a:r>
              <a:rPr lang="en-US" altLang="zh-CN" dirty="0" err="1"/>
              <a:t>i</a:t>
            </a:r>
            <a:r>
              <a:rPr lang="en-US" altLang="zh-CN" dirty="0"/>
              <a:t> = 0 ; </a:t>
            </a:r>
            <a:r>
              <a:rPr lang="en-US" altLang="zh-CN" dirty="0" err="1"/>
              <a:t>i</a:t>
            </a:r>
            <a:r>
              <a:rPr lang="en-US" altLang="zh-CN" dirty="0"/>
              <a:t> &lt; </a:t>
            </a:r>
            <a:r>
              <a:rPr lang="en-US" altLang="zh-CN" dirty="0" err="1"/>
              <a:t>answerLength</a:t>
            </a:r>
            <a:r>
              <a:rPr lang="en-US" altLang="zh-CN" dirty="0"/>
              <a:t> ; </a:t>
            </a:r>
            <a:r>
              <a:rPr lang="en-US" altLang="zh-CN" dirty="0" err="1"/>
              <a:t>i</a:t>
            </a:r>
            <a:r>
              <a:rPr lang="en-US" altLang="zh-CN" dirty="0"/>
              <a:t>++) {</a:t>
            </a:r>
          </a:p>
          <a:p>
            <a:pPr>
              <a:lnSpc>
                <a:spcPct val="120000"/>
              </a:lnSpc>
            </a:pPr>
            <a:r>
              <a:rPr lang="en-US" altLang="zh-CN" dirty="0"/>
              <a:t>    if (result[</a:t>
            </a:r>
            <a:r>
              <a:rPr lang="en-US" altLang="zh-CN" dirty="0" err="1"/>
              <a:t>i</a:t>
            </a:r>
            <a:r>
              <a:rPr lang="en-US" altLang="zh-CN" dirty="0"/>
              <a:t>] !== 'g')</a:t>
            </a:r>
          </a:p>
          <a:p>
            <a:pPr>
              <a:lnSpc>
                <a:spcPct val="120000"/>
              </a:lnSpc>
            </a:pPr>
            <a:r>
              <a:rPr lang="en-US" altLang="zh-CN" dirty="0"/>
              <a:t>    {</a:t>
            </a:r>
          </a:p>
          <a:p>
            <a:pPr>
              <a:lnSpc>
                <a:spcPct val="120000"/>
              </a:lnSpc>
            </a:pPr>
            <a:endParaRPr lang="en-US" altLang="zh-CN" dirty="0"/>
          </a:p>
          <a:p>
            <a:pPr>
              <a:lnSpc>
                <a:spcPct val="120000"/>
              </a:lnSpc>
            </a:pPr>
            <a:r>
              <a:rPr lang="en-US" altLang="zh-CN" dirty="0"/>
              <a:t>    </a:t>
            </a:r>
          </a:p>
          <a:p>
            <a:pPr>
              <a:lnSpc>
                <a:spcPct val="120000"/>
              </a:lnSpc>
            </a:pPr>
            <a:r>
              <a:rPr lang="en-US" altLang="zh-CN" dirty="0"/>
              <a:t>            for (let j = 0 ; j &lt; </a:t>
            </a:r>
            <a:r>
              <a:rPr lang="en-US" altLang="zh-CN" dirty="0" err="1"/>
              <a:t>answerLength</a:t>
            </a:r>
            <a:r>
              <a:rPr lang="en-US" altLang="zh-CN" dirty="0"/>
              <a:t> ; </a:t>
            </a:r>
            <a:r>
              <a:rPr lang="en-US" altLang="zh-CN" dirty="0" err="1"/>
              <a:t>j++</a:t>
            </a:r>
            <a:r>
              <a:rPr lang="en-US" altLang="zh-CN" dirty="0"/>
              <a:t>) {</a:t>
            </a:r>
          </a:p>
          <a:p>
            <a:pPr>
              <a:lnSpc>
                <a:spcPct val="120000"/>
              </a:lnSpc>
            </a:pPr>
            <a:r>
              <a:rPr lang="en-US" altLang="zh-CN" dirty="0"/>
              <a:t>                         if (</a:t>
            </a:r>
            <a:r>
              <a:rPr lang="en-US" altLang="zh-CN" dirty="0" err="1"/>
              <a:t>guessArr</a:t>
            </a:r>
            <a:r>
              <a:rPr lang="en-US" altLang="zh-CN" dirty="0"/>
              <a:t>[</a:t>
            </a:r>
            <a:r>
              <a:rPr lang="en-US" altLang="zh-CN" dirty="0" err="1"/>
              <a:t>i</a:t>
            </a:r>
            <a:r>
              <a:rPr lang="en-US" altLang="zh-CN" dirty="0"/>
              <a:t>] === </a:t>
            </a:r>
            <a:r>
              <a:rPr lang="en-US" altLang="zh-CN" dirty="0" err="1"/>
              <a:t>answerArr</a:t>
            </a:r>
            <a:r>
              <a:rPr lang="en-US" altLang="zh-CN" dirty="0"/>
              <a:t>[j]) </a:t>
            </a:r>
          </a:p>
          <a:p>
            <a:pPr>
              <a:lnSpc>
                <a:spcPct val="120000"/>
              </a:lnSpc>
            </a:pPr>
            <a:r>
              <a:rPr lang="en-US" altLang="zh-CN" dirty="0"/>
              <a:t>                        {</a:t>
            </a:r>
          </a:p>
          <a:p>
            <a:pPr>
              <a:lnSpc>
                <a:spcPct val="120000"/>
              </a:lnSpc>
            </a:pPr>
            <a:r>
              <a:rPr lang="en-US" altLang="zh-CN" dirty="0"/>
              <a:t>                         result[</a:t>
            </a:r>
            <a:r>
              <a:rPr lang="en-US" altLang="zh-CN" dirty="0" err="1"/>
              <a:t>i</a:t>
            </a:r>
            <a:r>
              <a:rPr lang="en-US" altLang="zh-CN" dirty="0"/>
              <a:t>] = 'y';</a:t>
            </a:r>
          </a:p>
          <a:p>
            <a:pPr>
              <a:lnSpc>
                <a:spcPct val="120000"/>
              </a:lnSpc>
            </a:pPr>
            <a:r>
              <a:rPr lang="en-US" altLang="zh-CN" dirty="0"/>
              <a:t>                         </a:t>
            </a:r>
            <a:r>
              <a:rPr lang="en-US" altLang="zh-CN" dirty="0" err="1"/>
              <a:t>answerArr</a:t>
            </a:r>
            <a:r>
              <a:rPr lang="en-US" altLang="zh-CN" dirty="0"/>
              <a:t>[j] = '';</a:t>
            </a:r>
          </a:p>
          <a:p>
            <a:pPr>
              <a:lnSpc>
                <a:spcPct val="120000"/>
              </a:lnSpc>
            </a:pPr>
            <a:r>
              <a:rPr lang="en-US" altLang="zh-CN" dirty="0"/>
              <a:t>                         break;</a:t>
            </a:r>
          </a:p>
          <a:p>
            <a:pPr>
              <a:lnSpc>
                <a:spcPct val="120000"/>
              </a:lnSpc>
            </a:pPr>
            <a:r>
              <a:rPr lang="en-US" altLang="zh-CN" dirty="0"/>
              <a:t>                         }</a:t>
            </a:r>
          </a:p>
          <a:p>
            <a:pPr>
              <a:lnSpc>
                <a:spcPct val="120000"/>
              </a:lnSpc>
            </a:pPr>
            <a:r>
              <a:rPr lang="en-US" altLang="zh-CN" dirty="0"/>
              <a:t>            }</a:t>
            </a:r>
          </a:p>
          <a:p>
            <a:pPr>
              <a:lnSpc>
                <a:spcPct val="120000"/>
              </a:lnSpc>
            </a:pPr>
            <a:r>
              <a:rPr lang="en-US" altLang="zh-CN" dirty="0"/>
              <a:t>    }</a:t>
            </a:r>
          </a:p>
          <a:p>
            <a:pPr>
              <a:lnSpc>
                <a:spcPct val="120000"/>
              </a:lnSpc>
            </a:pPr>
            <a:r>
              <a:rPr lang="en-US" altLang="zh-CN" dirty="0"/>
              <a:t>}</a:t>
            </a:r>
          </a:p>
          <a:p>
            <a:pPr>
              <a:lnSpc>
                <a:spcPct val="120000"/>
              </a:lnSpc>
            </a:pPr>
            <a:endParaRPr lang="en-US" altLang="zh-CN" dirty="0"/>
          </a:p>
          <a:p>
            <a:pPr>
              <a:lnSpc>
                <a:spcPct val="120000"/>
              </a:lnSpc>
            </a:pPr>
            <a:r>
              <a:rPr lang="en-US" altLang="zh-CN" dirty="0"/>
              <a:t>  return </a:t>
            </a:r>
            <a:r>
              <a:rPr lang="en-US" altLang="zh-CN" dirty="0" err="1"/>
              <a:t>result.join</a:t>
            </a:r>
            <a:r>
              <a:rPr lang="en-US" altLang="zh-CN" dirty="0"/>
              <a:t>('');</a:t>
            </a:r>
          </a:p>
          <a:p>
            <a:pPr>
              <a:lnSpc>
                <a:spcPct val="120000"/>
              </a:lnSpc>
            </a:pPr>
            <a:r>
              <a:rPr lang="en-US" altLang="zh-CN" dirty="0"/>
              <a:t>}</a:t>
            </a:r>
            <a:endParaRPr lang="zh-CN" altLang="en-US" dirty="0"/>
          </a:p>
        </p:txBody>
      </p:sp>
      <p:pic>
        <p:nvPicPr>
          <p:cNvPr id="5" name="图片 4"/>
          <p:cNvPicPr>
            <a:picLocks noChangeAspect="1"/>
          </p:cNvPicPr>
          <p:nvPr/>
        </p:nvPicPr>
        <p:blipFill>
          <a:blip r:embed="rId3"/>
          <a:stretch>
            <a:fillRect/>
          </a:stretch>
        </p:blipFill>
        <p:spPr>
          <a:xfrm>
            <a:off x="335360" y="42121"/>
            <a:ext cx="1138841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总体评价</a:t>
            </a:r>
          </a:p>
        </p:txBody>
      </p:sp>
      <p:sp>
        <p:nvSpPr>
          <p:cNvPr id="3" name="内容占位符 2"/>
          <p:cNvSpPr>
            <a:spLocks noGrp="1"/>
          </p:cNvSpPr>
          <p:nvPr>
            <p:ph idx="1"/>
          </p:nvPr>
        </p:nvSpPr>
        <p:spPr/>
        <p:txBody>
          <a:bodyPr>
            <a:normAutofit/>
          </a:bodyPr>
          <a:lstStyle/>
          <a:p>
            <a:r>
              <a:rPr lang="zh-CN" altLang="en-US" sz="2400" dirty="0"/>
              <a:t>存在问题：</a:t>
            </a:r>
            <a:endParaRPr lang="en-US" altLang="zh-CN" sz="2400" dirty="0"/>
          </a:p>
          <a:p>
            <a:r>
              <a:rPr lang="en-US" altLang="zh-CN" sz="2400" dirty="0"/>
              <a:t>1.</a:t>
            </a:r>
            <a:r>
              <a:rPr lang="zh-CN" altLang="en-US" sz="2400" dirty="0"/>
              <a:t>实际上仅初步实现</a:t>
            </a:r>
            <a:endParaRPr lang="en-US" altLang="zh-CN" sz="2400" dirty="0"/>
          </a:p>
          <a:p>
            <a:r>
              <a:rPr lang="en-US" altLang="zh-CN" sz="2400" dirty="0"/>
              <a:t>2.Flex Grid</a:t>
            </a:r>
            <a:r>
              <a:rPr lang="zh-CN" altLang="en-US" sz="2400" dirty="0"/>
              <a:t>框架学习存在漏洞</a:t>
            </a:r>
            <a:endParaRPr lang="en-US" altLang="zh-CN" sz="2400" dirty="0"/>
          </a:p>
          <a:p>
            <a:r>
              <a:rPr lang="en-US" altLang="zh-CN" sz="2400" dirty="0"/>
              <a:t>3.</a:t>
            </a:r>
            <a:r>
              <a:rPr lang="zh-CN" altLang="en-US" sz="2400" dirty="0"/>
              <a:t>异步等内容</a:t>
            </a:r>
            <a:endParaRPr lang="en-US" altLang="zh-CN" sz="2400" dirty="0"/>
          </a:p>
          <a:p>
            <a:r>
              <a:rPr lang="en-US" altLang="zh-CN" sz="2400" dirty="0"/>
              <a:t>4.</a:t>
            </a:r>
            <a:r>
              <a:rPr lang="zh-CN" altLang="en-US" sz="2400" dirty="0"/>
              <a:t>大部分样式等不熟悉，需要现查或者询问</a:t>
            </a:r>
            <a:r>
              <a:rPr lang="en-US" altLang="zh-CN" sz="2400" dirty="0"/>
              <a:t>ai</a:t>
            </a:r>
            <a:r>
              <a:rPr lang="zh-CN" altLang="en-US" sz="2400" dirty="0"/>
              <a:t>解决</a:t>
            </a:r>
            <a:endParaRPr lang="en-US" altLang="zh-CN" sz="2400" dirty="0"/>
          </a:p>
        </p:txBody>
      </p:sp>
      <p:sp>
        <p:nvSpPr>
          <p:cNvPr id="4" name="文本框 3">
            <a:extLst>
              <a:ext uri="{FF2B5EF4-FFF2-40B4-BE49-F238E27FC236}">
                <a16:creationId xmlns:a16="http://schemas.microsoft.com/office/drawing/2014/main" id="{E60FDA11-D1B7-F4DB-132D-6F71427F209C}"/>
              </a:ext>
            </a:extLst>
          </p:cNvPr>
          <p:cNvSpPr txBox="1"/>
          <p:nvPr/>
        </p:nvSpPr>
        <p:spPr>
          <a:xfrm>
            <a:off x="5447928" y="980728"/>
            <a:ext cx="4896544" cy="7386638"/>
          </a:xfrm>
          <a:prstGeom prst="rect">
            <a:avLst/>
          </a:prstGeom>
          <a:noFill/>
        </p:spPr>
        <p:txBody>
          <a:bodyPr wrap="square" rtlCol="0">
            <a:spAutoFit/>
          </a:bodyPr>
          <a:lstStyle/>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学到了什么：</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前端基本内容</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对前后端有初步认知</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学会 </a:t>
            </a:r>
            <a:r>
              <a:rPr lang="en-US" altLang="zh-CN" sz="2400" strike="sngStrike" dirty="0">
                <a:solidFill>
                  <a:schemeClr val="tx1">
                    <a:lumMod val="65000"/>
                    <a:lumOff val="35000"/>
                  </a:schemeClr>
                </a:solidFill>
                <a:latin typeface="Microsoft YaHei UI" panose="020B0503020204020204" pitchFamily="34" charset="-122"/>
                <a:ea typeface="Microsoft YaHei UI" panose="020B0503020204020204" pitchFamily="34" charset="-122"/>
              </a:rPr>
              <a:t>Claude Code</a:t>
            </a: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函数解耦的意义</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一个网页的诞生与组成控件</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浏览器</a:t>
            </a:r>
            <a:r>
              <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rPr>
              <a:t>F12</a:t>
            </a: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检查大法</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使用</a:t>
            </a:r>
            <a:r>
              <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rPr>
              <a:t>ai</a:t>
            </a:r>
            <a:r>
              <a:rPr lang="zh-CN" altLang="en-US" sz="2400" dirty="0">
                <a:solidFill>
                  <a:schemeClr val="tx1">
                    <a:lumMod val="65000"/>
                    <a:lumOff val="35000"/>
                  </a:schemeClr>
                </a:solidFill>
                <a:latin typeface="Microsoft YaHei UI" panose="020B0503020204020204" pitchFamily="34" charset="-122"/>
                <a:ea typeface="Microsoft YaHei UI" panose="020B0503020204020204" pitchFamily="34" charset="-122"/>
              </a:rPr>
              <a:t>不仅局限于对话式</a:t>
            </a: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endParaRPr lang="en-US" altLang="zh-CN" sz="2400" strike="sngStrike"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pPr>
              <a:lnSpc>
                <a:spcPct val="150000"/>
              </a:lnSpc>
            </a:pPr>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endParaRPr lang="en-US" altLang="zh-CN" sz="2400" dirty="0">
              <a:solidFill>
                <a:schemeClr val="tx1">
                  <a:lumMod val="65000"/>
                  <a:lumOff val="35000"/>
                </a:schemeClr>
              </a:solidFill>
              <a:latin typeface="Microsoft YaHei UI" panose="020B0503020204020204" pitchFamily="34" charset="-122"/>
              <a:ea typeface="Microsoft YaHei UI" panose="020B0503020204020204" pitchFamily="34" charset="-122"/>
            </a:endParaRPr>
          </a:p>
          <a:p>
            <a:endParaRPr lang="zh-CN" alt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还做了哪些？</a:t>
            </a:r>
          </a:p>
        </p:txBody>
      </p:sp>
      <p:sp>
        <p:nvSpPr>
          <p:cNvPr id="4" name="内容占位符 3"/>
          <p:cNvSpPr>
            <a:spLocks noGrp="1"/>
          </p:cNvSpPr>
          <p:nvPr>
            <p:ph idx="1"/>
          </p:nvPr>
        </p:nvSpPr>
        <p:spPr/>
        <p:txBody>
          <a:bodyPr/>
          <a:lstStyle/>
          <a:p>
            <a:r>
              <a:rPr lang="en-US" altLang="zh-CN" dirty="0" err="1"/>
              <a:t>JavaSE</a:t>
            </a:r>
            <a:r>
              <a:rPr lang="zh-CN" altLang="en-US" dirty="0"/>
              <a:t>学习，</a:t>
            </a:r>
            <a:endParaRPr lang="en-US" altLang="zh-CN" dirty="0"/>
          </a:p>
          <a:p>
            <a:r>
              <a:rPr lang="zh-CN" altLang="en-US" dirty="0"/>
              <a:t>初步能感受到面向对象与面向过程的区别</a:t>
            </a:r>
            <a:endParaRPr lang="en-US" altLang="zh-CN" dirty="0"/>
          </a:p>
          <a:p>
            <a:r>
              <a:rPr lang="en-US" altLang="zh-CN" dirty="0"/>
              <a:t>Python</a:t>
            </a:r>
            <a:r>
              <a:rPr lang="zh-CN" altLang="en-US" dirty="0"/>
              <a:t>基础语法学习，</a:t>
            </a:r>
            <a:endParaRPr lang="en-US" altLang="zh-CN" dirty="0"/>
          </a:p>
          <a:p>
            <a:r>
              <a:rPr lang="zh-CN" altLang="en-US" dirty="0"/>
              <a:t>感受</a:t>
            </a:r>
            <a:r>
              <a:rPr lang="en-US" altLang="zh-CN" dirty="0"/>
              <a:t>ai</a:t>
            </a:r>
            <a:r>
              <a:rPr lang="zh-CN" altLang="en-US" dirty="0"/>
              <a:t>，有一丝丝认知</a:t>
            </a:r>
            <a:endParaRPr lang="en-US" altLang="zh-CN" dirty="0"/>
          </a:p>
          <a:p>
            <a:r>
              <a:rPr lang="en-US" altLang="zh-CN" dirty="0" err="1"/>
              <a:t>Openclaw</a:t>
            </a:r>
            <a:r>
              <a:rPr lang="zh-CN" altLang="en-US" dirty="0"/>
              <a:t>云端部署</a:t>
            </a:r>
            <a:endParaRPr lang="en-US" altLang="zh-CN" dirty="0"/>
          </a:p>
        </p:txBody>
      </p:sp>
      <p:sp>
        <p:nvSpPr>
          <p:cNvPr id="6" name="内容占位符 2">
            <a:extLst>
              <a:ext uri="{FF2B5EF4-FFF2-40B4-BE49-F238E27FC236}">
                <a16:creationId xmlns:a16="http://schemas.microsoft.com/office/drawing/2014/main" id="{A6F0F951-DB55-0290-F775-964AC6495565}"/>
              </a:ext>
            </a:extLst>
          </p:cNvPr>
          <p:cNvSpPr txBox="1">
            <a:spLocks/>
          </p:cNvSpPr>
          <p:nvPr/>
        </p:nvSpPr>
        <p:spPr>
          <a:xfrm>
            <a:off x="6240016" y="980728"/>
            <a:ext cx="4167753" cy="5196235"/>
          </a:xfrm>
          <a:prstGeom prst="rect">
            <a:avLst/>
          </a:prstGeom>
        </p:spPr>
        <p:txBody>
          <a:bodyPr vert="horz" lIns="0" tIns="0" rIns="0" bIns="0" rtlCol="0">
            <a:normAutofit/>
          </a:bodyPr>
          <a:lstStyle>
            <a:lvl1pPr marL="0" indent="0" algn="l" defTabSz="914400" rtl="0" eaLnBrk="1" latinLnBrk="0" hangingPunct="1">
              <a:lnSpc>
                <a:spcPct val="130000"/>
              </a:lnSpc>
              <a:spcBef>
                <a:spcPts val="500"/>
              </a:spcBef>
              <a:spcAft>
                <a:spcPts val="1000"/>
              </a:spcAft>
              <a:buFont typeface="Arial" panose="020B0604020202020204" pitchFamily="34" charset="0"/>
              <a:buNone/>
              <a:defRPr sz="1600" kern="1200" baseline="0">
                <a:solidFill>
                  <a:schemeClr val="tx1">
                    <a:lumMod val="65000"/>
                    <a:lumOff val="35000"/>
                  </a:schemeClr>
                </a:solidFill>
                <a:latin typeface="Microsoft YaHei UI" panose="020B0503020204020204" pitchFamily="34" charset="-122"/>
                <a:ea typeface="Microsoft YaHei UI" panose="020B0503020204020204" pitchFamily="34" charset="-122"/>
                <a:cs typeface="+mn-cs"/>
              </a:defRPr>
            </a:lvl1pPr>
            <a:lvl2pPr marL="685800" indent="-228600" algn="l" defTabSz="914400" rtl="0" eaLnBrk="1" latinLnBrk="0" hangingPunct="1">
              <a:lnSpc>
                <a:spcPct val="130000"/>
              </a:lnSpc>
              <a:spcBef>
                <a:spcPts val="500"/>
              </a:spcBef>
              <a:spcAft>
                <a:spcPts val="1000"/>
              </a:spcAft>
              <a:buFont typeface="Arial" panose="020B0604020202020204" pitchFamily="34" charset="0"/>
              <a:buChar char="•"/>
              <a:defRPr sz="1400" kern="1200" baseline="0">
                <a:solidFill>
                  <a:schemeClr val="tx1">
                    <a:lumMod val="65000"/>
                    <a:lumOff val="35000"/>
                  </a:schemeClr>
                </a:solidFill>
                <a:latin typeface="Microsoft YaHei UI" panose="020B0503020204020204" pitchFamily="34" charset="-122"/>
                <a:ea typeface="Microsoft YaHei UI" panose="020B0503020204020204" pitchFamily="34" charset="-122"/>
                <a:cs typeface="+mn-cs"/>
              </a:defRPr>
            </a:lvl2pPr>
            <a:lvl3pPr marL="1143000" indent="-228600" algn="l" defTabSz="914400" rtl="0" eaLnBrk="1" latinLnBrk="0" hangingPunct="1">
              <a:lnSpc>
                <a:spcPct val="130000"/>
              </a:lnSpc>
              <a:spcBef>
                <a:spcPct val="30000"/>
              </a:spcBef>
              <a:spcAft>
                <a:spcPts val="1000"/>
              </a:spcAft>
              <a:buFont typeface="Arial" panose="020B0604020202020204" pitchFamily="34" charset="0"/>
              <a:buChar char="•"/>
              <a:defRPr sz="1200" kern="1200" baseline="0">
                <a:solidFill>
                  <a:schemeClr val="tx1">
                    <a:lumMod val="65000"/>
                    <a:lumOff val="35000"/>
                  </a:schemeClr>
                </a:solidFill>
                <a:latin typeface="Microsoft YaHei UI" panose="020B0503020204020204" pitchFamily="34" charset="-122"/>
                <a:ea typeface="Microsoft YaHei UI" panose="020B0503020204020204" pitchFamily="34" charset="-122"/>
                <a:cs typeface="+mn-cs"/>
              </a:defRPr>
            </a:lvl3pPr>
            <a:lvl4pPr marL="1600200" indent="-228600" algn="l" defTabSz="914400" rtl="0" eaLnBrk="1" latinLnBrk="0" hangingPunct="1">
              <a:lnSpc>
                <a:spcPct val="130000"/>
              </a:lnSpc>
              <a:spcBef>
                <a:spcPct val="30000"/>
              </a:spcBef>
              <a:spcAft>
                <a:spcPts val="1000"/>
              </a:spcAft>
              <a:buFont typeface="Arial" panose="020B0604020202020204" pitchFamily="34" charset="0"/>
              <a:buChar char="•"/>
              <a:defRPr sz="1100" kern="1200" baseline="0">
                <a:solidFill>
                  <a:schemeClr val="tx1">
                    <a:lumMod val="65000"/>
                    <a:lumOff val="35000"/>
                  </a:schemeClr>
                </a:solidFill>
                <a:latin typeface="Microsoft YaHei UI" panose="020B0503020204020204" pitchFamily="34" charset="-122"/>
                <a:ea typeface="Microsoft YaHei UI" panose="020B0503020204020204" pitchFamily="34" charset="-122"/>
                <a:cs typeface="+mn-cs"/>
              </a:defRPr>
            </a:lvl4pPr>
            <a:lvl5pPr marL="2057400" indent="-228600" algn="l" defTabSz="914400" rtl="0" eaLnBrk="1" latinLnBrk="0" hangingPunct="1">
              <a:lnSpc>
                <a:spcPct val="130000"/>
              </a:lnSpc>
              <a:spcBef>
                <a:spcPct val="30000"/>
              </a:spcBef>
              <a:spcAft>
                <a:spcPts val="1000"/>
              </a:spcAft>
              <a:buFont typeface="Arial" panose="020B0604020202020204" pitchFamily="34" charset="0"/>
              <a:buChar char="•"/>
              <a:defRPr sz="1100" kern="1200" baseline="0">
                <a:solidFill>
                  <a:schemeClr val="tx1">
                    <a:lumMod val="65000"/>
                    <a:lumOff val="35000"/>
                  </a:schemeClr>
                </a:solidFill>
                <a:latin typeface="Microsoft YaHei UI" panose="020B0503020204020204" pitchFamily="34" charset="-122"/>
                <a:ea typeface="Microsoft YaHei UI" panose="020B0503020204020204" pitchFamily="34" charset="-122"/>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r>
              <a:rPr lang="zh-CN" altLang="en-US" sz="2000" b="1" dirty="0"/>
              <a:t>后续？</a:t>
            </a:r>
            <a:endParaRPr lang="en-US" altLang="zh-CN" b="1" dirty="0"/>
          </a:p>
          <a:p>
            <a:r>
              <a:rPr lang="en-US" altLang="zh-CN" dirty="0"/>
              <a:t>1.JavaWeb</a:t>
            </a:r>
          </a:p>
          <a:p>
            <a:r>
              <a:rPr lang="en-US" altLang="zh-CN" dirty="0"/>
              <a:t>2.MySQL</a:t>
            </a:r>
          </a:p>
          <a:p>
            <a:r>
              <a:rPr lang="en-US" altLang="zh-CN" dirty="0"/>
              <a:t>3.Springboot</a:t>
            </a:r>
          </a:p>
          <a:p>
            <a:endParaRPr lang="en-US" altLang="zh-C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p:cNvSpPr>
            <a:spLocks noGrp="1"/>
          </p:cNvSpPr>
          <p:nvPr>
            <p:ph type="title" idx="4294967295"/>
          </p:nvPr>
        </p:nvSpPr>
        <p:spPr>
          <a:xfrm>
            <a:off x="838200" y="2492896"/>
            <a:ext cx="10515600" cy="1325563"/>
          </a:xfrm>
        </p:spPr>
        <p:txBody>
          <a:bodyPr rtlCol="0"/>
          <a:lstStyle/>
          <a:p>
            <a:pPr algn="ctr" rtl="0"/>
            <a:r>
              <a:rPr lang="zh-CN" altLang="en-US" dirty="0">
                <a:solidFill>
                  <a:srgbClr val="FF0000"/>
                </a:solidFill>
              </a:rPr>
              <a:t>结束语</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1c29d4c5-cc17-4b6f-87aa-cc5e40ecfbd0"/>
  <p:tag name="COMMONDATA" val="eyJoZGlkIjoiYjdlZjIwZmNkNzI3MzEwMzZmOTQyZTUzYzc4MjYwZjAifQ=="/>
</p:tagLst>
</file>

<file path=ppt/theme/theme1.xml><?xml version="1.0" encoding="utf-8"?>
<a:theme xmlns:a="http://schemas.openxmlformats.org/drawingml/2006/main" name="欢迎文档">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s:customData xmlns="http://www.wps.cn/officeDocument/2013/wpsCustomData" xmlns:s="http://www.wps.cn/officeDocument/2013/wpsCustomData">
  <extobjs>
    <extobj name="ECB019B1-382A-4266-B25C-5B523AA43C14-1">
      <extobjdata type="ECB019B1-382A-4266-B25C-5B523AA43C14" data="ewoJIkZpbGVJZCIgOiAiNDk2OTYzMzMyNzU5IiwKCSJHcm91cElkIiA6ICIyNTczODAwMDk2IiwKCSJJbWFnZSIgOiAiaVZCT1J3MEtHZ29BQUFBTlNVaEVVZ0FBQTd3QUFBR25DQVlBQUFDVXpWdEdBQUFBQVhOU1IwSUFyczRjNlFBQUlBQkpSRUZVZUp6czNYbGNWTlg3Qi9EUHViTXd3TENvaUtBb3FDaUlzZ3lvcUtpNEw1aDdVZVpTcVdubXZsT1dScmxybVpxWktRcWE5alBMTFRmTTNWTGNFUTNGM1VSRlJFVFdtV0ZtenU4UFliNk9BOGpxQ0R6djE2dFh6TDNuM3Z0Y2hNdDU3dGtB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ZSWXpOUUJFRUlJSVlRUVFzb3Z6amszZFF6bEdXT01jckl5SkpnNkFFSUlJWVFRUWdnaHBDeFF3a3NJSVlRUVFnZ2hwRUtpaEpjUVFnZ2hoQkJDU0lWRUNTOGhoQkJDQ0NIa2paU1VsSVRidDIrWDZUV3VYNzhPalVaVHB0Y2dwaU0yZFFDRUVFSUlJWVNROGsycFZDSWtKQVFEQnc1RXMyYk45TnZWYWpVS082ZVZTQ1NDV0d5WW5xeGJ0dzY3ZHUzQzBhTkhTejFtQUxoeTVRbysrT0FEOU9yVkMxOTg4VVdSanMzTXpFUmFXbHFSanBGSUpLaGF0V29Sb3lRbFFRa3ZJWVFRUWdnaHBFU1VTaVZTVWxJd2V2Um9USjgrSGYzNzl3Y0FkT3ZXRGMrZVBTdlVPWVlPSFlyUm8wY2JiUy9MU1l3Yk5XcUVIajE2WU51MmJmRHc4RUMvZnYwS2ZlejY5ZXV4ZXZYcUlsM1AyOXNiYTlldUxVYWtwTGdvNFNXRUVFSUlJWVNVaUsydExWYXRXb1VaTTJaZzd0eTVlUERnQWNhT0hZczVjK1lZZEJjT0N3dERjbkl5cGs2ZGFuU08yclZyRzIzVDZYUUZKcnpEaGcxRGFtcHFudnNHRHg2TVhyMTZJUzR1RGpkdjNzejNISjZlbnRpL2Z6K3VYTG1DUFh2MjVGbEdMQmFqUzVjdUJ0dnUzYnNIR3hzYkxGMjZWTC90NGNPSHFGNjl1bEZMTlFCTW16WU41dWJtK2NaQnlnWWx2SVFRUWdnaGhKQVNNek16dzRJRkMvRHR0OStpVFpzMkFJQ1dMVnNhbEZtd1lBRThQVDMxKy9OeThPQkJ6Snc1RXdDZzBXaWcwV2dRRUJCZ1VHYkZpaFh3OGZIQjdkdTM0ZWpvQ0g5L2YvMCtqVWFEalJzM0lpVWxCUUFRR1JtSmlJaUlWOGEvZGV0V2JOMjZOYzk5Y3JuY0tPR05qNDlIN2RxMTRlbnBDUUJJVFUzRmhBa1Q0T3ZyaTNuejVoa2x2VHFkamhKZUU2Q0VseEJDQ0NHRUVGSWlhclVhRW9rRUlwRUkwNlpOeTdQTTlldlg4ZkRoUTN6MDBVY0Zuc3ZaMlJsRGhnd0JBQncvZmh4Mzd0ekI0TUdEZ1p4VzFiMTc5eHEwK25wNWVXSGN1SEg2ejVtWm1kaTRjYVBSZVUrY09GR3NlNXMzYng0T0h6NXN0RDArUHQ0ZzBiYTJ0c2I0OGVNUkdocUtrSkFReko4LzN5RHBWYWxVc0xDd0tGWU1wUGdvNFNXRUVFSUlJWVNVU0VoSUNGUXFGYjcrK210VXExWU5BTkNyVnk4OGVmSkVYMGFyMVFJQUZpOWVqTysrK3k3UDgweWVQQm45K3ZXRHE2c3JBT0R4NDhkSVRrN0d5SkVqZ1p3RWVPL2V2UkNKUkVXTzBjek1yRmozSmdqR0M5dWtwNmNqSlNVRnRXclZNdGplcTFjdnBLV2w0YnZ2dnNPcVZhc014aVFybFVwcTRUVUJTbmdKSVlRUVFnZ2hKZEs1YzJmTW5qMGJBd1lNd1B6NTgrSHI2NHN4WThaQXFWUUNBTzdldll2dzhIQUVCZ2FpWGJ0Mk9IVG9FSTRmUDQ1UFAvMFUxYXRYMTUvSHk4dkw0THk1TGNlNWNzY0RGeVhoOWZmMzF5ZTdJMGVPeE9YTGx3dDFuTGUzTjM3ODhVY0VCZ1lhalMrT2o0OEhBRGc1T1JrZE4zRGdRRmhiV3h0MGdkYnBkTWpPenFZV1hoT2doSmNRUWdnaGhCQlNJdDI3ZDBmZHVuVXhmdng0VEpreUJUdDI3TkFuZkUrZlBrVkVSQVNxVmF1R1diTm13Y2JHQnUzYXRVTndjREFPSERpQWxTdFh3dGJXTnMvenBxZW53OUxTVXY4NXQ1VTRyMG1oOHVQdjc2L3ZldHkvZjM4RUJnYm1Xell0TFEyYk5tMUNlbnE2dnFVNk1EQlFmOHpreVpNUkZSVUZuVTRIQUpnL2Z6NFdMbHlZNTdubXo1OXZ0RzNUcGszNDdiZmZBQUM3ZCsvTzk3NUo2YUdFbHhCQ0NDR0VFRkppN3U3dTJMQmhBeElURTJGbFpRVUErTysvL3pCeDRrUThldlFJcTFldnh0T25UNUdjbkl5NmRldGkrZkxsR0RGaUJBWU5Hb1J2dnZrR0NvWEM2SnlwcWFtd3NiSFJmODVOTkl1UzhMN281WW1uWG5UdzRFRkVSRVJBcTlWaSt2VHBlT2VkZDR6SzlPN2RHODJiTjhmSmt5ZHgvUGh4ZlB6eHh3WUplWDdTMHRLd2N1Vkt0R25UUnI5T01YVnZKb1FRUWdnaGhKQTNITS9IamgwN2VPdldyWG5IamgzNXhZc1hPZWVjanhzM2pvOGNPVkpmNXRxMWE3eFhyMTdjMTllWFQ1dzRrZi85OTk4RzUramZ2ejhQQ1FuUmY5Nnpady8zOWZYbC8vMzNIK2VjOC9idDIvUDU4K2NiSEpPUmtjRjlmWDE1UkVSRWZxRVpTRTVPNWhNblR1Uyt2cjU4OU9qUi9PSERoNjg4WnQ2OGVieDU4K1pjcTlYcXQ1MDllNVlQR2pTSUp5VWxHWlcvYytjTzkvWDE1WC84OFlmUlBsUC8rMVYweGlPd0NTR0VFRUlJSWFRWUZpNWNpSk1uVHlJc0xBeWhvYUZ3YzNQRDZ0V3JqY2JtNW1yUW9BRm16NTZOM3IxNzQvang0N2h3NFlKK24wNm53Nk5IajFDbFNoWDlOclZhRFFBRzQzcExLam82R2tlUEhzWFlzV1B4d3c4L3dNSEI0WlhIM0w5L0h3NE9EZ1lUV3Nsa010eTZkUXVmZnZvcG5qMTdabEErTXpNVG9GWmRrNkF1ellRUVFnZ2hoSkFTUzA5UHgrYk5tNkhWYWpGeDRrVFkyOXVqUjQ4ZWVPZWRkOUNwVXllTUdqVktYL2J3NGNPNGV2VXFnb09ETVh6NGNFeWVQQmxEaGd3eG1CenE1czJieU16TVJLTkdqZlRiVkNvVlVJUXV6UmN1WE1DWU1XTUtMSlBiVFhyVnFsVll2WHAxdnVYNjkrK1BTWk1tQVRrSnI2T2pvOEgreG8wYlkrN2N1Wmd5WlFwR2p4Nk5uMzc2Q1hLNUhBQ1FrWkVCQURScGxRbFF3a3NJSVlRUVFnZ3BzVXVYTGdFQUZBb0ZaRElaZXZic2laTW5UK0xPblR2dzhmRXhLQnNmSDQvMTY5ZGowS0JCNk5ldkgxYXNXSUhPblRzYnpMNmNlNzRYVzRkelozMldTcVdGaXNuUjBWRy9wRkYrYnQyNmhULy8vQk05ZS9iTWM5YmxYTzd1N3NEekx0eDQrUENoMFQwaFo0S3JxVk9uWXNlT0hWQ3BWUHFFTnowOUhhQ0UxeVFvNFNXRUVFSUlJWVNVV0V4TURKQ1Q4T2FLaUloQXZYcjEwTEpsUzRPeTdkcTF3L2ZmZjQ4REJ3NWc1TWlSMkwxN04zNysrV2RNbno1ZFgrYXZ2LzZDcmEwdG5KMmQ5ZHVLbXZBNk9EaGd5SkFoQlpZNWZQZ3cvdnp6VDNUcDBnVk5telo5NVRtVGs1T2hWcXZ4OU9sVDdOeTUwMmkvVENaRC8vNzk4YzgvLytpMzVTYnZaOCtleGNPSEQ2RlFLSXlXT2lKbGd4SmVRZ2doaEJCQ1NJbWRQMzhlRGc0T3FGR2pCZ0RnMEtGRE9IUG1USjdMOXRTdVhSc3VMaTQ0ZVBBZyt2YnRpd0VEQmlBOFBCeURCZzFDclZxMWNQdjJiWncrZmRvb1djM0t5Z0lBL2JxNkFQRG8wU09jT25WSy96bDNuRzlaMFdxMWtFZ2tPSG55SkU2ZVBGbm9ZNUR6QWdBQXZ2enlTMHA0WHhOS2VBa2hoQkJDQ0NFbGtwbVppZWpvYUhUdTNGbS9MVDQrSHY3Ky91allzYU4rVzNaMk5oaGpBSUMyYmR0aTgrYk5VQ3FWR0RSb0VPTGo0L1dKWVZoWUdCaGpSa3NEM2J4NUUzWjJkdnB6QU1EUm8wZHg5T2pSWXNlZW0wUy9PQUZWUWV6dDdSRVZGVldrYTB5ZE9oV0hEeC9HNGNPSGFlS3ExNHdTWGtJSUlZUVFRa2lKbkQxN0ZocU54bUJjNjVBaFF6Qmt5QkQ4L3Z2dlVLdlZ5TXJLd3ZuejUvVko4Y0NCQS9IQkJ4OUFKcE5CSnBOaHpwdzVBSURJeUVqczNic1hRVUZCcUZtekpoWXRXZ1JCRVBEczJUUDg4ODgvQmtrMUFQVHMyZE5nUWl5bFVvbCsvZnJsRyt2OSsvZXhhdFVxMk5yYVFpUVNZZi8rL1FDQW1qVnJsc3IzWXNHQ0Jjak16SVNWbFJVWVk3aDE2eGFpb3FMZzUrZEh5YTRKVU1KTENDR0VFRUlJS1pHVWxCUllXVm5sT1pIVCtmUG5FUmtaQ2NZWTZ0V3JodzgvL0JBQVlHZG5sK2U1dG0zYkJudDdlMHlkT2hYSW1WVHE5T25URUFRQjd1N3VSck11bTV1YjY3dFI0NFVsZ1BKamFXbUpmZnYyNlZ1VGJXeHNNSGJzMkVJdFIxUVlXcTBXUjQ0Y2dVcWxna2FqZ2JXMU5kcTJiWXNwVTZhVXl2bEowYkJDbENHRUVFSUlJWVNRUEhIT09RQm9OQnFJUkNLRDdzYTV0Rm90R0dPRjZqYWNuSnlNZS9mdXdkdmIrK1hyNUhudWt0RHBkSVh1eWx4V1dHbmZGREZBMzF4Q0NDR0VFRUpJc2VVbXZLUjRLT0V0VzZaOW5VRUlJWVFRUWdnaGhCQkNDQ0dFRUVJSU1UMkZRbEhkMjl1N29hbmpJSzlHazFZUlFnZ2hoQkJDU0JGd3podUxSS0pmRlFwRk1vQXd6dm1mQUI1SFIwZW5BZENhT2o3eVA5UmZuQkJDQ0NHRUVFS0t3TWZIcDUwZ0NMOENjTUR6QkRpRE1YWk9wOU5GTWNaT3ExU3FNN0d4c2ZjQTBQaG1FNk1XWGtJSUlZUVFRZ2dwQWNhWUpZQzJnaUFFY001VFpUSlpva0toT00wNTN4d2RIUjBKUUdQcUdDc3JTbmdKSVlRUVFnZ2hwQWdZWXdZdHR5OU1WQzBDVUlWelhvVXg1c1lZRzZ4UUtKNXd6amN3eGpZS2duQW5LeXNyTlRZMlZtMlN3Q3NoNnRKTUNDR0VFRUlJcWZTYU5HbFNXeXdXMXk5a2NSL0cySmVNc2FxNUcvSmFuZW1sRlljMEFLNEFpTkpxdFZjRlFUZ29DRUxzdVhQbnNrc2hmSklQU25nSklZUVFRZ2dobFpxUGo0OExZMndkWTh5OU1PVTU1MUxHbUUxT2kyNWUrNEdjaFBmRnIvRy9kWXV6QVR3RWNFV24wMjNUYURTLy8vdnZ2OG1sZUVza0IzVnBKb1FRUWdnaGhGUjJMb3d4ZDg1NURRQVpoUmh6SythY3M1ZGFjSTI4Mk9yTE9RZGpERGtIaVRqblZnRHNHR08yakRGSktkMEhlUWtsdklRUVFnZ2hoQkR5WEFibi9Fc0EwYThvNThNWSt4SkFnVjJhWWR5eWV4TkFGT2Y4WDYxV2V5UTVPZmxpZkh4OFZ1bmVBbmtSSmJ5RWtESlZ2YnFIM0tLcXVMcU9hKzFFZ3NUUzFQRVFRa3hMbytPWllvRWxaanhSSnoxK0hKdHU2bmdJSWVRbEdnRFIwZEhSUndvcTVPUGpBOGFZZnVLcGdzYnZjczdUT2VmYmRUcmRiNXp6ZjlWcTllTzR1TGgwV3JMbzlhQ0VseEJTSnFwN2VNZ3RkZUxQR1ZoUE1DWVRPSk54eHVtWlEwZ2xKeEdnQVlOU2JpZFJXbFQxM241WDlXd083dHhSbWpvdVFnZ3BqaGNUM1p6eHVqb0FTc2JZTTg1NURJQ05qeDQ5K3VQQmd3ZVpKZzIwRXFQS0p5R2sxTlZ5OVhLUzZGZ1lnRTVnVEJDTFJKQ2FTU0VTNVRtdkF5R2tFdEZxZFZDclZOQm90V0NNZTdpWVdYdXE2M21NZTNBcjlqOVR4MFlJSVVYMVFpdHVKdWY4QW9CVFdxMzJqRTZuTzNQNTh1WGJBSFNtanJHeW80UTNoNTJkbTVYTVJseERMSEE1RndrV0RHS3BxV01pLzhPaFVXdTB1a3ltWSttWlRKV1lmT05HcXFsaklubXJXZFBQUWl6UmhET3dqaEtKQkIzYnRVWHpabjZvNWVnQUt5c3JVNGRIQ0RHeDlJd014TjkvZ1BNWExtTC93VU9DV3AzZFd5b1JTd0NQdmdDdFMxbGUxYWpoWlNtMTBqbUlCUzdYQ1lJRmc4ak0xREdSc3NPaFZXbDB1a3ltUllZcWxTZFU1dUVKblBQcm5QT05BUGFJUktMNHJLeXNKN1RHN3B1bFVpZTh6ZzJhTkdJaW9ROEhDMkFNTGdDVE1VQUNEakVZRjB3ZEgva2Z4c1U2cVJnYURtUmJRNkswY3ZPNkMrQ0VUc0NPZTFkaUxwczZQdkkvRWl2dFJNYlJYbVl1dzlkZmhxQnpoL2F3dHJaNmVSMDZRa2dseGpsSHY5NXZvV3ZuRHBqNitVd29sYW91ZGR3bEkvKzdpdVdtam8wVW5yT3pXMTBta3dWRGdEL2phTUNaMkJ5QWhIRXVBdVBVcGFjQ1kxelFTa1FpTFVUSWxsVGpXWlpWdlc2QzRaUldvL3Z0M28zTE4wMGQzK3VnMFdpdVNLWFNEaGN1WExoaTZsaEl3U3BiRFZTb1VkL0xUaWJoblJpRWNZd3gveGQzU3FYUHUxeUtCQUZNcUd6Zm1qY2I1eHhhclE1YXJSYloyV3E4T0MrQWp2TnpYSWVseW16dC9zVGJseDlUMXhIVHFWbXpwb1daZGZWVFlLeEovejQ5OGRXTTZiQzBwSG1xQ0NGNVV5cVYrSHpXTjlqKzV4NkE4K3UzcjE1MG8wbGMzbWlzbHJ0N1ZSR1hkQkNZTUlveDF2N0ZuYy9yVVFKRWdvanFVUlVjMTNGb2RjL3JaV3ExK3VWOXg4SDVqMHFkNkdEQ2pRdEo1ZVYzMnNmSHA1MGdDTDl5em1XYzg3NnZtclNLbEIrVnBvVzNscXVYazBoZ2d3UUI3ekFtK0FLQVNDU0NXME5YTkhSMVJWMFhaemc2MkVOdUtZZUZoVG1rVXVyUi9DWlJaMmNqTXpNVDZla1plSlNZaUZ1MzcrTDZqWnVJdTM0ZDJka2FQeTd3Y0F1WjZLS3p1OWZ2MldyTkx6UVd6RFNrMXZiMllKQ0p4V0o0ZXphaFpKY1FVaUNaVEFZZkwwL3NpVHdBbFVwdFdkM0ZvOGJqTzdFSnBvNkxHSE54OFhEUW1ZbmZGUmg3bnpIV1BIZTd1MXRETktoZkQvWHFPc1BSd1FGV2Nqa3NMQzFnUnZXb0NrMmxWaU16TXhNWjZSbDRrSkNBVzdmdjRzYk5XN2dTZHcwUTBJWnoxc3BNNEJlYzNUMS8xWEh4LzkyTHUvREExREdUeXF0U0pMeE85Um8xRUl2Wnp3eG9CY2FrTnRiVzZOK25KNEs2ZFlaRGpScXd0cktDWEU0VjgvSWtQU01EYWFscFNFaDhqUDBIRHVHM1A3WUxUMU5TRkl5aGlkUk0yclZXdzhiajdsLzc5NktwNDZ4c3RMcnM2bUpCTEpOS3BYQ29ZVy9xY0FnaDVZQ2pRdzJZbTh1Z1ZxbWxGbUtKSXdCS2VOOHdOZXZYcjgwbDByVUNFTUFBY3l1NUhEMjZkMEhmM20raHBvTURySzJzWUdVbE4zV1l4SVRTMHRPUmxwYUdod21Qc0hQWFB1emN2VmYwTERXMUtlZENFeEhUOWFoVnozdlUvVnNYcjVrNlRsSTVWZkNFMTA5UzF6MjdHd2Y3aFRGbWJXNXVEb1czRjJaTW13aDN0NFkwcHJBY2sxdGFRbTVwQ1VkSEIvaDROVUcvM205aDNxTHZjZXJzT1VsV1ZsWmJpU0ErWHNmTmEraC9JczFPME1RQnI0MUlrRmh5eHNVaWtRQzVuQ28vaEpCWHM3S3lna1FzQVdjUU16R3pNWFU4eElDNFRrT3ZRRUZnV3htRHRjek1ERTBhZStDTGtNbndiT3hCOVNpaVp5V1h3MG91UjAxSFIvajZlT1BkZC9waXpvTHZjT0hpUlpsU3Flb2drZkl6emcwOUI5eTlKdjBMT0pkdDZuaEo1Vkp4SjJieThKQzZ1R1dQQW9SZkJNYXMzUnE0WW03b2x3ai8rUWMwY25lamgzUUZ3aGhEQTlmNldQWERFaXlZUFFzZWpkd2dDSUtWSUFnUnpqcnh1Sm8xYTFxWU9rWkNDQ0drbkJHNXVIc1BGVVRQR3czcTFYWEJsNTlQeGNaMVA4T3JTV09xUjVGOE1jYmc0ZTZHOEo5WDRLc3ZRdERRdFQ0WVk5YUNJSXB3ZHRlTWhJY0g5WGNucjFXRlRYaGR0SktKRUlSUU1GZzNjbmZEOTR2bTRxM3VYU0FXVi9CRzdVcE1JaEVqcUd0bmZMZGdEcnc4RzRNQkZnS0VMeVhXZGhOTUhSc2hoZkhUVHo4aE1EQVFKMCtlZkczblNFeE1SRkJRRUVhTkdsV3M2eVVsSmNIUHp3OURodzQxMkQ1eTVFajA2TkVEang4L0x0WjVDU0dtNWVMbU5RWU04eG1ZUTEwWFp5eGJQQi92OU8wTmlZVHFVYVJ3SkJJeCt2WHVpU1dMNXNLdGdTdkFZTWNZKzhaWkp4cGo2dGhJNVZJUkUxNVJIWGZ2a1V4ZzgwV0NZTnZVMXdlYklsYkRyV0VEaUVRMFEzNUZKd2dDR3JyV1IvalBQNktabndJaXNXQXRNR0dPYzBPdlR3SFFEd0I1bzEyNmRBbnA2ZW1JaTRzcmszT29WQ3BvTkJxRGJRa0pDWGowNkJFdVg3NXN0Sys0TkJvTkxsKytqSVNFQkNRa3ZIbkRNZFBTMHRDL2YzK0VoSVFZYkw5ejV3NDZkdXlJdFd2WG1pdzJRdDRBUWgxM3J3K1lJSHd2RWtSVlBCdDdZTnYvcllkSEl6ZHFOQ0JGSmhhSjBNaXRJWDVkSHdhdkpvMGhFZ1JiZ1ltK2RYYnpHa2IxTXZLNlZMU0VsOVYyOSs0a0FGOExnb0FPZ1cyd1lza2lXRnRabVRvdThwclpXRnZocCtYZm9Wdm5UaENKUkdBaU5ydXVtMWVQQ3ZnelR5cVEwTkJRTEY2OEdBTUhEaXoxYy96d3d3L28yTEVqbmp4NVlyRGR5OHNMSzFhc1FIaDRlS2xWWnNWaU1jTER3L0hUVHovQjA5T3pWTTVabWtKRFE1R2VubTZVOExxNHVHRGt5SkZZdVhJbHpwdzVZN0w0Q0RFbEozZlBOaUt3Mll3eEJMVDB4OUxGODJCdGJXM3FzRWc1WjJ0ampSWGZMMFNId0RZUW5pLy9PYWUyYTVPT2xYQ0pWR0lDRmFyeVg3Tmh3Mm9pc0c4QVZLL3RWQXVmVDVzRU83dHFwZzZMbUlpdGpRMm1UUnFMQnE3MUFRNWJMckRRbXZVOG5Fd2RGeUg1c2JPelEvdjI3U0dSU0VyOUhCY3ZYa1JXVmxhZXg3Um8wUUwxNjljdjlqWHowcUJCQXpScjFxeFV6MWthamh3NWdzT0hEMlA4K1BHd3RiVTEyaDhjSEF3M056Zk1tVE1IV3EzV0pERVNZaW8xYTlhMEVFT1l5NEZhZG5iVjhHWElWRGpYcVczcXNFZ0ZVZFBSRVo5Tm5ZamFUclVBRG51UlJQUk56WVlOcWFKT3lseEZTbmhGRXNGOEptTm9aaVdYc3grL1h3d1g1em8wcVVJbHhoaERiU2NuTEZrNEcxWldWb3lCK1VnbDRoRHFRa05JNWJWbXpSbzRPVG1oYTlldStaWVpQbnc0N3QyN2g4akl5TmNhR3lFbUpwTFkySDNGR0dzbGwxdXlzSlhMNEZxL0x0V2pTS2xoaktHdWl6TldmTDhRY3JtY01iRG1Vc0g4YzZxWGtiSldZUkplRjNldlFRenNVNmxVZ2k5Q3BxQ1JlME5UaDBUZUVHNE5HaUQwaStrd2swckJCT0hqT2cwOWh4YmlNRUpldXpsejVzRFB6dytuVHAzU2IxdXdZQUg4L1B4dzRzUUpuRHAxQ2g5OTlCRUNBZ0xRc1dOSHpKOC9IeXFWcXNCekxGNjhHSDUrZmpoLy9qd0FJQ2dvQ0g1K2ZoZ3o1dm1jSWZsTk9wV1Nrb0t3c0RBTUdqUUk3ZHUzUjh1V0xmSEJCeC9nNzcvL0x0Uzk5T3ZYRDM1K2Z2cHh3WkdSa2ZEejg4djN2d0VEQmhnY0h4c2JpL0hqeHlNd01CQ3RXclhDNE1HRDhkZGZmeFhyKzVycjBxVkx1SExsQ3Q1KysrMEM1M1FJREF5RXZiMDlmdi85OXhKZGo1RHl4S1doMXp1TUM1TWtFZ21takIrREpoNk5UQjBTcWFBODNOM3gyWlFKa0Vva1lJeU5yZFBRcS9qamVBZ3BoQXFSOE5hczM2UTJBNXZDR0VRdG1qVkZsMDd0VFIwU2VjTjA3dEFlZ1cwQ0FFQXNDTUpuem01ZWRVMGRFeUZGY2VMRUNVeWFOQW5XMXRabzA2WU5zck96c1dYTEZzeWZQNy9BNHhRS0JZS0RnMkZuWndjQTZObXpKNEtEZzlHMmJkc0NqMXV4WWdWV3JWb0ZLeXNyQkFVRm9YMzc5cmg2OVNvbVRKaUFtSmlZSXNkZnAwNGRCQWNIRy96M3pqdnY2THRlVDVvMFNWLzJ5SkVqK09pamozRDI3Rm0wYnQwYTNidDN4Nk5IanhBU0VvTGZmdnV0eU5mT0ZSVVZCZVIwNFM0SVl3d3RXclRBNWN1WGtaNmVYdXpyRVZKZU9EczNjb1NJVFdBTUloK3ZKZ2pxMXNYVUlaRUtybnZYVHZCdjNoUUF4Q0tCVGExWnZ3bjFuU2RscGlKTXQ4Y2tJcUVyQUZlNXBTWGVDKzRQV3h0YXQ1NFlrc3N0RWR5L0w4NmN1NENuS1NsTzRLdzNnS1VBdUtsakk2UXd0bTNiaHRXclY4UER3d01BY1BQbVRRd1lNQUM3ZCsvR2hBa1RZSlBQYzY5ang0N28yTEVqYnR5NGdhU2tKSXdhTlFvMWF0UjQ1ZlY4ZlgzeDRZY2ZvbGF0V3ZwdE8zZnVSR2hvS0xaczJRSXZMNjhpeGQrb1VTTTBhbVRZWXJSeDQwWmtaMmZqL2ZmZjE0LzNmZnIwS1diT25BbHpjM09FaDRmRHhjVUZ5R2x4ZnZmZGQ3RjA2VkowNzk0ZFZzV1lqUERjdVhPd3RiVkZnd1lOWGxuV3o4OFBPM2Z1UkV4TURGcTFhbFhrYXhGU25qQXphVnVBZVVvbEVnd0k3by9xTlA4SktXTlZiRzN4YnYrK09COTlFUm5wR2E0U3NkQUZ3RnFxbDVHeVVPNWJlSjJjR2xkaElqWUVqTWtVUGw1bzk3d1ZqeEFqTFZzMFE3T212Z0FnQVVOd2JUYzNSMVBIUkVoaHZmMzIyL3BrRndEcTE2K1BsaTFiUXF2VjR1Yk5tNlYrdmU3ZHV4c2t1OGpwNmdzQXQyN2RLdkg1Yjk2OGlSOSsrQUV1TGk3Njd0WElTYW96TWpJd1lzUUlmYklMQUxhMnR1alZxeGVVU3FWQmwrK2lTRWhJS0ZTeUQwQmZMakV4c1ZqWElxUzhjSEp5TXVjaU5wd0JGcDVOUE5DMVUwZFRoMFFxaVhhQnJhSHc5Z0lZa3pIR0J0V3A0Mms4a3lBaHBhRGN0L0JLTEZrbmdMVUFnTW5qUmtNbWs1azZKUEtHTXBmSk1PYVQ0ZGgvNEJBWVExUEd6RG9CV0cvcXVBZ3BqTWFOR3h0dHkwMUkwOUxTeXVTYUNRa0pPSFhxRk9MaTRuRHYzajNFeDhjREFKUktaWW5PbTUyZGpTKysrQUphclJhelo4K0dtWm1aZnQvRml4Y0JBRGR1M01DS0ZTc01qcnQ2OVNvQTRQNzkrOFc2N3RPblQ0MlMrUHhVcVZKRmZ3d2hGWm5Jb2twN0FRZ0VnTSttVG9TNU9kV2p5T3RoWVc2T1NlTkg0KzhUVVdBTXJaZ0Y2d0RnRDFQSFJTcWU4cDN3dXJxYWNTYjZoZ0dTb0s2ZDRlVnBYQ0VrNUVWTlBCcmhyZTVkc1d0dnBFVEUyWmR3ZGQyTUd6ZFVoVGlVRUpPU3krVkcyM0pmOE9sMHVsSy8zc3FWSzdGMjdWcHd6bEczYmwzVXJsMGJyVnUzeHFaTm04QjV5WHFjL2Zqamo3aDI3Um8rK2VRVG8yN096NTQ5QXdEczJMRWozK05mbnFpcnNEUWFUYUhYR2hhRTV4MmdTbnF2aEx6UlhGM05tSWd0QmlEcDFENFF2ajdlcG82SVZESStuazNRdFZNSFJCNDRKR1hBSExpNjdxSjZHU2x0NVRyaGRSRmJmc2dZYTJoclk0UGhIdzQyZFRodk5JMUdneWRQbnNEZTNqN2ZKUWFlUEhrQ2tVaVU1OXFVRmNtb0VVUHh6OGxUZUpxUzR1b3NrUSsvQzZ3b3hHR0VWQm9uVDU3RW1qVnI0T2ZuaC9uejU2TnExYXBBem5OazA2Wk5KVHIzaFFzWHNHSERCalJwMHNSb1ptZ0FNRGMzQndDc1g3OCt6MWJ0a3FoU3BRcFNVbElLVlRhM1pUZTNwWmVRaXNoRmJQRWVnOURJeWtxT0R3WU5LTVFSRlY5aVlpSUVRZEJQOUFjQXFhbXBTRXRMSzNRUEVWSTB3ejhhZ3FqVFovRXNOZFhOV1dReDZDNFFadXFZU01WU25zZndpZ0grUGdENE4yK0tCcTcxVEIzUEcrMzY5ZXNJQ2dyQ24zLyttVytaNWN1WG8xdTNiaFYrekpxTGN4MjBhZDBTQU1EQWg5SDZiNlF5eUgzUlZaalc0Tk9uVHdNQUJnd1lvRTkya2ZNY0tZbjA5SFI4K2VXWE1ETXp3OWRmZjUzbjBrQzVFMHBkdUhDaFJOZktpNTJkSFpLU2tncFY5dkhqeC9wakNLbWd4QnpzYlFEdzhmS3N0TXNRcWRWcS9mSnBBQkFTRW9JRkN4WVlsUG45OTkvUnUzZHZKQ1FrbE5wMU5Sb05rcEtTRUJzYmk4T0hEK1BYWDMvRjl1M2JTKzM4NVVuREJ2Vno1MWdCWXhoTTlUSlMyc3B0QzI4ZFZ3ODN4Z1FYTXpNcEFsbzBoNldscGFsREtqV0hEeC9HRjE5OFVhSnplSHQ3NDhjZmY5Ui92bmZ2SGdDZ2J0MjhWK041L1BneDl1N2RpNkNnSU5qYjI1Zm8ybTg2YzVrTUFTMzhjZURnRVdSbVpqblZhdGk0eWYxci8xNDBkVnlFbEtYY2xzcTdkKy9DMGJIZytkcHlsd3E2ZnYwNjJyZC92c3liVXFuRWtpVkxTaFREb2tXTDhQRGhRMHlmUGgzT3pzNTVsZ2tLQ3NMNjllc1JGaGFHRmkxYXdOWFZWYjlQcFZMaDVNbVRhTmV1WGJHdTcrbnBpVTJiTmlFaElRRU9EZzRGbHIxdzRRSVlZL0QwOUN6V3RRaDUwOVZ4OVhCalFBT1JTSVJXTGZ4aFkyTnQ2cEJNb2tlUEh1alpzeWZHalJ1WDUzNmRUb2NkTzNhZ2RldldyM3h1UkVaRzR0R2pSd2JiY2lmY2UvRGdBVDc3N0RPQ1NvdE1BQUFnQUVsRVFWU2twS1FnSlNVbHp5WFBuSnljMEtkUG54TGVVZmxqSlpjam9FVnpIUHY3QkZScXRRdlZ5MGhwSzdjSkx3U0pMK2VvTHJlVXc3K1puNm1qS1ZWT1RrNTQrKzIzOVorVGs1T3haODhlQkFRRTVKbXdIamx5QkUrZlBrWGZ2bjMxMjE3dWR2T3FoRGNpSWdLTU1Zd2NPVkpmZnZmdTNmamtrMDlLN2I3ZUpENWVucWhTcFFveU16T3RKVXpjRWdBOVdFbUYxcXhaTXh3NGNBQ3paczFDbXpadFlHMXRuVzhGcjJQSGpnZ1BEOGZQUC8rTXVMZzQyTnJhNHRTcFV5VksvZzRkT29SZHUzWkJLcFhpOXUzYlJpMG8xYXRYeDlDaFE5R2dRUU1NSFRvVWE5ZXV4Y0NCQStIdjc0OWF0V29oSlNVRnAwNmRRdjM2OVl1ZDhMWnMyUktiTm0xQ1ZGVFVLeXVWcDA2ZGdwdWJXNFVmNGtFcU1VSGl5eGhxU2FWU3RBMG9lRzNxeXV6QWdRT0lqNCtIbTVzYjFxMWJsMmVaZnYzNndjYkdCcHMzYjhhbFM1Y2dsVXFCbkFuNm5KMmQwYXRYTDJSbVp1THk1Y3NJQ0FoQVVGQVFxbFdyaG1yVnFzSE96ZzVWcTFhRm5aMmR3UVIrbFUyenByNlFXMXBDcFZaWHAzb1pLVzNsTXVGMWNYR1JjY1piQUpDNU9OZEJ2Ym91aFRpcS9HalFvQUVtVHB5by94d2JHNHM5ZS9hZ1c3ZHVDQW9LTWlwLzc5NDl4TVhGR1J5VDYrSERoOUJvTkxoMjdScHNiVzN4OU9sVC9kaTBhdFdxd2NMQ0Fna0pDZmpqano4d1lNQUEvZHZMaElRRXJGNjlHblhxMU1uem11VmRYWmM2Y0s3amhQajc5NlZnYUY2amh0ZUdSNDlpTWt3ZEZ5RmxwVStmUHJoejV3NGlJeU94Wjg4ZTlPdlhMOSt5Ym01dVdMSmtDWDc2NlNkRVJVVkJMcGVqUjQ4ZUdEVnFGUGJ2MzErczYzLzc3YmRBVHZmQjMzNzd6V2gvdlhyMTlHTjZSNDhlalhyMTZtSHo1czA0ZCs0Y0xseTRBQWNIQjNUdDJoV0RCZzBxMXZXUmsvVFhxRkVETzNic0tERGhQWC8rUE83ZHU0ZHAwNllWKzFxRXZPSEVqUEVXbkRQTE9yV2QwTUMxdnFuamVTTnB0VnFFaFlWQkxwY2pMaTRPY1hGeGVaYnIzTG16ZmkzMGR1M2FZZEdpUlFDQVdiTm1JVFkyMXFCczM3NTk5VDFueVA4MGNLMFBKNmVhZUpLY2JBNkc1cTZ1cnV0dTBPUlZwSlNVeTRRM1MyUnRiYzZFMW95QjllaldPYzl4WU9TNTRjT0hHNHc1ZWJHUzk4MDMzeUFvS0FqTGx5K0h0YlUxaGc4ZnJ0L1hyRmt6dEdqUkFrdVhMa1ZnWUdDRjZqSU9BR0t4R0YwN2RjQ0pxTk9NYzk3YzNGeGRIUUFsdk1Ta1pzeVlnUmt6Wmhoc216NTlPcVpQbjU1bitYSGp4aG0xMHVaMUR1VDh6RStaTWdWVHBrd3gyRzVuWjRkejU4NFpsUThJQ0VCQWdQRzY1aStYemUvNHJWdTNHbnpldlh0M252ZVFuKzdkdTZONzkrNUZPdVpWSkJJSlB2endReXhZc0FCbno1NUYwNlpOOHl3WEZoYUdhdFdxVmNxdWhhUnlxRkhEeTR6bDFLUDZ2QlZVNk5uTEs1c3RXN2JneG8wYldMTm1EUlFLQlhRNm5YNEdkMUs2SkdJeGVuVHJncGhML3pMT2VmTjB3QnJBWTFQSFJTcUdjdmxiS3hhakNXUHdrRXFsQ09yVzJkVGh2TkcrL3ZwckxGMjZGQ0tSU0ovY3pwdzVFd0JnWm1hR2YvNzVCL3YyN2NQNDhlUDFTUzNuSE9ucDZRZ09Ea1pTVWhMV3JsMXI0cnNvRzEwNmRZQ1ptUmtZWTI1Y0lxTTFyUWlwQlByMjdhdHZ3YzdPempiYWYrellNVVJGUldIOCtQR1Z1bnNocWRpa05sb1B4dUFobFVqUXUyZnB2bGlxS0I0OGVJQ1ZLMWVpUzVjdVVDZ1UyTHAxS3o3ODhFT2pNYnFrOUx6VnZTdWtVaWtZWTI0U1psNDVaMUVqWmFKOEpyeU12UVZBM0x5cEw2clRESm9GOHZQemc1T1RFN1JhTGRxMWE0ZFdyVnJCeGVWNUYvQ0VoQVI5YTgvNjlldlJvMGNQQkFZR29sbXpaZ2dNRE1Ta1NaTUFBUC8zZi8rSEowK2VtUFEreW9KOWRidmM4ZDlpaUhoWFU4ZERDQ2w3RW9rRUN4Y3V4TDE3OTdCczJUS0RmWW1KaWZqcXE2L1FxMWN2OU9qUncyUXhFbExXbUNEcEMwQ3M4UEZHalFvK1VXVnh6Wmt6QnhLSkJGT25UZ1VBdUxxNklpRWhBUU1IRHN5elYwdGhQWDM2RkE4ZVBNajN2OXdaNGlzamh4cjJhS3J3QmdDeFNCRG9JVXhLVGZuc3c4TFFEQUFDV3ZqbnU2WXMrWi9jTVNlNWExcm12cDMwOC9PRGhZVUZHamR1REh0N2UvM0VDVldyVm9XTmpRMXNiR3p3OU9sVFRKa3lCZXZXclRQcUNsbmVNY2JRTnFBbGp2MTlBbUJRbURvZVFzanI0ZVRraEczYnRpRXJLOHRndTdtNU9TSWlJbDQ1RXlzaDVaMEEzZ0pnOEcvbVIvV29mRXlmUGgyUEh6L1dMODNtNWVXRlgzNzVCUk1tVE1Db1VhTXdZY0lFdlAvKyswVSs3NXc1Y3dyY1g2OWVQV3pac3FYWWNaZG5qREcwYk5FY0owNmQwZGYxQ1NrTjVUSGhGUXVjZVlFQmpkemRUQjFMcWJ0OSs3YlJwQ3ljY3lDbmUzSmVEMHExV2cyZFRtYzAzcTUvLy82WU5Ha1NZbU5qWVdkbnA2L0UzYmh4QTFXcVZJRzd1enYrK3V1dlY0NUhDUXdNTkZpTHN5THg4bXdDQUdDY2VlYjBlSGoxSXFXRWtIS3ZXclZxUnR1c3JLeGdaV1Zsa25nSWVZMUVETXdYT2V1ZlZuWjE2dFRKczQ1VHAwNGQxS2xUeDJDYnZiMDlmdjc1WjB5ZVBCbS8vdm9yZXZYcUJibGNYcWpyNU5ibGhnNGRDZzhQRC8zMmlJZ0lKQ1VsWWZMa3lRQlE2UE5WVkkxejE0TiszaEJCOVRKU0tzcGR3bHZMM2IwZUdLd3RMUzNnVUtQaWRjT3hzckl5V0pJSUFKS1NrckJ2M3o3NCsvdnJ1eU8vS0s5bGlRREF4OGNIQUJBZEhRMWZYMS85OXN1WEw4UGQzUjNJbVlGUXFWUVdHTk9DQlF2MDYzSldOSTZPTldCcFlZR016RXdicDNxTjZzZmZ1bkxkMURFUlFnZ2haYVcyYXhNWE1OaFUxSHBVVVlXRmhSbDhkblIwTEhBNU1ybGNqdVhMbCtQSmt5ZEZTazQxR2cwQVFLRlFvRldyVnZydGUvYnNnVktwcEptYmN6ZzY2T3RsdGpVYWVMbzh1bjdwbHFsakl1VmZ1VXQ0UlZ6cUJRYlkyOW5Cd3NMYzFPR1VPanM3TzZQbGhjNmNPWU45Ky9haFg3OStDQXdNTkRxbW9HV0psRW9scmw2OXFwK05WS2xVNHNLRkN4ZzFhaFFBWU9YS2xZaUlpQ2d3cGc4KytDRGY5VHJMTzVuVURBNDE3SEh6OWgySXhTSmZBSlR3RWtJSXFiaEVRbVBnZVQzS3FwSzNKZ0pBU2tvS2R1N2NxZi9zNXZhODkrRDY5ZXRmZWV4Nzc3Mm5YM1AzVlZTcTV5dnMwR1I0QmJNd045Zlh5OHdadkFCUXdrdEtyUHdsdkV4UUlLZGJpWVY1eFV0NDg1S1ltQWdBeGVwV0xCYUwwYUZEQjRTSGgwTXFsY0xCd1FGcXRkb2djYmEwdE1UOCtmUHpQRDRrSktRRWtiLzVwR1pTMUt6cGlKdTM3NEFMNHFZQU5wczZKbEo0OGZIeDBHZzBlZlo4SU1ESmt5ZXhZc1VLL1BUVFQwWXRFZnYzNzhlaFE0ZncyV2VmNmRlUGZOMXUzTGlCZS9mdW9WV3JWbmxXQXBPU2tuRHAwaVUwYWRJRTFhdFhMOVkxbmp4NWdxcFZxOUk0eFh3a0pTVWhMUzBOZGV2V05YVW81RFVSSUhnaXB4NUZYZmlmL3c0c1hib1V0cmEyK3Q1c1Q1NDhnVXdtMDY5ZWtacWFDcTFXaXlwVnFnQTVqUWRwYVdubzI3ZHZvUlBlMU5SVUlLY25IOG1maFlXNXZsNEdRVkFBMkc3cW1FajVWKzRTWGgyNHR3QUcrK3AyTUs4a0NlL1ZxMWNCQU03T3prVStWaXdXWSs3Y3ViQ3pzOFBQUC84TWlVU0NaczJhR1p4TExCWWJkSzk1K2ZpS1RDcVZ3dEdoQmdDQWdmdSs4Z0R5eGxDcFZCZzZkQ2pzN2UwUkVSRlJwUFc0Nzl5NWc2ZFBueGJwZXA2ZW5tWDYrNkJVS3BHZW5sN3M0d1ZCTUhvcGxwcWFpaXRYcnVpNzByM29qei8rd1AzNzkwMVcrZExwZEpneVpRck16YzN6N2NyMzY2Ky9JaUlpb3NocitPYTZkdTBhQmc4ZWpCa3pacUJYcjE2RlBvNXpEcTFXQzQxR28vOS9kblkyMUdvMTFHbzFWQ29WVkNvVmxFcWwvdDh0SXlNRFptWm1CdGZSYURUNkY1YkZZVzF0WGViaitkYXRXNGRkdTNiaDZOR2paWG9kOHVaZ0RNOWJlS3ZiUVM2M05IVTRiNHk1YytmQzM5OGZBTkN0V3pmMDdOa1RvMGVQQmdCODl0bG5lUFRva1g2WnhtM2J0bUgyN05sNW51ZnUzYnRZdDI0ZGtQTlNMOWY5Ky9jQm9OZ3Y3eW9MYzNOemZiME1qSHViT2g1U01aUzNiSVl4eG1vQlFIVzdhcERKS242M0VMVmFqUU1IRHNEZDNSM1cxdGJGT2dkakRKTW5UOGFqUjQ5dzhPQkJaR1ZsSVMwdGpkNHlBcEJLSkMrT1lhSm13bkxFek13TW4zenlDZWJNbVlNelo4NmdSWXNXaFQ1MnhZb1ZpSTZPTGxUTGNHWm1KcTVldllySXlFallsZUV5YVB2MzcwZG9hR2l4ajdleHNjR2hRNGNLVlRZdUxnNW56NTVGaXhZdHNHdlhyanpMdUxtNTZidjJsWVhkdTNmajNyMTc2TktsaTBGM1FnQ3dzTEJBNjlhdHNYMzdkdGpiMitQVXFWTkd4enM2T3FKWnMyYTRkZXVXdmlLWmx4bzFhbURac21Xd3RiWE50NVhYemMwTjlqbExzM3o4OGNjNGYvNThvZTlESnBOQkpwUEJ3c0lDOXZiMkJnbHZmSHc4K3ZmdkQxdGJXLzNrZ0dxMUdoa1pHZnFXSWdESXlNZ0E1OXdndVUxSlNjSEVpUk9MTlF2c3k2WlBuNDRiTjI0Z0lpSWl6d1NhV3I4ckZRYkFFVG4xS0VzTEMxUEhVK0hjdlhzWDRlSGgrcys1dlNmT256OFBhMnRyZzk5OVlrd21rLzJ2WHNaWm5WZVZKNlF3eWxYQzYrVGtKR09jaTBWaU1heXRyU3ZGSCtsdnYvMFdpWW1KK2pHM3hYWHUzRGtjUFhvVW5wNmV1SFRwRW9ZTkc0WVZLMWFVV3B6bEZXTU1Wbkk1eEdJeE5CcU4yTW5KeVR3K1BqNnJFSWRXR0c1dWJqVkZJcEU0TmpiMlAxUEg4ckpQUC8wVUZ5OWVMTEJNN2d1ZGdreWVQQm45K3ZVejJPYms1SVNnb0tCWHh2RHc0VU45TDR2WFlmSGl4VVVlNDdWbnp4NmNPSEdpME9YWHJGa0RBSWlLaWtKVVZGU2VaVWFNR0ZGbUNXOXFhaXFXTFZzR3NWaU1ZOGVPNGRpeFl3YjdIUjBkY2YzNmRhU2twRUFtazJIQmdnVkc1MmpidGkyYU5XdUdyVnUzNHRkZmY0Vk1KaXZ3bXA5OTlsbWUyNVZLSmI3NTVodjl6OExreVpPUmxKUUVpVVFDcVZRS3NWZ01pVVFDaVVTQ2ZmdjJZZlBtemRpNWM2YyswUzJNc0xBdy9jdVZQWHYyWU1tU0pmanJyNy8wKzcvKyttdW8xV3FERnFQZXZYc1g2dHl2c21uVEpodzZkQWlyVnEzS005blY2WFFGL2kwZE5teVl2aXZteXdZUEhseWtsbk5TZkY1ZVh2NHhNVEhuQUJoMzF5Z0NKeWNuR1FNa2pMRktVNDk2M2RxMmJZdEZpeFlaYlB2dnYvOXc3Tmd4ZE9yVXlXUnhsUmRDVHIxTUpBalFhcldWc2w1V1hBcUZvcnBPcDZ0eThlTEZhNmFPNVUxVHJoSmVRYWdpNDR5SkJJRlYrTmJkckt3c3pKOC9IN3QyN1VMYnRtM1JzMmZQWXAvcjJyVnJtRFp0R2dJQ0FyQnc0VUxzM3IwYjMzenpEZGF2WHcrSlJBS2RUb2NIRHg3a2VheE9WL0ZuZzVlYW1VRWtDTkJ3TGdoQ0ZSbFF1UjZzTXBtc3RTQUlheFVLeFRrQUVWcXQ5bkJtWnVhVEd6ZHVwSnQ2T1lBQkF3YWdjK2ZPUnR0LytlVVhBTkF2NGZYdzRVT0VoWVZoNE1DQmVZNUY5UFl1UDcyaS9QMzlZVkhFVnBkTGx5N3B2MVlxbGRpL2Z6K1FNeU03QUVSR1JzTGMzQndOR3paRVZsWVdEaDA2QkxsY2poOSsrTUZvYU1qaXhZdHg1c3daTkdyVXFGVHU1MldjYzh5Y09SUFBuajFEV0ZnWTR1TGlvRktwTUhEZ1FJUDdHVDU4T05xM2I0L0ZpeGRqN2RxMWtNdmxDQTRPenZPY0RnNE9SdDJlWTJKaWNQLytmYlJ0MjFZL0R1OWxTVWxKNk5xMXEvN3pnUU1IOUYvbk5Ydjk0OGVQb2RWcWNmYnMyUUx2c1hidDJnWXZDMEpDUXZRdk1WSlNVcENhbW9vUFB2aEF2ejgrUGg3SW1TQXdWKzU2NlNXUmxKU0U1Y3VYbzFldlhnWXo5Ujg4ZUJBelo4NEVjcnBkYXpRYW8yWHRWcXhZQVI4Zkg5eStmUnVPam83NnJwNjV4MnpjdUJFcEtTa2xqcEVVamxnczN1WHI2NXZFT2QvRUdQczlPenM3NGRLbFM2a0F0RVU1ei9ONkZKY0lUS2p3OVNoVG1EOS92dEZTaitucDZRZ0pDUUhuM09CM25PUlBhbVlHSmdqZ09wMm9NdGJMaW90ejNsZ2tFdjJxVUNpU0FZUnh6djhFOERnNk9qcXRxTStLaXFaY0piek1VaU5qRU1TTUNaQlY0Rm51OXUvZmoyWExsdUhodzRmbzJyVXJ2dnJxcTJLL2hUMXg0Z1NtVDUrTzFxMWJJelEwRkdLeEdMMTc5NGE5dlQyYU5tMktsU3RYSWkwdHJVUUpkWGxuSnBWQ0VJbkF3UVJ1cmpZSFVMVEJuUlVBWTB3RW9DM252STFZTEg1aWJXMTl6dGZYTjBxbjA1MFdpVVNuejUwN2wyU0t1TnEwYWFQLyt0eTVjM0J6YzROY0xrZGtaQ1FBNkpmaWlvMk5SVmhZR0FJQ0F0QzhlWE5FUlVXaFpjdVdCWjc3d1lNSCt2TVVKRE16czhUM1VSUVhMMTVFZkh3ODNubm5IU0JuNmJBaFE0Wmd4SWdSUnJPMHIxdTNEdG5aMlVieDVyYUlhclhQLzc0dFc3WU15SGxCY096WU1kamIyeU16TXhQNzl1M0QxS2xUOWNkdTM3NGRaODZjUVo4K2ZkQzJiZHN5dWI5dnYvMFd4NDhmeDdoeDQrRHA2WW4vL3ZzUDgrYk5nNE9EQXpwMjdJZ3RXN1lnSmlZR0NvVUNYMzc1cGY2NGhRc1h3dEhSMGVCbkFqbExmTHpjY25udjNqMk1IejhlYm01dTZOQ2hRNzZ4bUp1Ykl6ZzRXRCtud2ZMbHl3dU1QVDA5SFNxVjZwWGxldlRvWVpEd0RobzBTTDhPZWk2VlNvWG82R2cwYWRJa3o0Ujh4b3daQlY2ak1EWnMyQUNOUm9PUFB2cklZTHV6c3pPR0RCa0NBRGgrL0RqdTNMbUR3WU1IQXpuZnU3MTc5eHI4emZIeThqS1lxVDh6TXhNYk4yNHNjWHlrU0JnQWQ4YlkxNXp6RUlsRUVxTlFLRTR3eGs1ck5KclRNVEV4dHd0MUVrdU5ESkNLR1dNVnVoNVZHRGR2M3NUWnMyZVJsUFQ4ejl1UkkwZHc1ODRkSUtmUjRjcVZLOWk4K2ZrOGx2Lzk5eC9TMHRMMG4yTmlZb0Njc2J4bVptWUlDQWlBazVPVGZtaEVyb3lNREl3WU1VSy9ra2JEaGcxZjgxMldUMlpTNmZNWEI1eUxLMnU5ckNRWVl4NEF2Z1h3TldQc25JK1BUeFJqN0xSS3BUb1RHeHQ3RHdBM2RZeXZXN2xLZUtHVHlEaURTQkNFUW5jbEs0LysvZmRmWkdabVl0YXNXU1h1TG5iNThtVjgvUEhIK3NwTnJoZVRBYmxjYnJRT1hhNWh3NGFWNlBybGdWbE9DeTlqWE1TenhaVjZRQk43WHN1MUE5QVZRRWRCRUZJNDU0OTlmWDBQYXpTYS80dUppZm5IRksyK2x5NWR3dGl4WTlHbFN4ZDg5ZFZYQlpiZHYzOC9Qdi84YzN6NDRZY1lPM1pzdnVWY1hWMk5maS95Y3ZmdVhmejc3Ny9GaXJzNEVoTVRzV2pSSW5oNWVjSE56UTBuVHB4QVhGd2NySzJ0TVhYcVZNeVlNUU8ydHJiSXpzN0dMNy84Z25mZmZkZmcrS3BWcStLZmYvNEJBUHo0NDQ4SUN3dkQ3dDI3WVd0cmk5V3JWK1A2OWV2NDZhZWY4UERoUTRTR2hzTER3d005ZXZUQTNyMTdNVy9lUERScjFxek1abWRQVDA5SFZGUVUrdmZ2cjIvcDZOR2pCMkppWXFEVmFyRml4UXFzWGJzV01wa01jcmtjU1VsSnNMR3h3VWNmZllUVHAwL2o3Ny8vTmtoNFUxSlM5QzJWR3paczBHL1BiYlc4ZVBGaWdRbHZycWlvS0d6YnRnMDdkdXdvc055bVRadXdhdFdxVjVaRFRndXhSQ0xCbWpWcllHOXZielRoMllNSEQ3QjI3Vm9zV2JJRXRXdlhOanArOGVMRnNMUzBSR3BxYXJIbWI5Qm9OTmkyYlp1K0l2NGlWMWRYdUxxNkFqbXQxc25KeVJnNWNpU1Frd0R2M2J1M1NKUEFrYkxIT1dlNUx5RVlZeFlBV2pER1dnQjRKaGFMSC92NitsN1FhclgveHptUGpJbUp5Y2ozUkRxSmpMSG5YWm9yY2oycU1DNWR1cVIvR1NpVHlZem1Fcmh3NFFJdVhMaGdzQzIzZk80eHExYXRBbkptdkg3NTl3dzVxMkMwYXRVS25UcDEwdmRJSXE5bVptWUdnVEdBc1VwZkx5c0p4cGdsZ0xhQ0lBUnd6bE5sTWxtaVFxRTR6VG5mSEIwZEhWblNJUkxsU1RsTGVIVXlpTVVWdmt2eitQSGpNV3pZc0VKWGNyNzc3cnQ4OTQwWU1hTEFZei85OUZOODhza24rVTZyWHhsbTdqUXprMElRQ1FCbkFvT29VdGNBT0RkNDZTY0dZTWNZc3dQUVNDd1dmNnBRS081eXpuOFJCT0UzbFVvVkw1UEowczZkTzVlZC94bEw3czZkTzVnd1lRSnExS2lCQ1JNbXZMSjgxNjVkRVIwZGpmRHdjS1NtcHVMenp6OEhZd3luVDUvV2o4VzF0YlZGbFNwVkVCY1g5OHJ6S1pWS2RPalFBVHQzN3RRbkxZVkpsSXVyYytmTzJMZHZIMmJQbm8ySWlBaHMzcndaYmR1MmhZZUhCNjVldllvbFM1WWdORFFVZS9mdWhWS3BSSEJ3c0w3VjRXVzU0M05QbkRpQmJ0MjZ3ZHZiRzhPR0RkT3Z5MzN0MmpYTW1qVUxKMCtleE42OWUrSHY3NC92dnZ0T3Z6UkhhWlBMNWZydXlTOGFPM1lzNXMyYmgzMzc5bUhreUpIbzNiczN4bzhmajZGRGgyTGF0R25vMGFNSGxpMWJadlNja3N2bEJrdXFLWlZLTEY2OEdMYTJ0dmowMDArTnVoYmV2MzhmUzVZc1FZY09IUXpHYjc4OFpycGJ0MjU0OHVTSlVmeWNjM0RPMGF4WnN6enZiOHlZTWZwRS90aXhZNFdhaEN3a0pLVEFIanhkdTNiVkovVkZjZW5TSldSa1pMeHlNamUxV20zdzc1MDdvemNsdkc4V3hoaUg4VE1hQUd3WVl6WUFYRVVpMFR1YzgwY0toV0lyNTN3alkreGFXbHBhNm8wYk4xVDYwanFkakl2RllzWlFvZXRSaGRHblR4LzA2ZE9ueks4elpzeVlBdmUvUE42WFBLK1hNVUVBT0VTVnZWNVdGTG5QaVZ3dlBDOUVBS3B3enFzd3h0d1lZNE1WQ3NVVHp2a0d4dGhHUVJEdVpHVmxwY2JHeHFwTkV2aHJVTDRTWGk2U2dYT3h3SVFLdlhDM0lBakZucEc1cUNyNnNrT0Y4YnlGVndRZGRJSlV5aHI3K1BpVTNWUzhieUJCRUR3NDU4SUxyUWZBU3hXckY3NTJGZ1JoQm9DSlVxbjBNdWY4ckVLaHVLelQ2UTVldkhqeGVtbkhkdjM2ZFl3YU5Rb2lrUWcvL1BBRGJHMXRDM1hjdEduVGtKR1JnYTFidHdJQVB2LzhjNWlibSt1UEwreDVjcjNjSGJXc1RaOCtIZSsrK3k3bXo1K1BreWRQWXRXcVZUQXpNOFBreVpNeGVmSmt2UFhXV3dnUEQwZmZ2bjN6dlpmNCtIaDl5L1IzMzMySHYvLytHMTkvL1RXYU4yK3VMOU85ZTNmczNMa1RlL2Z1aFptWkdkNSsrKzFDcnlsWlhDOC8yNktpb2pCMzdsd2tKeWNiVEI0VkZoYUdXYk5tWWViTW1UaDQ4Q0RHalJ0bk5LdTJXQ3cyYVBFTkRRMUZVbElTYXRldWpaczNiOExUMHhPTkd6ZUdoWVVGL3Zubkg2eGZ2eDUrZm40SURRMHQ4RDYxV2kxR2poeHBOTlJqeDQ0ZCtPV1hYN0JseXhhall6Nzg4RU9ET1ErNmRPbUNMbDI2NUh1TmUvZnVvVStmUGxpMWFoVThQVDBML0o0VlIrNDQ0OXlYRy9sSlQwODM2RktkMnczZUpIOGJkQnhTc2E2Qmo0L1A2Ny8ybTAvL1Z1SVZ6K2dhakxGUkFJWXh4cTVaVzF1ZjhmSHh1YWpSYVA2NWZQbnlPWERSODBtcndDcDBQWXFVYjJabVpoQUVCcDFXSTdFeEY0MnArcHJtNGVDYzE5UnF0ZktjM3pHZjh2WXM0cHo3QUpDK1dKOTcrU1VaNXh5TU1UREdxakhHSmdBWXd6bS9JcFBKb3J5OXZhOEtnbkJRRUlUWXNtN01lTjNLVmJhakZTQVJnd21NTVVqTHFBV0NWRDRTaVJpQ0lJQUJncVdaTUVRUVdLVmFqNWR6TG51eE1wVXJ2MWFubkllbkJXT3NPZWU4R1dOTUtSS0pIaW9VaXNzWkt1MWxOUys5YVQ5RFEwT2gwK213YXRVcTFLcFZTNy85NVFtVnJLMnRFUmdZcUYrSGxqR0dXYk5tSVRNekV6dDI3RUMvZnYzZzZlbXBUeXcrK2VRVC9WaXR3dnIrKysvaDd1NWVLdmYxS2k0dUxoZzBhQkRDdzhQUm9FRURmZExTcmwwN3RHclZDcE1tVFlKS3BTcXdpOXpPblR0aGFXbUpqSXdNTEZteUJKTW1UY0t5WmNzd2FkSWszTGx6QjZ0V3JjTCsvZnZoNHVLQzBhTkhZOCtlUFpnNmRTb2NIUjNSdFd0WE5HM2FGRDQrUG1XMjNubGNYQnlXTDErT2t5ZFB3dGZYRnl0WHJqVDRON2EwdE1UaXhZc1JHUm1KaFFzWDR1MjMzMGJIamgzeC92dnZ3OHZMSzgrZnoxbXpabUgwNk5HSWpvN0d4WXNYRVJJU2d0VFVWTmpiMnlNaElRSHU3dTRJQ1FrcFZGSXZsVXFOSmcvTFRRTHptbFNzb0ZiYURoMDZRS1ZTNWJsdjVNaVJlUjQ3WnN3WURCZ3c0SlZ4NWlkMzBxdFh2YXhKVFUyRmpZMk4vbk51MG02S2hKY3hNSE94ZUtnZ01Gb2k3aVU2blU3K2NvK0ZWenlqcFFDYUFHakNHRk5KcGRKRWhVSnhQVk90TzZQUzZxU2dlaFI1ZzBra1lqQW1RQ3d3cVZqTWhqSEdYdmNEaVFQNGtqRldybG84T2VmU25CNGZlaTgrSi9KNlNaYnp2ZlhrbkRjUkJDRWJ3RU9kVG5mRjI5dDdtMGFqK2YzZmYvOU5mcDMzVUZiS1ZjSXI1dGxxQm9tV2N3NjF1bHo5REpJM21DWmJBeDNYQVlDT2NRZzVDV0JsVXF4YXp3c1BUakVBYTg1NURaRkl1QWxONmMyRk1ILytmS1NucHlNeE1kRmdKdkhjR1dlUEh6K3UzOWEzYjE4a0pDUWdJU0VCQUJBUUVJQjU4K1loSmliR0tFRis4dVFKM25yckxmM0VVTG1DZ29Jd2ZmcDBnOG1oVWxOVDhkNTc3eGxORGxYVzJyVnJoL0R3Y0lNa0VEbERIdDU5OTEyMGFkTW0zMlFtTXpNVFc3WnNRV0JnSVBiczJZUGF0V3RqK2ZMbGlJcUt3dkRodzNIaHdnVTRPanBpeG93WjZOV3JGOFJpTVlLRGczSHExQ2xzM0xnUkd6WnNRSGg0T0FZTkdvU0pFeWVXMmoxcE5Cb2NPWElFdi8zMkc4NmRPNGZxMWF1alY2OWVPSEhpUklIekJkamEycUpYcjE3NDdiZmZjT0RBQWRqYjIrTzk5OTdUZHgvV2FEUzRmLzgrYnQyNmhldlhyeU0yTmhhWExsMUNTa29LM04zZEVSUVVoRHQzN3VEZ3dZUG8yN2N2cWxXckJoOGZIL2o2K3FKRGh3NUdFODBnWjViaTNQRjVMOGF2MFdqUXJWczNvL0o1emVxY0t6TXpFMU9tVENuMGtpVHZ2LzkraVgvZW5qNTlDb2xFa3VkU1JDOUtTVWxCZ3dZTjlKOU4yc0w3bktRU1BvUEx4QXN0T1dMT3VSeUFnNWh4bVFwTUE2cEhrVGVZSmx1VE80UkU5M0kzM2RjaDUzZEh6RGtYQ2xIOFRTSitjYngvZmw1T2ZIT2VFd3lBaUhOdWxUT2N6Wll4Vm1IZWlwV3JoQmRNcEFSaldwMU9oeXhsM20vTENTa3FwVXIxdkpMSG1TNHJLL3RuQ3d1eDhhS2ZGVnM3eHRobk9TMENlaSs4L1RNb25OTkZKaHZBVmM3NVdjNTVESUFqMGRIUmwxemNmZHFBb2ZqTlVpL0puUVNrUTRjT2VQYnNXWkdPUFhIaUJNek16T0RuNTVmbi9tUEhqdUh1M2J0RzIzZnYzbzB6Wjg3b1A3L3VSRGZYaWhVcklKZkxjZVRJRVp3L2YxNmY1T2VPcXo5ejVnd1NFeFB6VE5ZMmJOZ0FNek16dEd6WkVudjI3QUVBdUx1N1krN2N1WkJLcFpnM2J4NDZkdXhvTkU3VDM5OGYvdjcrU0VsSndmNzkrMTg1MDNWUkpTVWxZZGFzV1pETDVSZy9manlDZzRPUm5wNmU3NWpZWE9ibTVtamZ2ajBHRHg2TTMzLy9IZHUzYjljbiszdjI3TUdzV2JQMExaUFZxMWVIcDZjblJvNGNpVmF0V21IRGhnM2duR1BHakJtWVBuMDZvcUtpRUJrWmlhTkhqK0xnd1lOUUtCUjVmZzhuVFpwa05DRlk3cVJWZWMxdDBLTkhqd0x2SVNJaUF0dTNieS9VOXltdjhjTkZwZEZvWGprT1Y2ZlQ0ZEdqUndiZDNIT1RvTElheDEwUXpzR3pOSnBWRmhKUnFRK1BLTzhZWXpzQUdJd0hLT2daRFVETE9iOEQ0S3hPcHp1djArbE94c1RFbkhScDZPa0trZENGYzA3MUtQTEdVcXBVME9sMDBFSlFxdFdhSlNJUksvUEVrekhtd0JqckMwRGduQy9qbkVlYUl0a3VJUi9HMkpjQXF1WnV5R1BjUDJBNE5JSUR1QWtnaW5QK3IxYXJQWktjbkh5eG9xMTlYSzRTWHFXUXJaUng0WG5DbTFXaC9oMklDU21WU21pMVdqQUJ1cXhzeEZ5TGpyNXA2cGhlSjI5dmIzdEJFUFNERC9ONk9MNVFvVXJTNlhSYnRWcnRGbzFHYzEwaWtTUVZPQ05vS2ZucnI3L0FPY2VmZi82SjJiTm5ZK2JNbVhrbUdKR1JrZmpxcTYvUXQyL2ZWNDVQOC9IeFFmZnUzUTIySFRwMENBRUJBUVlKV0hwNnVrRkw4dXR3Nk5BaG5EbHpCbUZoWVZpMGFCRVdMbHlJVFpzMklURXhFV3ZYcnNYQWdRT3hlL2R1TEZteUJQUG16VE00TmprNUdSRVJFYnJxRlF3QUFDQUFTVVJCVkJneFlvUlJ3ck5telJyczJyVUxvYUdocjV4UTZjQ0JBNlhlbmRuQndRRnIxNjVGdlhyMTlBbVZUQ1l6bUVDcUlGV3JWc1dJRVNNd2JOZ3cvYjIxYmRzV2t5Wk5RdjM2OVZHL2ZuMVVxMWJONEppclY2OGFkTk50M2JvMVdyZHVEWlZLcFYvcUtpOXIxcXd4bWd3c05UVVZHUmtaNk5ldm4xSDV4NDhmRnhqN2dBRUQwSzVkdTBMZDU5Q2hRd3RWcmlCVnFsU0JVcW1FU3FYSzkzZmg1czJieU16TU5PZ0JrZHYxMmlRdHZBS0RXaXU2ZnUzZjZDT3YvK0p2Tm9WQ29VRStZL0pnK0l4TzFlbDBrWnp6LzlOcXRSZk56TXlTb3FPajlXOExsVUsyMHB5THNqbm41YkllcFZhcm9kUHBpanpEdEZxdHh0S2xTOUd0VzdjOHg4eXZXTEVDdFd2WEx2SEtHQ1dSa3BLQ3VMZzRORzdjK0pVOU0xNFVHeHVMckt5c1BGL3VQbm55QkZldVhFSHIxcTMxMjFRcUZSSVRFMUdqUm8weW43T2h1SlJLSlhRNkhRU1JvRWxWYVg2K2QrTlNtZGZMdkx5OFdvaEVvazQ1UFV6MlJVZVh2K2VRajQ4UFh1eUdYZEN6Z25PZXpqbmZydFBwZnVPYy82dFdxeC9IeGNXbFY5UWxpOHBWd3F0VkNrb21nMGJIZGNncW9Qc1lJVVdoVktxZzFlckFPZE5DbEYzK2FnQWxsUE1Hazcvd0dYaitNTlF4eGpJQXBISE9UMmkxMnZVeE1URjdUTEY0ZVc1eTA3ZHZYNXc5ZXhiejVzMUR2WHIxRENvdXVZbGNZR0Jnb1piVnFWS2xDdXJXcld1MDNjN096bUI3WVZxV1ZTb1Zzckt5WUdGaFVlSUtSRnBhR2hZc1dJQisvZnJCeDhjSEV5ZE94TWlSSTdGMTYxWWNPWElFTld2V3hOaXhZK0hrNUlRRkN4WWdPRGpZNEhocmEydTR1TGpnM1hmZnhiRmp4d3oyU2FWU1pHZG5RNmxVWXVMRWlYbTI0cDAvZng0SERoekk5NjN3czJmUHdCZ3I5c1I2THlhWS84L2VmY2MxZGIxL0FQL2NFSVlzUVVVb0xwdzRFQVFuV3F0MVY2dCszUzN1VmJlaVlLM2kzbFJidFE1VUJCY3FXb0dxclFORjNDQjd5UlpSbGdxSTdKQjFmbjlJN28rUUJGQ1JBSjczNitXcnpVM3V6Ym1JeVhuT2VKN3AwNmNqS1NtcHl1ZmEyZGxoL1BqeDdPOERqOGVEdjc4L0RBd01rSmVYSjFOQ1JOTGV0TFEwM0xselIrNDFKY2UvLy81N3FRR0NJVU9HeUFTb2QrL2V4Yi8vL29zMWE5YklYR2Y5K3ZVVnR0M0R3d08rdnI1VnVzLzM3OTlYNlhVVmtRVCtXVmxaTXN2aUpTSWpJNEhTT3JzU2txWFp0YlVqL0JVVG84enl3ektLQ1NGNUFPSUJuQ2FFZUlTRmhTbjhCUkx4T0R5aVFZUUVwTTcxbzdLenN6RnIxaXowNk5FRG16WnQrcWh6ZzRPRDRlN3VqbWJObXNrTmVCOCtmSWl1WGJzcU5lQ05qSXlFcmEwdFRwdzRBVXRMeXlxZmQvYnNXYVNrcE1ETnpVM211Vk9uVHNITHl3dlhybDJEdnI0K1VGcXU4cGRmZnNHWk0yZlFwVXVYYXIySDZzTGpmWmpoWlFqNUt2dGxuNnZzOTNmcElKa1lBSTlobU56U1ZYbm4zcng1NDVHZW5sNmsxSWJXb0RvVjhHcWhpRWNZUFpGWVRDcmNMMVZiRWZLaDNWOHFDVXhaaFlXRlVwazNQOGVGQ3hkdzlPaFJPRGs1b1hQbnp1eng3ZHUzNCtuVHB6aDkralNiTEtndVltZDRRY1I1ZFhISSt6TVJRaGdBRFA3L2cvRWRnR0NHWVFMRVluRWd3ekNCb2FHaDZaVmZxV1k0T0RnZ016TVRDeGN1eE1hTkc5Ry9mMy9zMmJNSFY2OWV4Y2lSSTdGaHd3YVpjalRscWFtcHdkM2RuYzNpWE5hQkF3Zmc1T1RFUGlhRVFGVlZ0Y0trUk03T3pqaDU4aVRPbmowcjlXL2tVK3pkdXhkaXNSakxseThIU3JQc09qZzRJQ3NyQy83Ky9qaDU4aVJVVlZVeGZ2eDRYTHg0RVh2MjdNRjMzMzNIbnMvbGN1SGs1RlRwNTh6NDhlUGxKbDlDbVNDd1BCNlBoNkZEaDhMYTJob0hEaHo0clB1VVhLOXQyN2FZT0hGaXBhOXpkSFNVV1Y3Ky92MTdiTnUyVGVGNWhZV0ZJSVFnSlNVRlFVRkJGZjVNK3ZYcnh6N3Y3T3dNZlgxOXFXUk9LSjBSNVhLNTZOMjd0OHo1SjArZWhJNk9qc0xyRHhreXBOSVNRUkx5QXVxUEpRbGl3OExDRkFhOHQyL2ZocDZlSGxxMWFzVWVvd0Z2N1NUWmxGZjZuMkpDU0NRQWY0WmhBc1ZpY1VCNGVIaDhWYTZqaFNJZW1JWUNRaXJlZDE0VEZQVXRGR25jdURFNmR1eUlxMWV2WXRDZ1FWSVoyaXZ6OE9GRE1BeFRZZWIwanhFU0VnSm5aMmZFeDhkREpCS2hRNGNPK09XWFh5ck5pbDRWUzVZc3FmRDc1c0dEQnhWdVYwaExTOFBtelp1eFlzVUtUSjgrSFgvLy9UZE9uanlKVmF0V0FaV1VIcXN0L1RySkRDOWhHR0ZlMGRmWEwvdGNaU1l1aWdnaG9RQ2Vpa1NpUUxGWUhCZ1ZGZlZDTW9EMk5hbFRBVzh5d0d0TmlQRERrdWE2RmZEZXVYTUhlL2Jzd1lvVks2cThmTzlUSkNjblk4MmFOVEF6TThPR0RScysrM3JQbmozRC92MzdzV0RCQXBrdkpGdGJXMHlkT2hVT0RnNDRmUGh3cFVGR2JjWHU0V1VZY2E2YTJsY3oybFZXNmVpZnYxZ3N2c1F3akMvRE1Ha2hJU0U1dGJFb3VhYW1KZzRkT29SMTY5WmgzYnAxME5QVFEwRkJBZGFzV1NNejIxa2VuOCtIVUNpRXM3T3ozT2Y3OSs4UGUzdDdEQjQ4V083elJVVkZjb1BFc0xBd0dCb2FmbmF3SzJuRGp6LytLQlU4alI4L0hpNHVMcGcrZlRvN084SGxjdGxaeFlDQUFLbHJsQS9VcWt0a1pDUkVJaEcrLy83N2FydG1zMmJOS3AxVmtjeDZsMmRrWkNTem4xWWtFc0hQencvbnpwMURabVltOHZQejBiQmhRN3gvL3g2OWUvZUdqWTJOVEJLenNqWnMySUM3ZCsvS2ZVNlN0S3BmdjM0S3o1ZGsxaTZ2WWNPR01EUTByUEErSmFyanM3UkhqeDVRVVZHQnY3Ky8zT1gvTDE2OFFFQkFnRXhOYWNtWVg5bGwwRy9ldk1IVHAwL1p4elRaa1hJUVFoSUpJVjRpa2NpTHcrRzhFZ2dFbVI5Yk4vTkRQd3JDRDB1YWxkZVBVdFMzOFBiMlpoTVB5bU5rWkFSTlRVMkVoSVRneFlzWGNsL1RyRmt6cWM5d29WQUlIeDhmOU96WkUwMmFmSDdWd1ljUEgyTGx5cFhRMXRiRzZOR2p3VEFNcmx5NWdvVUxGK0x3NGNOeUI4USt4b0lGQzlDbVRSdUZ6MWYyK1ZCY1hJeVFrQkRrNWVYQnpNd01vMGVQeHVYTGx6RnIxaXcwYXRTb3dvQzN0dlRySkh0NEdVSkVYMnUvN0hNUVFoSUlJZWNBWEZkUlVVa3RMaTdPcnM4MWRxdWlUZ1c4U0U3bWtVN2RTcE5XMWEyQTkvbno1OGpLeXZyaTc1T1ZsWVhFeE1ScVc2YXlZOGNPTkd2V0RMTm16Wko1VGx0YkcvYjI5ckMxdGNXTkd6Y3FUZHBTRzMyWWRmL3d3VW9JRVNJeDhXdk00dkdZRU5JbExDenM0K3IwS01ucjE2OXg2OVl0SkNSOHlHdFRVRkFBTHBlTCtQaDRSRVJFd016TVRPR1g5SjQ5ZTlna1RvcnMyTEVEdTNmdlZ2ajg0OGVQcFI0TGhVSkVSMGZqZi8vNzN5ZmRUM2xEaGd5UkcxVEx5MklzV2ZiMitQSGpDbWNFcWt0NGVEZ1locEhLWWwwYkZCVVZJU2dvQ0k4ZlA4YmR1M2RoYUdpSXFWT25ZdGl3WVpnelp3NDZkT2lBNWN1WDQrelpzMWl5WkFuMDlmVXhhTkFnOU9yVkMxMjdkcFhhRDdoOCtYS0ZHYVAvL2ZkZlhMeDRFV2ZQbmxYWUZtTmpZN25IVDU0OEtiTW5XSkYzN3o2L0NvU1dsaFlHRHg0TVgxOWY1T2JteWd5Q3VMaTRnR0VZbVV6bHo1OC9SNU1tVGFSK24rN2Z2eTgzVVJkVmM4Umk4Wml3c0xCQUFKK1hSUzg1bVVjNmRoT0FLSGRKczZLK3hkOS8vNDNRME5CS2N6QmN1blJKN3ZHU2toTDA2ZE5IS3VCOS9QZ3hzckt5WUc5dmo4VEVSTGxiQm9xTGk1R1ptY25Xcnk1TFgxOGZiZHUyWlIrN3VibUJFQUpuWjJkMmNHdkFnQUg0NVpkZjRPbnBXV25BR3hrWnlaWU5LeXNtSmdZb1RaU29xSXdaU3JkV0RCbzBDRDQrUGtEcGdGUmVYaDY3TXFmc2lnMlViaDN4OHZLQ201c2JsaTlmemdhODh2YnAxNForbmFSZlJnZ0JBYjdXZnRrbkVRcUZNV3BxYW9OQ1EwTmpsTjJXMnFadUJid2YvaUdrTWd6VExTOHZEM3crbnk2N0tzMjArU1ZHNFI0K2ZJaTR1RGhzM3J4WjRmWDc5KzhQVTFOVHVMaTQ0SWNmZnFoenM3eENvWWo5OGlNRThvZUw2N253OFBBMFpiZWhJdS9ldmNPelo4OFFIQnlNZ0lBQXhNWEZRVlZWRlFNSERtUTdUV2ZPbklHbnB5ZTh2THlncTZzTFMwdExtSnFhb25YcjFqQXlNb0t4c1RIMDlQUmdiMjhQZTN0N2hlL1Z0MjlmYk5pd29jTHlNZVdUQU1YRXhLQ2twS1JhWnowckV4SVNndnYzNzBOVFV4TkNvUkJlWGw0d01ERDRxR3U0dTd2TDdmQ0VoNGNyUENjc0xBemR1blZqOTRKVkIyOXZiNFZMcUNzVEZ4ZUhyVnUzSWo0K0h2cjYraGc2ZENnT0hEZ2dkNlpkUjBjSGl4Y3Z4cHc1YzNEdjNqM2N2SGtUYm01dUVBZ0VhTmV1SGZidTNZdWNuSndLMzYrazVFTW5MRDgvdjhJMk5XN2NHQm9hR2xKTHNPZk9uVnZsMzVGWnMyYWhvS0NBN1JRYkdCaDgwbWZyM0xsejRlM3REWGQzZHl4WXNJQTlmdXZXTGR5NGNRTWpSNDZFc2JFeDl1elpBdzZIZzl6Y1hEeCsvQmhEaHc2VnVzN28wYU94YU5FaTlqR1B4NU9idUl2NmNzTEN3cDVVMzlYRTZRQUhlWGw1NEpXVVFLT1M0TEs2VmRhMzZOS2xDMDZmUGcyVTdzRXZQMWdqRkFvUkVCQ0E1czJibzJYTGxsTFB5YXRON3VIaEFUMDlQWHovL2ZmNDlkZGZGUTdlcEthbXlrMVFPR2pRSU96WnM0ZDluSk9UQTExZFhhbVZISklhN1pLeVhpZ050UDM4L1BEVFR6K3hGUWNBNE15Wk03aDc5NjdjSEFxcXFxbzRjZUtFM1BhaHRMK25vcUtDUjQ4ZXNmdVlCUUlCeEdJeCs3ajgrUzFidHNUQWdRUFp6NU9LQWw3VWduNGRueThvT3loUkp3YmlhNHVvcUtnM0FHUkhVNmk2Ri9BeUlNRUE4K1ByTjI5UlZGUmNLd0xlVjY5ZXdkWFZGWUdCZ2NqT3prYkRoZzNScDA4ZmJObXlCYjYrdmxJZDdBMGJObUREaGcxUVZWV0Z2NzgvVUxvUFRaTFFKQzB0RFR3ZUR4MDZkTUQ4K2ZPbE11dTlmLzhlZ3djUGhwbVpHWGJ1M0ltdFc3Y2lMQ3dNa3laTndvSUZDNlFTckZ5NWNnVlhybHdCU3BmWXlVdlNVSm1MRnk5Q1IwZEhKcE50ZVpNbVRjTDI3ZHNSR0JqNDJVdDVhbG9KdndTcDZSa0FBSVloQVpXZVFOVVlvVkNJdVhQbklpb3FDaWhkWXRtelowOU1uRGdSUTRZTWtVcWF0R0xGQ2l4YXRBZ1BIanpBL2Z2M0VSQVFJTldwMmJWckZ6dzlQYVhLRFNteWNlTkdiTnk0c2NMWCtQajRRRTlQRHlnTkVCczJiTWlXRGFvcDN0N2ViUGJoWnMyYXdkYldWdVkxRE1NbzdLeklTM0NDTWxsNnl4T0x4WWlNakpRS25LcEQxNjVkOGZQUEZWZXk0dkY0MkxwMXE4eHhVMU5Uekp3NUUwWkdSdWphdFd1VlpyazFORFF3WXNRSWpCZ3hBandlRHlFaElWQlRVNE5JSk1MQ2hRdXIxT2JLWGpkaHdnUUVCQVN3cXhCUXVycWdiS2U1TWk0dUxuQnhjUUhLL2I1OWpIYnQybUhTcEVrNGQrNGNSbzBheFhhNnZieTgwTFJwVTZ4ZXZSb0FrSlNVaElDQUFIQTRISFRzMkJGTGx5NlZ1azZEQmcya2xtTVhGZEVWaG5VYTRZU0RnYzNyTjIrUm41Y1BEWU9hRFhncjZsdW9xNnV6bjFrSkNRbVlQbjA2Um93WWdmbno1N043MGZQeThyQnMyVExNbVRNSFM1WXNrVHBmUTBORGFrQXlOallXang4L1J2djI3Y0hsY3JGeDQwYXB6emh2YjI4NE9UbkJ3TUFBSXBFSU9UazVjSGQzbCtwYmxzOEkzYVZMRjF5OWVoWEp5Y2t3TVRFQkFOeTRjUU1vVFg0bmtaR1JnUXNYTHNEUzBsSXE0QVdBOXUzYnc5M2RYZXFZcDZjblFrSkNzSDM3ZG9VL3UrUEhqOFBkM1IwcUtpcnNhcU8xYTlkS0phMUtURXlVT1cvSGpoM3N6Nld5Z0JkSzd0Y1ZGUld4L1RKQ0VGS2piMDdWVzNVdTRCV0ttWEJWRmVETjI3Y29LaTZHbnQ2WDJhdFdWWW1KaVpnMWF4YUVRaUcrLy81NzZPdnJJeVVsQlk4ZVBRSks2NGhPbmp3WlVWRlJpSTZPUnUvZXZkR3FWU3VwRDVyRGh3L2p5cFVyNk42OU8wYU9ISW1jbkJ6NCtQakExdFlXcnE2dVVoazBVYnJjdzk3ZUhqbzZPaGczYmh5YU4yOE9WVlZWVEo0OEdXL2Z2c1c5ZS9mUXVuVnJ0clJLK1RJZFZTRVFDQkFhR2dwcmErdEt5MU5JYW5YNisvdlh1WUNYWDhKSHV1U0RGUWhXZG51by84ZmxjckY4K1hKMlZ0SE16S3pDWlc1cWFtb1lNbVFJT3p1YmxwYUd4TVJFNU9ibVl0aXdZZFdXcktTOGFkT215WjFWK0ZoanhveXBjb1pRS3lzcnRvTlZFWG4zUFdYS0ZKbjZzbFhCNFhDcWZWbnIrZlBud1RCTWxVcmdqQjA3VnU3eHl2NWVKVE5GOG1ob2FLQnYzNzdzNC9MTDFldURWYXRXSVRJeUV1dldyWU9ycXl1NFhDNTI3dHlKbEpRVWR0QklrcVJOVGdaZ3VmdVpOVFUxRVJ4TVB5N3JLaUlXUG1NNFhMeDUreFo1QlFVd01QajhmYTFWVlZuZjR0Q2hRK3ovdDI3ZEdyYTJ0amgyN0JodTNMaUJuMy8rR2ZQbno1Y3FNMVplK2RuTjhvL0xEeHpkdTNjUC9mdjN4OHVYTDlHcFV5ZmN2WHNYejU0OXc0Z1JJeFRldzhLRkMvSHc0VVBZMmRsaC9mcjE4UFgxaGJ1N08yYk1tQ0dWbzBXU0tWZFJDYVhYcjE4akt5c0xCUVVGeU0vUHg5MjdkeEVaR1luRGh3K3p4eVQvN2RPbkQyeHNiTkNvVWFOSzY1YkxVL2E3VXpKZ1ZWRVNQMlgyNjRxS2kvKy9YOFlReFV1T0trRVVsUnFvbXFxbDFLL0htSnJZSjFXRDZsekFxMUpDd2tnRGtEZHZNcG5hTU1wOCtmSmxGQmNYWS8zNjlSZzNiaHg3WExJSHEzMzc5bGl6WmcyT0hUdUc2T2hvL1Bqamp6SkpxNnlzckRCcjFpeXBUSnBYcjE3RmxpMWI4UGZmZjhzRXZMR3hzUmcxYXBSTVd2NDFhOVlnS0NnSTkrN2RnN201K1dkbCtveUtpZ0tQeDZ2U0I2dGt5V2hJU04wYmlDdmhseUE5NHpVSUlhU0V4NkU5dUZxbWUvZnVjbXNMVmtXelpzMFVacWVsYWdkNVMvcW82cVdtcG9aang0NGhKeWNISXBFSVhDNFhqUm8xa3B1QnRaNzFieWdGK0VMVktIVVZNWG56SnBQSnoxTzhQUDlMcUdyZklpTWpBd1lHQnZqcHA1L3d3dzgvNE1DQkE3aDkremJtelp2SEprMnJiSjl2WUdBZ2ZIMTlGUVoyU1VsSkNBc0xnNk9qSTA2Y09NSFc2YjUyN1ZxRkFXL2p4bzB4Y3VSSW5EdDNEdlBtelFNQTJOdmJ5NnhVZWZ2MkxWRDZYU1RQM3IxNzRldnJDdzBORFdocmE0UEg0NEhQNXlNbUpnWTZPanJRMXRhR2dZRUJkSFIwMEtsVEo1dzVjd1lQSGp6QWhRc1hLcnp2eWtnUzB5bkswZzhsOSt1S2lvcllmcGxRSUE2cjhRWlE5VktkQzNoZnZveDQyYXBqdDNkNStmbU5NMTYvUWJ1MmlqUFoxUVRKSGkzSmlLUEV4NlJ6bDdlc1I1SVVSbDZOU3JGWWpGOSsrZVVUV2x0MWtpeUpSa1pHVlhxOW9hRWgwdEpxOVZaUXVkSXozaUF2UHg4TWtQVTZ1VzRrYmFJb2l2b1kydHJhME5iV1ZuWXpxRm9pNDBYb0s1T09GbGw1K2ZrR0dhL2ZvSnZGeDI5NStsUlY2VnNJaFVKMjI4RDgrZlB4d3c4L1lPUEdqV3lXL0l5TUQ3Ti9GUVZzSXBFSXUzZnZocW1wS2RxM2I0KzR1RGlaMXh3OWVoU05HemRHLy83OTJabmdrU05IWXZueTVZaUtpb0tabVpuYzlpOWR1aFFwS1NtWU9IRWlPbmJzQ0RjM04remR1eGNKQ1FsWXUzWXRPNUFYRmhZR0F3TURkdGx6ZWR1M2I0ZXFxaXFiTGRuSnlRbnU3dTdZc1dPSHpMN2wvUHg4SER4NFVHSCtoTHk4UEJ3NmRBaDM3dHlwdEVKSFptWW10TFcxSzkwU3FLeCtYWHJHYStUbDV3TU0zcVkvajBxcDhRWlE5VkxkeWpEMGdSZ1Fod0pBVEZ5VnlzNTlVWkpSUUVkSFIrellzVU51Z0ZvVnIxKy94cFVyVi9ENzc3OWoyYkpsYk9aQ2VYWHltalp0aW0rKytlWXpXMTR4U2ZLV3FpYW4wZGZYcnpUaFMyMFVIaGxWK24rZnZteUdvaWlLb3VvUVFoZ1NCQUR4Y3ZaN2ZrbFY2VnR3dVZ4czJiSUZqUnMzeHFaTm16QnAwaVQ0K2ZteEFhNms0a1ZGRXdzcUtpcFFVMVBEaGcwYjVKYmZpWXlNaEkrUEQ2WlBueTQxVTl5dlh6KzBiOThlKy9mdmx6bEhLQlJpeVpJbFNFOVB4OUdqUjdGMjdWcU1HemNPRnk5ZXhQVHAwM0hseWhYODl0dHZFSWxFU0V0TFEyaG9xRXdDT0FrT2h3TU5EUTJwdGcwY09CQkNvUkNEQnc5R3YzNzlwUDRNSERnUXljbkptRE5uRGxDYWErSE9uVHZZc21VTG5qeDVnclMwTkZ5L2ZoMTkrL2F0Y0NBQXBiUG5UWnMycmZBMVVHSy9MaW9tdHZUL1NOMWJOa2pWV25WdWhoY0FHQ0FRd0pBbi9nR1lQM3VHVXBkaDllelpFd2NQSHNRZmYvd0JUMDlQZUhwNm9rK2ZQbGk5ZXJYQ1ViM3luSnljNE9ycUNrSUlXcmR1alJZdFd1RGJiNy9GK2ZQbklXOEx3cWZzeWYxWVZVbHFVQmFIdzVIYjF0cU1FSUtIai93QUFHSUdvY3B1RDBWUkZFWFZCQTRZUHdBL0JBYUZ5dDI3L2FWVXRXL1JyVnMzdUxxNnd0ZlhGNGNQSDVZS1NsTlNQa3o2VlRid3YyL2ZQcmt6eVFLQkFMdDM3NGFlbmg0bVRwd284L3lzV2JQZzRPQUFMeTh2cWExcWQrL2VSWEp5TXFaTm04YVdoSlBjaTYydExiaGNMazZlUEltalI0OGlKU1VGSEE0SE5qWTJNdGZuOFhoeWc5Sk9uVHJodi8vK1EzeDh2RXp5UUEwTkRaaWFtckw3N2pNek03Rm16Um9ZR1JsQlcxc2IzM3p6RFpzRXEzelNxb2NQSDBKUFQ0OU5YaG9iR3d0VFU5TUtmM1pRVXIrT0VBSS8vMERKZzhxelRINWhqeDQ5Z29HQlFaVitYdFV0SVNFQnJWdTNybkkvbktwWW5md3BFcEJyRENGMi9nRkJhbS9lWnNMSXNQS1JxaStwYjkrK3NMYTJocisvUDl6YzNPRHY3NDg1YytiQTA5T3owc3lhZm41K09ISGlCTHAzNzQ3ZHUzZXpJNVpDb1JEbno1K1hlMDVOcElpWGpMN0txMWNuVDA1T1RyV1dLcWtKYjk2OHhSUC9wd0FnSUJEZlZuWjdLSXFpS0tvbUNFRzh1QVRyZzBMRDFESmV2NEh4TjFYYnZ2UzVLdXBiOEhnOGVIdDd5eHlmTVdNR1VsTlRrWnFhQ2dCc0diUG82R2c4Zi81Yzd2djA3OTlmNGJMcEF3Y09JRFkyRmp0MzdwUzd2M2ZZc0dHNGZQa3lIQjBkWVdwcXlwWTVrd1NTaW9LZkpVdVdJRFkyRnE2dXJrQnA0Q3d2S0M4b0tJQ3VyaTZFUWlFU0VoTFFxVk1ub0RTVGNucDZPZzRmUGd3QVdMcDBLYlMxdGRtNjhQNysvbWpmdmowYU4yNE1JeU1qdUxpNHdNTENBdXZXcldNSEFjcno5ZlhGYjcvOWhzV0xGNk5yMTY1SVQwOUhTa3BLbGNxS0thTmZsL0g2TlFLQ2dnRkFBQkZ6dlRxdTZlbnBLYlZhMHRMU0VwMDZkV0xMMGtuMDZkT0gvYnVRK1BQUFA5a3lUUUFRSHgvUER0cElHQm9heWt4RUpTY240OXk1YzVnd1lRSmJzdXBqeE1URVlPYk1tUmd6Wmd6V3IxLy9VZWNXRlJWVldEcFBIbFZWMVkvYWlsa1gxY21BdDBSWW5LakIxWXJoOC9rV043M3ZZTlowMlJHMG1zWXdES3l0cldGdGJRMEhCd2ZjdkhrVGp4NDl3bzgvL3NnK2ozSTEyZ0FnSU9CREpaeWZmLzVaNnBldGJEbUxqMjBINU93cC9saE5tbnpJMmloWk9sU1p6TXhNOXB5NjRvN3ZmUWlFUW9DUU9FR0pTUG5yNDZsNmo4ZmpnY1BoeU95ZGV2ZnVIZmg4ZnBYM3pGTVVSWDBPVVc1V2tvcXVRUXlmejdlNGR2MG1Gc3lkVlNQdlcxSGZJamMzRjF1MmJLbnl0U1NCb0R5blRwMlNHNno5KysrL3VIRGhBb1lORzRiaHc0ZkxQWmZENFdEcjFxMllNbVVLbGkxYmhuMzc5c0hjM0p6ZG02c291R1FZQnFOR2pZS2ZueDlVVkZRVWxsdkx5c3BDeTVZdGNlSENCUnc5ZWhUbnpwMkRpWWtKM3I5L2orenNiUFoxWllPVzFOUlUyTm5ad2RyYUdudjM3Z1dYeTBXM2J0MHErT2tBMTY5Zng2MWJ0ekJxMUNoTW5Ub1ZLRTIwaXRKeWNKVlJSci91aHJmUGg0Q1NrRGcrdzVNL212R1JuSnljd09Gd29LV2xoWXlNREN4YXRBaWRPblZpeTFGcGEyc2pLU2tKbXBxYTZOU3BFLzc0NHcrMGJOa1NreVpOa3JuV3dvVUxrWnViSzNWc3hZb1ZtREZqQnZ1WUVJSXRXN1lnSWlKQ2FnRGpZM1RxMUFtalJvMkNsNWNYT25mdS9GRjF6OCtjT1FOblorZVBlajhMQ3d0Mm9LYStxcE1CNzJ1aE1MOFZGNDlBaVBuVi8yNHkwMjJteU4yalVSTWlJaUxRdVhObnFTVUhXbHBhUUxrbE81S1ozbGV2WGttZEwva0FUVWhJWU91MzhYZzg3TnUzNzVQYUkvbUFmL255NVNlZEw5R2xTeGR3T0J5RWhvWldXaW9sT3pzYnIxNjl3azgvL2ZSWjcxbVRSQ0lSYnQyNSt5RnRQWU1BY1pGcTFTSjdpdm9NOCtiTlE0Y09IV1RxL0I0NWNnUUJBUUc0ZXZVcVltTmo4ZXJWcXk5V1Jxa203TjI3RnhjdVhNRGV2WHVsNmxKK2l1UEhqOFBOelEyN2QrK1dLaUZFVWRTblMwOVA1N2ZTTlhnRVFzdzkvcm5LekowMUhkd2E2RWRWMUxjd05EVEVreWRQRko3TDUvT3hZc1VLaEllSFk4ZU9IUlYrdHNoTHlIVHo1azFzM3J3WjdkdTN4N3AxNjdCanh3NWN2LzVoRXJHa3BBUkpTVW5zNDk5Kyt3MDdkKzdFNnRXcnNYRGhRbHk1Y2dWOSsvYkYwYU5IY2ViTUdYVHIxazJxWEU5dWJpN2MzTnh3NXN3WjZPbnA0ZjM3OTFpM2JoMzI3ZHZIOWdsUk9ydWJucDZPeVpNblkvTGt5ZmpubjMvZzRPQlFZZmswZ1VBQUJ3Y0hhR2xwWWUzYXRRcGZKeUdaUGI5eDR3YW1UWnNHVzF0Yk1BeURWNjllc1NzSDkrelpneE1uVGlqYzc2dU1mcDFJSk1LL04yNngvYkowc2JqYVVvaXZXclVLdzRjUHg4eVpNNldPLy9ycnIramJ0Ni9VZlQ1NzlxekNwZHpUcGszRGxDbFRFQmNYQjN0N2U1bFpmRmRYVjhUSHgyUFRwazNZdm4wN3pwNDlpK25UcDh0Y0p5NHVUdUVLQlpRT1NuaDdleU1tSm9iOXZTeVB5K1hLOUJWU1VsTFFzR0ZESERod2dEMG15WG91YjNuMHI3LytXbUdKcXZxaVRnYThTRTdtRVZNTGY0Wmg1cnhLU1cwUWw1Q0l6aDFyZm4wOUFKdzlleGFSa1pIbzA2Y1BkSFYxOGVyVkt6eDgrQkF0V3JUQWQ5OTl4NzZ1UjQ4ZVlCZ0daOCtleGV2WHIxRmNYSXk5ZS9kaThPREJPSFhxRkk0ZlA0NjR1RGpvNmVuaDZkT25WUnA5azZkbHk1WXdORFJFUkVRRWxpMWJCajA5UFV5Yk51Mmo5eC9vNnVxaWMrZk9lUHIwYWFXdmxjeFMxNlVhdk0rVFhpRDU1U3N3QUo4UVBIM3pKcUpRMlcyaTZwL2MzRnlwSlZOQ29SQWxKU1ZTc3hzNk9qcFFWMWRuVjMvNCtQakExZFVWVVZGUldMRmloZElHODJxTHFLZ29GQllXSWk0dXJ0WUZ2TnUzYjhmVHAwOXgrdlRwZXI4Y2pLcDNoSVRBbjhQQnpMUzBETzNvNkZpWWQrM3l4ZCswc3I2Rm9sSkRxYW1wV0w5K1BTSWpJNkd0clkzMTY5ZGp3SUFCbURwMUtxeXNyS3IwM29XRmhUQXhNWUdUa3hOMGRIUXdkT2hRdEd2WERnQnc4dVJKTkd2V2pBMGV1blRwZ2padDJ1REFnUU9Jam82R2dZRUJEQXdNTUhYcVZKdzdkdzZMRnk5R3k1WXRZV1JraEx5OFBDUWtKRUFrRXNIQ3dnSjc5dXlCcTZzcjNOM2RNV2JNR0xSdjN4NnFxcW80ZVBBZ1crYkgxTlFVNnVycWNIQnd3UHo1ODNIeDRrV0Y3YjV3NFFKaVkyUFpyTktWa2RRVFg3cDBLV2JQbmcyVUJ0b3JWNjZFaW9vS05tellnRzNidHVIWFgzL0YvdjM3NVFaQnl1alh4Y1lsSUNVbERXQ1lZaER5RkltSkpWVTRyY2JwNk9qQTJOZ1lOMi9lQkpmTGxmcGV1bnYzTG80Y09ZTDE2OWRqekpneHlNek14UDc5KzlHd1lVT1pBWjVidDI1Vk9OQWhJY2tQSkkrMnRyWk13SnVhbW9vV0xWcXdjVVJlWGg1c2JXMWhaV1dGWGJ0MnlmeDlpOFZpR3ZEV1ptS0lJbFFZbGF6Q3dzSVd3U0ZoU2d0NGh3OGZqc3pNVFBqNitrSW9GTUxJeUFoejVzekIxS2xUcFViTzJyUnBndzBiTnNERnhRVzNiOTltUDJSTlRVMnhiOTgrSEQxNkZQNysvdERXMXNhb1VhT3dhTkVpdVh0WktzUGxjdUhvNkFoSFIwY0VCUVdoVWFOR21EdDM3aWZkMitqUm83RnIxeTc0Ky91alQ1OCtDbC8zenovL29FbVRKaFcrcHJhSmlJcEd6dnYzQUpoOEloUUhLYnM5VlAyMGN1VktoSWRMSndCUFNFakF6WnMzMmNmYnRtMURnd1lOMkgxQlM1WXNnYjYrUHY3NDR3K2twS1RBMGRHeEtpQUwyd0FBSUFCSlJFRlUwdklSOWRubXpac1JGaGFHL3YzN0s3c3BNbXh0YlRGMTZsUTRPRGpnOE9IRE5aSmZnYUtxaXhpaUNCV2lrczRYQ0RvOGVScFFJd0V2UHFKdmdkTFpxZ3NYTHNEVDB4TXFLaXJZdG0wYkJnMGFoQ3RYcnNETnpRM3o1ODlIcDA2ZE1IWHFWQXdkT3JUQ0JEOFRKa3pBbURGajJKVjF2WHIxUXE5ZXZRQUFYbDVlYU5PbURhWk1tU0oxVHUvZXZhV0N2bFdyVnNIUzBoSi8vLzAzWW1KaWtKYVdCajA5UFZoYlcyUFVxRkVZT25Rb0dJYUJuWjBkZEhWMWNmbnlaWVNIaDJQZ3dJRkE2WkpxSFIwZGRqbXlsWlVWOXUzYmg3NTkreUlzVEg3SldSc2JHNWlibXl0Y3dseCtDOXVrU1pQUW9FRUROdGg5Ky9ZdFZxeFlnWmN2WDJMSGpoMFlQbnc0ZUR3ZWR1N2NpZDkvL3gzcjFxMlR1YVl5K25YQm9XRW9LQ3dFQTJTSmhhVFc5OHY4L1B6UXMyZFBkZ2IvN3QyN1dMdDJMWDc4OFVjMjJkbmN1WE9SbHBhR0xWdTJJQ1VsQllzV0xaTDVucWhvVlVORmR1M2FCVjlmWDVuanFhbXBVcit6dXJxNldMRmlCYlpzMllMZmZ2c051M2Z2bHZwM1VsSlNVbWxtNy9xZ3pnYThxWEZSMFNZZExkSkwrUHdXVDU0R1l2ellINldXamRTVUlVT0dZTWlRSVZWNjdkaXhZekYyN0ZpWjQ1SzA4K1VGQndkTFBkYlQwNU01SmsvWHJsM2g1dVpXcFRaVlpPellzWEJ4Y1lHTGk0dkNENzJJaUFnRUJRWEJ6czZ1em5US2VTVWw4QThJUWxGUk1RRHg2NWVKRWJRa0VmVkY3TnUzVDJxR2QrblNwV2pidGkxV3JsekpIdFBSMFVGNmVycFVVZzBiR3h1b3E2c2pQajYrenZ5NytsSWFOV3FFUVlNR0tic1pjbWxyYThQZTNoNjJ0cmE0Y2VNR1JvMGFwZXdtVVZTVmxmYWpra1VpVVFlL3A0SDRlZklFTkN6TkF2d2xWZFMzRUFxRmlJdUxRMEJBQU83ZnY0L0l5RWd3RElNZmZ2Z0JpeFl0Z3JHeE1RQmd5cFFwbURoeEltN2Z2bzFUcDA1aC9mcjErT3V2dnpCbHloUk1tREFCT2pvNmN0OWJFdXgranUrLy83N1NyUm9jRGdjTEZpekFnZ1VMMkdNeE1USHc5ZlhGaEFrVGtKYVd4aWJoWWhnR2ZuNSt5TTdPUm1GaElSNCtmQWlVN3VFVkNvWHc4L3RRVFVKeUhLVVZRdHpkM2NFd0RBSURBOUcrZlh2Mk9XTmpZL3p5eXk5QTZZb2hSMGRINU9ibVl2UG16ZXkrNVFrVEppQWlJZ0llSGg1bzA2YU4xSkplWmZUckNndUw0QjhRQkQ2ZkR4Q1NVdHY3WllXRmhZaUlpTURxMWFzQkFCY3ZYc1RldlhzeFlNQUFtVHJJRGc0T1lCZ0dycTZ1Q0E0T3h1clZxNldTWXlsYTFWQVplUU9zQlFVRmVQLytQWm8xYXlaMWZNeVlNY2pQejhlZmYvNkpZOGVPWWNtU0pleHpQQjZQenZEV2NrSUNzUnNEbGQ3K1R3TVJHNStJN3BZV3ltNVR2YUtxcW9xVksxZGk3ZHExdUhQbmpreGdMeFFLOGNjZmY2Qk5tellmdGFGZTJaS1RYK0h1L1FjQUFFTGdBa0JVNlVrVTlaSHk4dkpRV0NpOVVwNFFBckZZL09GTHZWUjJkallFQWdHS2k0dVJucDdPSHBja3dVdFBUMGVqUm8yZ29hRlJvKzFYUkN3VzA1bk1NaVFaUEYxY1hQREREei9RbncxVmx3Z0pJWmNZaGhrV0doNko4TWhuK0s2ZjlSZC9VMFY5aStUa1pOalkyTEFsZVF3TkRURm56aHlNSFRzV3paczNsN21PaW9vS1Jvd1lnZUhEaCtQZXZYdHdkbmJHd1lNSGNlM2FOVnkrZkpsTjRxbWlvbElyU3J0NGUzdXpNNi9uejU5WE9ERmhhMnRiNFdPVXpzRCs4ODgvU0VsSmdaYVdsdHk5dGxsWldkaTVjeWMwTlRWeDdOZ3htUm5pdFd2WDR0MjdkekF6TTJPUEthdGZGeHVmZ0NkUFB5eWpKZ1J1dGIxZkZoQVFBS0ZRaUg3OSttSE5talc0YytjT3RMVzEwYTFiTjNoNGVNaTh2a09IRGhnMmJCanUzcjJMbVRObjR2cjE2K2pkdXpjYjdDNVlzQUJSVVZGVmVtOExDd3NjT1hJRUF3WU1RSXNXTGFTZWt3eWl5UHYzTW5YcVZPanE2a290Z1JhTHhSQUlCSFNHdDdZcnloYWQwbXJDc2MvTnkydDE1cnc3RFhpL2dHSERoaUVrSkFUYnRtMURseTVkcERibkh6bHlCSW1KaVhCemM2czFuZkdxY0Q1NUJ1L2Y1NElROHFMd25mQ0VzdHREMVU4dUxpNXlPelNKaVlrS3R5dU1IajFhN25GSFIwZnMzNzhmcjErL2hvK1BEeG8yYk1nK2QvNzhlZnp4eHgrd3NiR0JuWjBkZTd5b3FBZ0RCdzZFdWJrNVRwejQvMS96eDQ4ZjQ4S0ZDNGlPamtaaFlTR2FOR21Ddm4zN1l0NjhlVEEwTkdSZjkvNzlld3dlUEJobVptYll1WE1udG03ZGlyQ3dNRXlhTkFuMjl2WUFnTFMwTkRnNU9jSFB6dzlGUlVWbzI3WXRPN01nVDJCZ0lFNmZQbzI0dURnVUZCVEEwTkFRa3lkUGxsdXJzdXk5WDdwMENRY1BIcFRhSzFYVmEzM0svUjQ5ZWhTSER4L0c3ZHUza1p1YmkzYnQybUhGaWhYbzJiT24zRFpPbWpRSjI3ZHZSMkJnWUozS1pVQlJ2UGR3YjZCUEhBb0tDbHBmdUhTNVJnSmVLT2hibUppWVlPN2N1VkJWVlVXZlBuM1F2bjM3S3RVSFpoaUduWFY5OE9BQnVGeXUxSGtPRGc2VlhrTlN3L1pMV3J4NE1mcjI3UXREUTBPc1hMbFNhcVhQcDdoNDhTSUlJVkJYVjVmN2MyclNwQWxjWEZ4Z1pHUWt0NCttb2FHQmd3Y1BTaDFUVnIvdTFObnp5TXZMQjRINGVmRjduSzJPYXdvRUF2QjRQQkJDd09QeGtKK2ZENUZJQkQ2ZnoyYkFMaTR1Um41K1BzUmlNVXBLU21RR3FSV0pqbzZHdHJZMmRIUjBvS0doZ1JrelppQW1Kb2Jka3lzVUNwR1hsNGVHRFJ1eWVUam16WnVIR1RObTRQSGp4MmpTcEFtYU5HbkNmbDlNbURBQkF3WU1VUGgrK2ZuNU9ILytQQW9LQ3RoOTNBTUdER0RQc2JPemc3Ky9QN3U4ZmZmdTNmajk5OS9sWGt0ZWR2UHo1OC9qMHFWTEFJRC8vdnV2MHBLcWRWR2REbmd6TTZNTEd1aWJiMVJSWVZ5dS9YZVR1M0RlYkhReTdhRHNadFU3OXZiMm1EcDFxc3lTOGZIang4UEd4cVpPbFNPS2pvMkgxOVYvUVFoRWdIaDNabVowZ2JMYlJOVlBzMmZQeHNTSkU5bkgxNjlmUjFwYUd1Yk9uU3N6Q3hnVUZJVHQyN2ZqeElrVGN2ODlOV25TQklHQmdiaDgrVEtDZzRPbGx2aEs5di80Ky90TG5STWFHZ3FSU0NRVkpEbzVPZUhFaVJObzBLQUJySzJ0b2F1cmk5allXSGg2ZXNMWDF4Y25UcHlBaVltSjFIVUlJYkMzdDRlT2pnN0dqUnZIamh3bkpTVmgzcng1eU0zTlJkZXVYZEc2ZFd1OGVQRUNxMWF0a3BzazcrclZxOWl5WlF2MDlQVFk5aWNrSkNBNE9MakNnRmVlcWw3clUrNVhKQkpoMmJKbHlNN09SdS9ldlpHVWxJU1ltQmdzVzdZTUZ5OWVSS3RXcldUYVkyMXR6ZjRkMElDWHFrdmV2SWtvYktWdnZwb0I0MzdyOWwxdVZIUU16RHAzcXNLWm4wOWUzK0pUYzQ1SWxFMFdXdHVvcXFvcUhEVDdGRlZaQ2x2Kzg2MHl5dWpYUlQ2THdYODN2VUVJUkFSazQ1czNrZFdTUk5UVDA1TU4rclp1M1lxdFc3Y0NwVXZMblp5Y2dOSU14UklIRGh6QXRXdlhGQzZITDJ2YXRHbTRldlVxOXU3ZGk4MmJOOHNNT0lTR2htTGV2SGs0ZE9nUVc4ZFpvbnl0WDVRT0FDbmk0K09EMDZkUFF5UVNZYzJhTlhMTEpZMGRPeGE5ZXZXQ241OGZIajU4aVBuejUxZHBtMmQrZmo2Y25KelF2MzkvOW5lenZpNXZydE1CTHdDSWkwVC9xdWd3L2dEejdlNjkrM0hzNEo5MWFyYXhMdUJ5dVRMTEpxQmd5VVJ0eHVQeDhOZmhveDhlTUNSSUtPTDhwK3cyVWZXWG5wNGVPMHJLNC9IZzRlR0IzcjE3eXcyWUpHVWt0TFcxMlg5ck1URXhNREV4WWI5OHZ2MzJXMXkrZkJtQmdZRnNrRmRTVW9LUWtCQzBhTkVDU1VsSnlNek1oSUdCQVZBYVJLTTBSd0JLRTJ5Y09IRUN6WnMzaDdPek01bzJiY3ErLytuVHAvSFhYMzloOCtiTk9IWHFsRlRiWW1Oak1XclVLR3phdEVucStLWk5tNUNibXdzN096dXBJUFB5NWN2WXRXdVh6RDJlT1hNR0tLMlBXZmJ6NU4yN2R4LzVrNjNhdFQ3MWZtTmlZakJpeEFnY1BYb1VYQzRYaEJCczJMQUJOMjdjZ0llSEIxYXRXaVhUSGlNakl4Z2JHN01aV0NtcUxoRVZ2THZPMFdsOEgyQUdiOW5oaURNbm5HcWswNnVvYjBFcFQwMzM2NHFMaS9IN24yejVuTWVpQXZITmlzK291cEVqUjZKMzc5NllPM2N1WnMrZWpXKy8vUmEvL2ZZYnJLMnRNWGJzV0V5ZE9oWDI5dmF3dExTRW5aMGRCZzhlakxGang4cnN3WlduWWNPR1dMWnNHVFp0Mm9TWk0yZWlkZXZXMWRWc1ZrNU9Eclp0MjRiNzkrL0QydG9hNjlldmg1R1JrZHpYU2daNlhyeDRBUzZYaTFtelpyRUQ2OEhCd2RpL2Z6LzI3OTh2aytYNzVjdVhjSEp5UXQrK2ZldlUxc1JQVWVjM0c2V21QbnRQeE9ROENDa0pEWS9FSXovL0tweEZmWTBDZ2tJUUZCSUdBQUpHVER4UzQ4TXpsTjBtcXY1NjkrNGRtNUJ1MEtCQnlNN094dTNidDlsamtqOC8vZlFUK3lXVW1aa0psQzdGc3JXMWhhT2pJM3U5bmoxN1FrMU5EWUdCZ2V5eGtKQVFsSlNVc0psRnk4N3lCZ2NIbzBtVEp1alE0Y09xRjBuOVJUczdPNm5nRHdDbVQ1K09WcTFhSVRJeVVxWXVvRmdzbGxtbUhCMGRqZWpvYUhUbzBBRS8vL3l6MUhNVEowNkVoWVhzOWhKSjhpNUorU1dKVHlublU1VnJmZXI5Y3JsY3JGNjltdDN6eHpBTUc5REh4Y1VwYkpPaG9TSGV2bjM3MGZkQ1VjcVdtcHJLRTRseGloQVVSejZMd2QxN0Q1VGRKT29yOGZDeFA4SWpvZ0JDU2tESWhkVFVaem5WZFcwZEhSMlltSmlBdytIQXdNQUFKaVltVUZkWGg3NitQanZ6Yldob0NCTVRFNmlxcXFKeDQ4WXl5WjRxTW16WU1LaXFxc3I5WHBja2habzNiNTdNYy9JeUs4c1RGaGFHKy9mdlk5bXlaVGgwNkpEQ1lMZXN0TFEwR0JrWlNhMGkwOURRUUZKU0VoWXZYb3pjM0Z5cDF4Y1ZGUUgxZUZhM3JEby93d3RBVElDYkFGWVVGQlNZbm5PL2pCNVdsdEFyczhlTm9nb0xDM0h4c2hmZTVlUUFRSVpBS1BJQ0lLNzhUSXI2TkRvNk9qaHc0QUF5TWpLd2VmTm0yTmpZd05qWUdBY09ITUN1WGJ2WVpWUHE2dXBvMnJRcFZGUlUyS1JWMTY1ZFEzWjJ0bFN4ZWcwTkRYVHYzaDErZm43SXlzcENreVpONE9mbmg0WU5HMkxTcEVrNGZ2dzRuajU5aXRHalI2T29xSWlkbVpVc3RZcUlpQUNIdzVGYnk1YkQ0YUI3OSs1NCtmSWw0dUxpMExadFcvYTVwazJiU3UzZGwxd0xwWHVJNU8wZDY5aXhvMHc1cGxHalJ1SFlzV09ZUFhzMnBrMmJodkhqeDBOZlgvK1RmclpWdWRhbjNtL3o1czFsOWk5Sk9rR1NmVi95Nk92clZ6bnBDRVhWTWtRa0l2YzRYTVR3K1h5cnN4Y3VvVmZQSGpCb1Vubk5WNHI2Vk85emMrSCt0d2NLQ2d0QmdCY2xmUDROQUtTNjMwY2dFTWl0Wnk4U2lUNHJhN2VhbWhvTURBeVFsNWVITld2V1NEMlhrcElDVjFkWHpKdzVVK2I3czJQSGpnZ05EY1hTcFVzcnZMNWtQKzZ4WThmZzdPeXM4SFVUSmt4Z1Z4NmxwYVhKdkYrWExsMndjK2RPMk52Ylk4bVNKVGg2OUNpMHRiV0IwcjR4QUpxMHFxNTRHUmZ4b21WSDgxMGN3cmc4OFE5UThmam5HdWJPbktic1psRzFpTmZWLzNESDl6NElnVWdzRm0xUGZmNHNVZGx0b3VvM1ZWVlY5T2pSQTdhMnRtaldyQm1XTGwyS3lNaElDQVFDZE8zYVZXYVBsTEd4TVo0L2Z3NGVqd2NYRnhjTUhUcFVLaEJENmZKa1B6OC9CQVVGWWNTSUVYank1QW42OWVzSExwZUxuajE3NHVuVHB5Q0V5T3pmRllsRUtDZ29nSUdCZ2NKc3BaTDJGQlJJYjJzdnZ3UUtaWllPbDAzNlZQN2V5NXMzYng2MHRMVGc2dXFLSTBlTzRQang0eGc3ZGl5V0wxL09mdmxXVldYWCtwejdsZGNXeVRhWjh2VXV5K0p3T0NDazJ2dHFGRlVqMGhJalVsdDBNTitqd21IY1FzSWlWQzU1ZUdISmdubktiaFpWai8zdGVRV1AvWjZXOXN2SXJvd1hNUysveFBzVUZSWEo3R2NWQ29XZm5KMVlVbVVoSXlNRFdWbFowTlhWeFpneFkrRHM3SXpPblR1alg3OStDQTBOaGF1cksvcjM3NDgyYmRyZ3hvMGJiRzFlbEs0Y0tsdXlTcDZrcENSY3UzWU5vMGVQcm5DcGVjZU9IWUhTZkJzWkdSbHk2elVQR0RBQXExZXZ4cFVyVjFCU1VzSit6MG0rLzJqQVc0ZThpbzA0YjlMUllvQkFJSmo5MStGak1PdlNDYjE3ZEZkMnM2aGFJRFFzQW52Mkg0UkFJQUFoNVB5citNaFRWVGlOb2o3Ym8wZVA4UERoUTh5WU1RTmhZV0dJajQ4SFNoTmE2SmJXdTlUWDEwZUhEaDFnYW1xS21KZ1luRHg1RXUvZXZjT2lSWXRrcnZmdHQ5OWk3OTY5Q0F3TWhLV2xKVjY4ZUlINTgrY0RBUHIwNlFNZkh4OGtKQ1FnS0NnSUhBNkhyWEdwb3FJQ2RYVjE1T1RrUUNRU3lSM3R6c3JLQWtyM0pwVWxyOHlPcERhalpPOXhlZkwyNVhJNEhFeWRPaFVUSjA3RXJWdTNjUHIwYVhoNGVDQTVPUm5IangrdndrK3o2dGY2blB2OVZEazVPWjg4WTAxUnRVRktmTVJsazA3bUE0UkM0Y0pqSjA3QjBxSXIrdmFoU2RpbzZoY1lGSUtEVHM0UUNJVmdDRTYraW8rNDhDWGVKeXNyQ3lLUlNHYlZqdVR6LzFNK3MrL2V2UXMzTnpjSUJBS29xcXBpeUpBaGlJcUt3dEdqUjdGeTVVbzJiNGJFbzBlUHNIMzdkc1RFeEdEdDJyVmdHQVpHUmthWU1XTkdoZS9qNit1TGE5ZXVZZGl3WWVqUm8wZWw3WHIzN2gzNGZENXljbkp3OWVwVm1lYzFORFF3WWNJRVBINzhtRDBXR1JrSmxPYjh5TWpJZ0tXbFpiM2RWMTl2QWw0QWdrS2VZSjFXQTdVK2VmbjVIVmV1WHNlY1B1R0VkbTFhVnltdFBWWC9FRUtRL1BJVlZxL2JpTHk4ZkFJZ25vakZtd0VJbE4wMjZ1dVFrWkVCYlcxdGVIcDZ3dFBURTBLaEVBQ3diZHMyOW5PcGI5KysyTFZyRnl3c0xIRGd3QUhFeGNWaC92ejVhTm15cGN6MVdyUm9nZWJObXlNb0tBaG1abWJnY0Roc2htQkpjT3Z2NzQvZzRHQ1ltNXRMWlp2czNMa3pRa05EOGZUcFU1bGx2bUt4bUUyNFpHNXVYdWw5U2ZZL0JRY0hZL2JzMlZMUENZVkNtZVhNWmFtcnEyUE1tREVZUG53NEprMmFoT0RnWUx4Ky9icEsrNU0rNWxyVmViOVZrWm1aV2FjeTFsT1VITUtDekpKZnRadG85TXN2S0RCYnZHSTFjK0hNQ1hUc1VMWHlRQlJWR1VJSUVwTmVZTVhxdGNqUHp5Y0Fvb3Y0b3ZWZnFsK1dtSmdJRG9jamsxUXFLU2tKR2hvYU1zdC9BY0RaMmJuQzMvYytmZnBBVFUwTkRSbzB3TkNoUTlHc1dUUE1uRGtUN2RxMWsxc1BlY2lRSVZpNWNpWDI3ZHNIc1ZnTUJ3ZUhML0x2U2JKRTI4L1BEMzUrZmxVK0I2V0pIQUZndzRZTk5PQ3RDektUbzk4MmFHL3hxNG9LWE4rOHpUVFlzc01SdTdkdFF2Tm14c3B1R3FVRW1abFoyTHJ6ZDd4NCtRb0FrMGZFWk8ycmhNaGtaYmVMK25wTW1qUkpxb1JBVUZBUUZpeFlBRTlQVDVuZ3FGdTNiaEFLaFdqZnZqMDc4c3ZqOGZEczJUTllXVm14WDVEZmZ2c3QzTjNkNGVQakF3c0xDM2FtMk5qWUdDMWF0RUJBUUFCaVkyT3hjT0ZDcWV0UG1USUZvYUdoMkxObkQ0NGZQODVtYzBacHplRGs1R1I4Ly8zM2Nqc0E1VmxiVzBOTFN3dCtmbjY0ZnYwNlJvNGNDWlFHa24vOTlSZlMwdEpremdrSkNZR1ZsUlg3V0ZWVmxTMnJJWm1CVFU1T1p2Y2hWN1RFcWlyWHFzNzdyVXgyZGpaZXZYb2x0N05EVVhWSlZsWmNnV1lqODVVY0RuTTZMeisvMmNhdHU3QjkwenFZZG1pdjdLWlI5Y0NMNUpmWXRHMFgzcnpOQklCTUlTSDJiMTlFZmJGc2Y0OGZQMGJIamgzWmJTbUVFREFNQTM5L2YzVHUzRmx1NEZsMlJWRDV4SWdvcmNBd2I5Ny9ML2Zmc1dNSG5qOS9EbGRYVjNZTGpXVDdpK1Q2MDZaTlEwRkJBWnlkbmFHcXFpcXo1MWVlNHVKaVFNRXFLM21hTm0wcVU1NndNcXRYcjRhdnJ5OThmWDNyZmVLcWVoWHdBaEMvU2dpL1pXSnF2aE9FN1BNUENJTHQ2blZ3UHJJZit2V3dpREtsMkx0M09WaG05eHRDUXNOQUNJR0lFVzFKaVZmN2x5YXFvcFNodUxnWXVibTViRktxQnc4ZVFDZ1VJaWNuQnpvNk9oZ3hZZ1MyYjk4T2xDYllrT3dGalkrUHh5Ky8vSUlUSjA3QTB0SVNLQlB3QmdRRVlQSGl4Vkx2MDZkUEgzaDVlY25VM3dXQW9VT0hJakF3RUI0ZUhoZzNiaHo2OXUwTERRME54TWJHNHZuejV6QXhNWUdEZzBPVjdrZExTd3QyZG5iWXVuVXJObXpZQUE4UER6UnIxZ3pSMGRISXpjM0YwS0ZEY2Z2MmJhbHo3TzN0MGJScFUxaFlXSURMNVNJOFBCeEpTVWtZUG53NEc0eHUzTGdSejU0OVEzWjJ0c3k5ZmV5MXF2TitLeE1RRUFBQXRBWXZWUitRVi9FUjkwMU1MYmFEZ1ZOb2VBVHMxMjNFYWVjamFFU1g3Rk9mSVN2N0hWYjl0aDVSejJJK2ZNY1JzamsxTHVMT2wwaFVoZElCNDF1M2JtSDY5T200ZS9jdU1qTXo4Zno1YzR3Wk13YmUzdDZZT1hNbW0xY2pQVDBkNnVycUVJdkZ1SDc5T29xTGk1R1ZsWVcwdExRS3Q3M2s1dWJpNmRPbldMUm9FUm8zYm94RGh3NUJWMWNYang0OUFzcFZEbGk0Y0NGS1NrclFxMWN2dWRkS1MwdkRzV1BIb0tlbkJ4VVZGWGg3ZXdPbGc5blZ3ZEhSRVVWRlJkRFIwUUhETUVoS1NvSy92eis2ZCs5ZTc0TmQxTU9BRndBRXlYRVIrMDA2bWpjVWlmRnJTRmk0NXJUWkMzQm8zKzlvMWJKRmxVZEtxTHBKTEJialpVb3FWdjdxZ0lqSUtCQ0NZckdZN0U2Smo5eW43TFpSWDVlMHREVE1tREVEQlFVRjRISzUwTkRRWUQ5L1BEMDlvYTJ0alFZTkdrQkRRd01YTDE1RWJtNHVaczJhaFZPblRtSDc5dTNZdEdrVFFrSkN3T0Z3WUdwcXlsNjNlL2Z1ME5EUUFJL0hrOWtyMUtkUEgvejk5OTlvM0xpeDFEa1M2OWF0UTdkdTNlRGg0WUVuVDU1QUtCU2lXYk5tbURkdkhxWlBuLzVSeWFQR2poMExYVjFkdUxxNklqbzZHa2xKU2VqZHV6ZFdyRmlCYytmT3lieitwNTkrZ3JlM04vNzk5MTl3dVZ5MGF0VUs2OWF0dzlpeFk2WHVMVGs1V2U0eTQ3S2YzVlc1Vm5YZmIwWCsrZWNmTkduU2hGMVdUbEYxbkRBNUx2eW9pYWxGUXhGRUc1NUZ4MnBOK0hrbW5BL3ZSMnVUVm5MM3hGT1VJaUtSQ0M5ZXZzSVMyOVZJU0h3T0FoUVJzWGp6eTdnSXB5LzV2Z2tKQ1NDRVlOeTRjYmgwNlJMKysrOC85T3paRTAyYk5nV2Z6OGZvMGFNeGUvWnNKQ1VsNFp0dnZvRzF0VFU0SEE0T0h6N01scGd6TmpiRzhPSERGYjVIdzRZTjRlN3VEZzBORFJRVUZPRFVxVk1naEVCVFV4TXpac3lRU2V5NFlzVUtoZGZTMHRMQ3paczMyVmxsU2EzZlQ5bnVJNDlJSk1LOWUvZFFVbElDb1ZBSVhWMWRmUGZkZDdDM3Q2K1c2OWQyOVhkVFJydDI2aVljcmNVTWg5a01CcnJ0MnJiQjNKblQ4TC9SbzZDdXJxYnMxbEZmQUovUHg1Vi9yOFAxOURuRUp6NkhtSkFpZ0d6bDUyWWVURTlQTDFKMis3NEdKaDI3RFFSREx1anE2QmdkTzdnUGZYcFZubWloUGlzb0tJQ21waVlickVtV05OKzZkUXVOR2pXQ201c2JqaHc1Z3BZdFcyTHYzcjFvMmJJbEhCMGRjZW5TSmJSbzBRS1ptWm5vMEtFRFRwNDhxZXhiVVJvSEJ3ZmN2SGtUcDA2ZFF0ZXVYWlhkSEJrUkVSR1lQWHMyN096czJIcTkxTWZ4RHdqQ2NydmZrSm1kL1I0RTQ1Smp3KzRwdTAwVUFFREZ4TlQ4RjRaaE5vTmhtcHEwYW9rWk5sUHc4K1FKN0JZQ2lxcElTUWtmN3BjOWNmYjhSU1M5U0FZQnNpRVdiMHNXRlIxRlltTEpsM3h2UWdoNTkrNmQzRnJ2WmZOR0NJVkNxV3orUXFHUXpiY2hXUXBkMDhSaXNkSW42Smg2dG5HL1BzN3dmcENZV0NKczN2d29WN1BSTzNBWXA4VG5TUTIyTys3RmpWdDNzSGpCSFBTd3NsVDZMeE5WUGNSaU1VTERJM0hrdUFzQ2dvSlJXRmdFQWhTQllBay9ML01TRFhZcFphbG9CcEZoR0hDNVhNeWNPUlB6NXMxalMvbXNYcjBhQmdZR2NIZDNoNWFXRnBZdlgxNkRMYTU5WHIxNkJRQnlrM2dwbTFBb3hCOS8vSUUyYmRwZy9Qanh5bTRPUlZVM1VYSkozc2xXR3JwdkdlQk04c3RYbW52Mkg4SnRuM3RZdkdBdWV2ZnFBUzZkN2FYa0VJbEVDQXdPeFpIakxnZ09EVWR4Y1RFSUlZVml3aXppbE9SZFEzTHlGdzEySmVRRnV3Q2taazNMbDY3amNya0t5OW5WRkJxZlZMOTZGYjByMHR6VXpKekxxSndFR0F1R2dRcVh5OFgzQS9wajluUWJkR2pYRnBxYURaUTJpa045R2g2dkJFWEZSWWhQZkk2ejV5N2k5bDFmQ0lVaUVFTEVZQkFoRkFrV3BNWkhCeWk3blYrYkZxWm1QYmdjRlU4dFRhMFdCL2J1d3FDQjN5bTdTVlFkSTBrcWd0S1NDYk5tellLRmhRVmNYVjJWM1RRWmYvMzFGeTVldkFnM056ZVpMS0JVMWQyOTl3RDI2ellpSnljM1cwU0VJMUxpb29LVTNTWktXdk0yM2RwelZZa2J3MkVzQWFpcXFLakF1bmRQeko4OUU1MDdkWUJtQTAwMGFFRDdVVit6WWg0UFJVVkZpSTZOaCt0cE56eDY0aTlabmlzVUUzR1lXQ0NZbmZJOEpxcW0ya05vWWZUUFFtZDQ2NkRVdUtpSWIxcDNHcSt1cnJhUWdCa2pGQW83My9ieGhZL3ZmYlJ2MndhZE9wcWl0VWtyZkdQVUZOcGEydERVYk1EV21hUnFCNzVBZ0tLaUloUVVGT0xOMjdkSWVwR01tTGg0SkNRbXNmc2RDQ0Z4aEdHdUVxSG9hR3BDZEpLeTIvdzFJb1NmQWRLZ21DOFE0RzFtbHJLYlE5VkJVVkZSK091dnY2Q3ZyNDhuVDU2QXkrVmkyYkpseW02V1hPUEhqNGVOalEwdFIvU1ozbVptZ2NjckFZQVNRdmdaeW00UEpTczFLU3loaGFucE9LNVlZeTVoTUVra0VuVjk5TVFmajU3NG8xM2JOdWhrMmdGdFdyZkNOMFpHME5IV2hxYVdKdFJwUDZwZUsrSHpVVlJVaE1LQ1FxUy9mbzJrRjhtSWpVdEF3dk1rTnZFaUFhSkI4TGRBSUhaSmZ4NlRVcFB0KzlpQXpkemN2QStYeS9VaWhHZ1FRc2FGaGRHdEZmWEpWeEh3QWtER2k1aVhhTmR1Y3d0b25HQzRLa000d0M5aXNkZ3FMaUVSY1FtSllCaWdnVVlEY0ZXNTRLcHc2WEtDV2taTXhCLzJWUWlFS09ieFVIYmdqaENFRXdiT0lqN2puY29wZVBXbDk0VlFpcVhHeDc4eDZXaFJLQkFJRUJNWER4NlBSMWRQVUI5RlIwY0hxYW1waUlxS1FvY09IYkI0OFdJMlEzVnQwN3g1YzJVM29jN2o4d1dJam8xRFNVa0pBRktTR2gvL1J0bHRvdVJMaVl0TEI3cnZOdWtvT2lzV2swRWNZQTQ0VEwvRTUwbElmUDVoakxsQmd3WlFMVjBTU3Z0UjladFlMR2IzdXhhVmx0Q1JJSVQ0aTRGVFJDaTZrNUlvVGdHaStVcHJLRVY5VFFFdjhHRmZid3J3SEIvK0hHdmVwbU5YRlZYMXlReUgrUTZFdEM0c0xsSmppaGdWd2hBT3dOQlA2bHFGaUJuQ2lNRVFFUUMrV0l5WEhJWThnRmgwS1RuK1diaXlXMGV4aENEaWl3UWNpeXYvWHVjTUdUUVFQYXk2UVVOZC9Zc1VXcWZxSHhNVEU5eTRjVVBaemFDK01FSUlTa3BLOEN3bURsNVgvb1ZZTEJZRDVEUUFvYkxiUmxVa1dKQWNpMlFBcmdCY1c3UXphNnZDNVV3bkRQTXRCMHo3b3VJaU5ZWXdYTnFQK2hwODZKY1Job2dZZ0UvRVNDUVFQeEl5SExlMDJQQjRaYmVPb3NxaVBkQlNUWnFZNm1nMDVCcHlPVVNicUhBMEdYRHBXcHhhaEVESUY0ckVSWXlZS1NoaVN0NitTMHpNVTNhYktQbU1qWTAxMVhTYjNtQVlmS2VycTRQdnYrc1BDM016TkRQK0JqclZWQWFHb3FpNks3K2dBR2xwNlloOEZnMmZldytSbDVjSE1TR1BCWG1adzJpU3dickwwTkJjUzAxSGJNVGxFRzB4aDZQSlFJV21jcTdIQ0VRbFFyRzRpQkdoc0NTUHZNN01qQzVRZHBzK0IxM1NYTC9SZ0plaXFHcG5iR3B1cWdybUJNT2dMOE13SERWVlZXaHFhaW85OHlGRlVjb25FQXBRVkZRTWdVRHdJYkVNd1NNaFJFdFQ0NklpbE4wMmlxSytUalRncmQ5bzc1T2lxR3FYSGhjUnA5K216WSs2YWpyYkdaQ3hKUUsrYWttdVFCVUFyV0ZCVVpRSUlBSUdFQkNHM01vWEZ0blJWVHNVUlZIVWwwSURYb3Fpdm9pY3BLVGNIR0NaZ1VIbnRacU51QVppSW15aXdsSFZVbmE3S0lwU0xxR1lGS2t3SkxQd25UQ3pyaStEcENpS29tby9HdkJTRlBWRlpXWkdGeUFUQlFCZUtMc3RGRVZSRkVWUjFOZUZadENqS0lxaUtJcWlLSXBFa2tvN0FBQWdBRWxFUVZTaTZpVWE4RklVUlZFVVJWRVVSVkgxRWcxNEtZcWlLSXFpS0lxaVBwS0ppWWxHNTg2ZFc5TEtON1ViM2NOTFVSUkZVUlJGVVJUMWtSbzNidHlVRUhLcVc3ZHVlb1FRVjZGUWVQN1pzMmZ2bE4wdVNob05lQ21Lb2lpS29paUtvajZTU0NUaWNEaWNCaHdPeHhMQVFRNkhzOHZTMHZJQmdGdENvVENRRUpJVUZSWDFSdG50L05yUmdKZWlLSXFpS0lxaUtPb3pNUXlqRFdBa2dPRmNMamNEUUd5M2J0MENHWWJ4Q1EwTnZROUFxT3cyZm8xb3dFdFJGRVZSRkVWUkZQV1JHSVloWlI4VHdqNVVZUmltT1lEbURNTU1BYkRXMHRLeWdCRGlMQktKRGtWR1JpWXBwY0ZmS1Jyd1VoUkZVUlJGVVJUMTFXTVloZ09nWmRldVhUdFc4WlJtaEpBR0RNTkl6Z2RLQTk4eXdTOFloZ0hETU5vTXc2emtjRGpMTEMwdFF4aUd1U29XaThNQVBBc0xDMHNCSVBvaU4wWFJqR0lVUlZFVVJWRVVSWDI5ek0zTiszQzVYQzhBQmdEU0FCUlY4VlJWQU1ZQUdzaDdVaEwwTWd3ajlmK2x6eEdHWVVvSUlYRUFJc1JpOFcyR1lhNkZoWVc5cjY3N29qNmdNN3dVUlZFVVJWRVVSWDIxR0laNVJ3amhNUXlqQXFCbE5WNVg1aGdoUkRManl3RFFZQmpHQWtCekRvZnpYaUFRM0FOQUE5NXFSbWQ0S1lxaUtJcWlLSXI2bW5Fc0xTMnRDQ0hOUCtZa1FraFRGUldWVlFCTXl4MlhlVzNabVYwQWJ4bUdpU2FFeERNTTgxOWVYdDc5eE1URXZNKytDMG91R3ZCU0ZFVlJGRVZSRkVWOXBHN2R1cGx3T0p3TEFQcWc4a0JYQU9BQkllUWFJU1NZeStVK0R3NE9mZ05BWFBNdC83clFKYzBVUlZFVVJWRVVSVkdmb2R4K1hjSXdqSkFRd2llRVBBZHdKaVVsNVhoV1ZsYStzdHY1TmFJQkwwVlJGRVZSRkVWUjFHY29EWFQ1QUY0QWlCV0pSSDRjRHNjbk5EUTBsR1pnVmk0YThGSVVSVkVVUlZFVVJYMjZERUxJVmJGWS9DK0FlQjZQbHhFWEYwZG5jeW1Lb2lpS29paUtvcWk2cVhQbnp0cG1abWJtQURqS2JndEZVUlJGVVJSRlVSUkZVUlJGVVJSRlVSUkZVUlJGMVgyMExCRkZVUlJGVVJSRlViVUtrVmZqaDZwV2pLUm1VajFIMTV0VEZFVlJGRVZSRkVWUjlSSU5lQ21Lb2lpS29paUtvcWg2aVFhOEZFVlJGRVZSRkVWUlZMMUVBMTZLb2lpS29paUtvcjU2YVdscHltNEM5UVZ3bGQwQWlxSW9pcUlvaXFJb2VZUkNJWHIzN2cwN096dlkyTml3eDBORFE4SG44eXM4dDJuVHBtamR1bldWM3VmTW1UTTRlUEFnM056Y1lHcHErdG50cG1vUEd2QlNGRVZSRkVWUkZGV25yRjI3RmprNU9lQnk1WWN6SlNVbEdETm1ERFp1M0ZpbDY0MGNPUkxIangvSHJsMjdjUExrU2RTV0JNYUZoWVhRMHRKU2RqUHFOQnJ3VWhSRlVSUkZVUlJWNTh5ZlB4L3o1czJUKzl5Y09YT2tIcWVscFNFOFBMekM2M1h1M0JsOFBoL1hybDFUR0VpcnFhbGh5SkFobjlIcXFrbE9Uc2FhTld0Z1ptYUdEUnMyZlBIM3E4OW93RXRSRkVWUkZFVlJWSzN5OXUxYmhJYUdRaXdXQXdCaVkyTng2OVl0TkdqUUFOOTk5eDBBSURVMUZVK2ZQcFY3ZmtGQmdkVGo4UER3S2dlT2taR1JDcDlyMkxCaGpRUzhXVmxaU0V4TVJKY3VYYjc0ZTlWM05PQ2xLSXFpS0lxaUtLcFdpWXVMdzlhdFc5bkh0MjdkZ28rUEQ3NzU1aHMyNEwxMTZ4WjhmWDNsbmw5VVZBUXpNelAyOGJCaHd6Qnc0RUNaMXhGQ0ZDNWY1dlA1VUZOVGt6cFdXNVk2Znc2eFdBd09oK1l1cGlpS29paUtvaWlLVWdwU1NpQVFFQ3NySzNMdTNEbFMxdkRodzRtenN6TlJaUGJzMldUTGxpMEtueWVFRUI4Zkh6Smx5aFNTa3BJaTg5eWVQWHZJbENsVFNGcGFXb1hYeU16TUpOdTJiU1BEaGcwanZYcjFJbVBIamlYT3pzNUVJQkJJdlc3aXhJbkV5c3FLOEhnOGN2SGlSVEorL0hqU3UzZHZNbnIwYU9MdTdzNitMaTh2ajFoWldjbjlFeEVSd2I2T3grTVJaMmRuOHIvLy9ZLzA2dFdMREIwNmxHemJ0bzFrWjJkTHZlL3UzYnVKbFpVVmVmejRNVGw3OWl3Wk9uUW9zYkt5SW5sNWVVVFpmOGMxaGM3d1VoUkZVUlJGVVJSVjU4VEV4TURMeTB2dWM5bloyVEF4TVZGNHJyZTNOOWF2WDQ4MmJkcklUUW8xZE9oUTNMeDVFOU9tVFlPam95TjY5dXdwODVyVTFGVE1uVHNYV1ZsWnNMYTJSdlBtelJFYUdnb25KeWNrSmlaaTkrN2RNdWNjUG53WS8vMzNIM3IxNmdWalkyTThlZklFdi8vK083UzB0UERqano5Q1ZWVVZreWRQeHR1M2IzSHYzajIwYnQyYWZlL0dqUnNEcFRQUFM1WXNRV2hvS0RwMDZJRHg0OGNqT1RrWlhsNWVDQW9LZ3B1Ykc3UzF0YVhlMTlmWEYzZnUzTUdRSVVQdy92MzdlakZUVFZFVVJWRVVSVkVVVlNkSlppZ2xNN3h1Ym03RTE5ZVh1TGk0c0RPOGd3Y1BKaE1uVHBUN3AyL2Z2Z3BuZUs5Y3VVSjY5T2hCYkd4c1NFNU9qc0xaMjdTME5ESisvSGpTczJkUDR1SGhJZlA4ekpremlaV1ZGYmwxNnhaN1RDQVFrR1hMbGhFckt5dmk1K2NuTThNN2FkSWtxVmxZRHc4UFltVmxSV3hzYktTdUhSZ1lTS3lzck9UZXc4R0RCNG1WbFJYWnZYczNFWWxFN0hFWEZ4ZGlaV1ZGRGgwNkpEUEQyNzkvZi9MaXhRdXA2eWo3NzVpaUtJcWlLSXFpS09xckpBbktNakl5aUpXVkZiRzJ0aWI5Ky9kbkE5N3c4SENTbnA2dU1GaU5pWW1SQ2ZBRUFnRnhkSFFrVmxaV1pQYnMyZVRCZ3dmazExOS9KVUtoVU9aOGQzZDNNbmZ1WEpLWW1FaG16NTVOckt5c3lJRURCOWpuSXlNamlaV1ZGVm0xYXBYTXVmNysvbXhBS2lFSmVCODhlQ0RUcHUrKys0NzA2TkZES25oVkZQQUtCQUxTdjM5L01uandZTUxuODZXZUt5a3BJVDE2OUNBVEowNWtqMGtDWG5tQnM3TC9qbXNLWGRKTVVSUkZVUlJGVVZTdGtwS1NndVBIajhQYjJ4c0FNR0xFQ0t4ZXZScXVycTdvMTYvZlIxM3J6ei8vUkk4ZVBiQjQ4V0lFQndkajFLaFJXTDkrUFI0K2ZJZzdkKzdBMnRvYS8vdmYvOWpYQ3dRQ25EMTdGdXJxNm1qZHVqV09IRGtDT3pzN25ENTlHdWJtNWhnNGNDQWlJaUtBMHVSWWh3OGZsbnEvM054Y29IVEpjM25sc3k1enVWd1lHUmtoOGYvWXUrLzRLT3I4ZitDdjk4eHNzZ2trSUVLb2FzUWdrSVBOekVSRmJNQXBjR2RCRHl5bklwNFZGUkFMQ1BZQ1lzTXUwb1FERWU3MDd2UUVsYStJSUtLQTZNNXNsaGhBQVNuaGtJNGtoQ1M3TysvZkgxdCttd1pKQUJQQysvbDQrTWpPWno1dEVrbjJ2WisyYmgyS2lvb3FURVV1Yi8zNjlUaHc0QUNhTld1R0tWT21WTGlma0pDQXJWdTNWa2pQeXNvNjdQZXBvWktBVndnaGhCQkNDRkd2ZlAvOTkvanFxNjl3MTExMzRhMjMza0pHUmdhU2twTHdwei85Q1ptWm1SWHl6NXc1RXdVRkJSZzZkR2lGZXgwNmRJQ3FxdWpkdXplNmQrK09XMjY1QlFEd3h6LytFV2VlZVNZbVRacUUzcjE3eDlieS91TWYvOEMyYmR2dzRvc3ZRbEVVdU4xdXZQcnFxL2pzczg5aU96M3YyN2NQQUxCeTVVcXNYTG15MG1jb0tTbXBrRmJaZW1HMzJ3MUVkb3crbkdnd3ZXWExGa3lmUHYydythT2k2MzlQUkJMd0NpR0VFRUlJSWVxVmJ0MjY0YU9QUGtMVHBrM3gxbHR2eGRMUE9PTU1uSEhHR2JqNTVwdlJ0MjlmM0hERERRQ0F6ejc3RElxaW9GZXZYbFhXZWMwMTE1UzVKaUtNR2pVS3Q5OStPeDUvL0hHOC9QTEwyTFJwRXlaTm1vUnUzYnJoNG9zdmp1Vk5TRWdvTXdxY25Kd01BQmcrZkRnR0RScDBWSi85VUpLU2tnQUE1NTkvUHQ1NDQ0MXFsenVSanlHU2dGY0lJWVFRUWdoUnI3UnQyeFlBRUF3R0s5emJ0MjhmY25Oek1XREFnRExwaFlXRitPNjc3OHFrdFc3ZEdxZWVlbXFWN2VpNmpwdHZ2aGt6WnN6QXl5Ky9qRysrK1FadXR4dFBQZlhVSWZ2WG9VTUhBSUJsV2NjazRJM3VvdXc0VHBuMDl1M2JRMUVVNU9YbG9hU2tCSW1KaVVlOTdZYm14QTMxaFJCQ0NDR0VFTWNkeTdLQXVLQTRhc09HRFhqZ2dRZksvRGR2M3J6RDFqZGt5QkNjZSs2NStNYy8vb0V0VzdiZ3BaZGVRbHBhMmlITG5IUE9PV2pldkRtV0xsMksrZlBubDduSHpMRzF4N1YxMGtrbkFRQTJiZHBVSnIxUm8wYm8wYU1IOXU3ZGkxZGZmYlhDQndLclY2L0dsaTFianFqdGhrWkdlSVVRUWdnaGhCREhqV2dRKzk1NzcwSFhkYWlxQ2dEd2VEdzFXdGVLeUtaVDc3NzdMcnhlTDF3dUZ3S0JBRjU5OVZXTUhqMGFYYnAwcWJLY3krWEM0NDgvamdjZmZCQ1BQZllZUHZqZ0EzVG8wQUdCUUFDV1pTRS9QeDk5K3ZTcDlUT2VldXFwYU5teUpmeCtQNFlORzRhbVRadGk0TUNCNk5peEkwYU1HSUZWcTFiaFgvLzZGMWFzV0FGZDE1R1ltSWcxYTlZZ056Y1hreWRQeGltbm5GTHJ0aHNhR2VFVlFnZ2hoQkJDSEJlOFhpKysvdnByL1BHUGYwUk9UZzRlZU9BQjdONjl1OGIxNU9mblk4S0VDYmowMGtzeGRlcFVkT3ZXRFhQbnpzVnp6ejJIYmR1MjRlYWJiOGFkZDk2SmhRc1g0dURCZzVYV2NjRUZGMkRhdEdtNDhNSUxzWEhqUnN5Yk53K1daYUZqeDQ2WU5tM2FFVDJucG1sNDRZVVgwTGx6Wi96d3d3K3dMQ3MyZmJsVnExYVlOV3NXK3ZmdmorTGlZc3lmUHg5ZmYvMDEzRzQzbm4zMldSaUdjVVJ0TnpSVTF4MFFRZ2doaEJCQ2lIZy8vZlFUZi9QTk45aXlaUXMrL3ZoalBQUE1NOGpPenNadHQ5MkdRQ0NBRHovOEVKczJiY0xvMGFPeGUvZHVKQ1VsSVRVMUZVT0hEb1hMNVlMak9BaUZRaWdwS2NHWlo1NkpqSXdNckYrL0hzdVdMY09pUll0aXh3cGxaMmRqOE9EQnlNN09qclZkV0ZpSU9YUG1ZUGJzMlNnc0xFUkNRZ0xPUHZ0czZMcU9ybDI3NHV5eno2N0Q3OHpSUTlHRndnM2NDZkdRUWdnaGhCQkNpT1BIdDk5K3l5Tkhqb1NtYWVqWXNTTmVlZVVWekpvMUN4OTg4QUVtVHB5SVRwMDZBUUNLaTRzeGI5NDhmUFhWVjlpOGVUUDI3dDJMWURBWUMzZ0I0SjEzM29HaUtMajExbHNCQU0yYU5VUGZ2bjNSdjM5L3RHL2Z2c28rRkJjWFkrSENoWmczYng1czIwWW9GTUtnUVlNd2ZQanczK203Y0d4SndDdUVFRUlJSVlRUWRZQ3JPSlIyLy83OVNFMU5yWFk5anVQRWp1U1pPM2N1VGpubEZHUmxaZFg0bUo2Q2dnSjg5OTEzNk5HakIxd3VWNDNLMWxjUzhBb2hoQkJDQ0NGRUhhZ3E0QlZIejRrUzhNcW1WVUlJSVlRUVFnZ2hoQkJDQ0NHRUVFSUlJWVFRUWdnaGhCQkNDQ0dFRUVJSUlZUVFRZ2doaEJCQ0NDR0VFRUlJSVlRUVFnZ2hoQkJDQ0NHRUVFSUlJWVFRUW9palJLM3FobUVZWjVtbWVXZjVkTk0wNzh2S3lqS09lYy9LMFhVOVBUczcrNHhqM1laaEdDMk9aUnRDQ0NHRUVDY0tPWWRYQ0ZGbjB0UFQzWVpoTE5GMS9lRXFzdnlKbVYrcEpQMVZWVlY3SE9QdWxlSHhlTm9SMFZwbUhuVXMyeUdpZDRobzBiRnNRd2doaEJEaVJFRjEzUUVoUk9XNmRPbHlodU00Z2J5OHZNMTEzWmRqaUV6VGZCUEFFR2FleWN6M0tZcHlRZHo5NndCY0RlQ2FjdVhtQVpnS1lHNDBZY2VPSFYvbTUrY2Z6TXJLK29PaUtQY0JPSStJVGdId1AyWmVjUERnd2FmWHJGbXp1N1lkTlF4aktoSGR6c3dqQUd5cVRobkhjWDdOeWNuNUJ1R1JXeDNBSlZWa1hlanorWHhaV1ZtR3Fxb1dnQW1PNC95N2t2clcrZjMrL05vK2d4QkNDQ0hFaVVhcjZ3NElJU3FuYWRxRmlxSzhiWnJtMTh3OEU4Q1NrcEtTL1hsNWVZVjEzYmVqaUMzTEdtb1l4bDRBOXdQNENNQi9LOGszcjVLME95TC9BUUNhTjI5K2VuNSsva1pWVlJjeXN4dkFsd0MrQTlDZGlJWWxKU1Zkb2V1NjRmUDU5dFcwazFsWldiMEEzSWJ3Q096NDZwWlRWZlVqQU44QWdLSW9GekR6c3dCK0pxSlRBWlF5ODY4QU1vaW9HSUJQVVpTUmthSkRGRVVaVXI0K1JWSHVCL0JhVGZzdmhCQkNDSEdpa29CWGlQb3RDVUJmSXVvTDROZkV4TVNWdXE2dklLS1ZCUVVGMzY5YnQyNS9YWGZ3YUxCdCsvSHM3T3lwWHE5M2Mvek1FOE13SGdNdzJyYnR4dkg1VGROa0FQZGJsbFVoK0dQbXZ4Y1VGRHdmOTcxUlRkT2NUVVRYTWZQdEFLb2RzQ0t5cHBhSS9nbmdlOGR4K3BhV2xnYmRidmVOQUNhRlFxRnVnVUFnVDlPME16Vk44ekx6elNVbEpSOENRR0ppNG5vaStpMitMaUw2eGJLc0xxWnBmc0xNYTJ6YkhtRVlSbTdrV2JzRHVJNlo1NVdVbE53UVg4N3RkazlqNXFzQUxLaEozNFVRUWdnaFRuVEhSY0Rib2tWbTQrUm1XZ3VIUTgxVnhkV29ydnNqS2dvNlhLUVM3enl3dTJUWHJsMXJDK3E2UHcxVUt5THFSMFNYTXZQdWxKU1VyWVpoZkJFS2hUN3crLzArQUU1ZGQ3Q1dOQURCU0xCYkJoSDl5TXdWcHZZeTgwekhjZklxcTh5MjdVZktKWVdZZVNvUlhhY29Tb2VhZE13d2pOTUFmRUZFS2hGZDQvVjY5MlZuWjd1WStYNW1YcEtUazdNeWtxODNnR0FvRlBxLzZBaThZUmhOSGNmWlc4Mm1OQ0thek16L0k2SXJFaElTc253KzM3ZVJlaTRCY0MyQU1iWnRWL3JNUWdnaGhCQ2ljdlU2NEcyUm1kbTRrYU05UXFBclFPUldtTnhNWEsvN2ZLSnlLUWlDbE9MR0xkd2xqWnRuTFRpZ0JKN1kyYkNtM3RZRlJqaTRLNSt1QVdoSlJDMEJtSnFtalRBTUl3ZkFiQ0thUzBRN3ZWNXZ3ZkVRQUJ1R01acUlMbVBtL3JadDcvUjRQS2RybW1iSDV5RWltS1paWVJxeXFxcFhtYVladXk0cEtXbi80NDgvN3FtaXFaTVEvbDV1cVVuL21Qa09JbW9XREFaNysvMyt6UWl2bzMyYmlObzdqak1JQU5xMWE1Y0VZQ2lBZVg2L2Z3ZkNHMXcxSXFJRUFGWDFwN3lCQURLSnFCdUFoeFJGbWFicitybk0zQWpBMzVrNXA2Q2c0Tm1hOUYwSUlZUVFRdFRqZ0xkdGhxZWR5NkZwQUM0QmthS3BLaElTRTZDcVZaNWdJdXBRS09TZ3BLUUVvVkFJRE83Y3lISDl3WjNSNVo0dDYzTFgxM1hmZmkrWm1aa0ptcVoxVVJRbDlXalVSMFNkeTEyWENYN2pYcXRFWkFJd0FUemhPSTZ0Ni9wS1JWRldoVUtoeFRrNU9WdVBSbitPQlNMNkJVQjNBTjkxN2RyMWttQXd1RVBUdEtIbHN2MmRtYWNSMFRjSVAvZFZBQzRpb2dmaU01V1VsQnlvckkzTXpNd0VBQ09adVNRWURNNnBTZjk4UHQ5VHVxN1A5UHY5UHdOUVROTjhBY0R0anVPTWpJN3VObS9lL0ZraWFzM01UOGNWUFNueXRWcWJaREh6SEdaKzFlZnplVDBlenpCVlZiMktvdndIUUhNQURqTmZ1bTdkdXBLYTlGMElJWVFRUXRUVGdMZE5tK3hrelJXY1FhQ0xYUzRYTHU1NUVjNDVPeHR0VzdkQ1NrcEtYWGRQVktMd3dBSGs1MitGMS9aaHdaZGZLWUZBb0krcWFkTmJ0dlJjdW4yN3Y5SkFwS0ZKVEV6OEt4R05BWkJ3Tk9wajVxVHlhVVFVZjcvQ2F5SnFRa1E5QWZRRXNGOVYxVzI2cmk5bjVuOGVPSERncS9vV05GbVc5YjVoR0lrQVptaWF0b1NJT2xtVzlWNThIdE0wWndENE5wcHVtbVlHQUtOOHZzcDA3Tmd4eGUxMi80dVp6eWFpMjFhdFdyV2hobDBNK255K243T3pzMXM3ampNOWNrelNNejZmYnp6Q0k5UzNFZEg5ekR6V3R1MmN1SEp0STE5M1ZxY1JJaXExYlhzMkFQajkvaDJtYVQ0QllEckNJOHBYK1h5Ky85V3czMElJSVlRUW9yNEd2SzZVMFAzRTZPVk9jdU9aeDBlajl4OTdJVFUxcGN5YmZWSC9NRFA2WDNrRit2YStHQ01mZVFMRnhTVVh1SnZpWVd6SFkzWGR0OTlKZHdDbk1uTUpnSU5Ib2I1YS8vdU1qQVluQW1nYUdYMU1EZ2FEOWZJZmtHM2I3K3E2bmtoRXAvcjkvZ082cnA5TlJHZkVaVkVCbkcwWVJnRGgvOCs2QW1oa0dNWmZveGxDb1ZDdTMrL1BqYTgzSXlNanRWR2pSb3NCZUFEY2JGbldyRnAwajB6VGZOaHhuSWVKU0dIbTIyM2Jub1p3NEQyU21WOEE4Ri9idHArTUw2U3E2bDhRM2xVNXQxeDlIU01iYm9HSUxqTk44OEZ5ZlU1czNMang0d0JHQWJBQkpDdUs4bS9ETU40RjhMS3M0UlZDQ0NHRXFKbDZGL0MyYWRNbVdTSCtLNGlVeS83VUczL3Vjd2thTlpKOXFvNEhSSVRVMUJSYzNLc0grbDV5TWVaK09sOGhvcHZhdFd2M2JINSsvdEVJQUk4WDg1aDV3cEZXRXRtWmVYUjhXaVhyZWN1UCtoWVIwU3BtWGdrZ3gzR2NwVGs1T1Q4ZGFWK09OWi9QTnpYNm1vZ0dBN2dsL2tNRElycURtVytOdkU1Z1poWEFPNUhieVpxbVBRT2dUSENaa3BMeUxBQ1RtYSsyYmZzL3Rld2FPNDdUaElpK2NSem5icC9QdHpFN08vdFV4M0VtQXJnVXdEK0phSkN1NjNjUjBUa0E5Z000RGNBVkFMeGVyM2ROdWZxMk1QT3RSRFFXd0dabW5nSmdLaEdsbXFiNUVJRDdtUGxrWm43R3R1M25Nak16RmJmYlBZS0lIZ1Z3cTJFWVB3TjR4YmJ0U2JWOEhpR0VFRUtJRTBxOUMzZ1RVdFBTUUhCcm1vYXNybDBrMkQwT0pibmQwTE82WVA2Q2hTZ05CRnd1VjBvYWdFMTEzYS9mQ3hIbDI3YjkxWkhXRXprT0o3WjJ0NnBnbDhNMzFqUHpod0ErZGh4blV5QVEySm1YbDFkNnBIMzR2WmltbVdGWjFvYm9SbHRFOUwxbFdlZEdOckhhd014OWJkditPcEwzbndDYTJMYjlaNFNuRlcrc290cSt6UHpqRVFTN1FEZ1lIeDNkUUF6aEtjYm5FVkV2eDNGR0ZoWVd2cmx1M2JxQWFacEtaQ2RsRjREZm1IbWU0empESzZtdXlMYnRoYVpwM3NmTW0yM2JYbWdZeGdGbTdrSkVWd09ZSFFxRm52SDcvYjhBUUY1ZUhnQ00wM1g5YlVWUkJnSzRqWWgySE1uekNDR0VFRUtjU09wZHdCdHlBaTAwUlhNbkpDU2dWY3UwdXU2T3FLVTJyVnNqT1RrSnBmc0NDYUZFcmZtSkZQQWVMWTdqT0lxaXhLL1BCY0tqdUE0UkZUTHpYc2R4RmhIUlROdTJ2d1VRck9NdTF4b3p6ellNSTJEYjlnWHg2WXFpZUNMM093TDRPdkxhQTJCMU5hcjlYMlJUckNOaW11YU5qdU44NC9QNU51bTZmbHBCUWNGblNVbEpiVjB1MTQwcEtTbDJwMDZkTHJRczZ5MEFiMFhMWkdSa0pLYWtwSndMb0twZ3ZBd2lXa1pFOXpxTzg0T3FxdGNZaGxGWnR2VzJiV2NkNmZNSUlZUVFRcHhJbExydVFIbXE0bXJFQkUxVkZUUnUzTGl1dXlOcUtUVWxCUzdOQlJCVUJhcnNORllMaXFJb2lBUzZrWkhjSFFBK0JmQVVnR3VEd2FEaDgvbHV0VzE3eWZFYzdLYW5wN3VKeUFCUVlVTXBSVkd1QWJDYmlDWVpobkZ2ZG5aMkp5THFURVQ5RGNONHV2SWF3MnpiN21sWjFpMUgwcmVzckt5MkFHWXBpdktYek16TVJvcWkvSkthbW5ycnFsV3I5akx6UEFBbkp5VWxmZWJ4ZU1wTVJVbEpTWG1LaUw0d0RPT3M2cmJsOVhwM0VWRmpBSjh6ODlENC93QXNCU0RUWFlRUVFnZ2hhcWplamZBS0ljb29adVlWanVPOEh3cUZsZ1NEd1IxcjFxelpFei9GOW5qWHBFbVQ3Z0JjUkxRNFB0MHdqQ3dBZncyRlFqZW9xdG9Xd0cyTzQxd0U0QmVFZy80WmhtRlV1UkZYbHk1ZFdoWVhGeDljdDI3ZC90cjJUVkdVdmdoLzZEQy8vRDNidGplWnBuazFnRVdhcGswR01EQXJLK3RNUlZIdUk2Skp6RHdRd0Q4eU16T052SnFkU1czN2ZMNFo4UW1HWVhRQjBLRzJ6eUdFRUVJSWNhS1NnRmVJK3V2YllEQ1lHVjNQMlZBcGl0SVRBSUxCWUd6ZE16T2ZET0MvQUpibDVPVDhDd0RydXI1SFVaUVpBRzZ5TE9zOVhkZlRGRVc1dmJLUno4alJSYXNTRWhMMlptZG5aM2k5M3FMYTlJMkkrZ1BZNFBWNjEyUm1abGFZY21KWjFsSmQxLyttcXVyU1NQNnppT2h1eDNFK1lPYmJWRlg5UERFeDhTVUFkMGVlcTRWaEdNOEQ2QVNnaFdFWXp4TlJ5OXIwVFFnaGhCQkNIRjY5bTlJc2hBanorWHcvTi9SZ04rSlBBTGJFUHlzUmhRQllnVURnU2dDY25aM3RVaFRsWVdaK00zcitycy9uRzA5RVptUTM1eklqM2tTa0FkQ1lPZkhnd1lPMStqM244WGphUmM3ZG5RTUErL2Z2RHlFY3RDYkc1L1A1ZkxPOVh1L21TTHNYQUFnNGp2TjlUazdPQWdDekFRek95c295SXZkVElwdFRnWWhPSnFLcm1UbTFWdDgxSVlRUVFnaHhXRExDSzRTb014NlBKdzNBV1FEK1VlN1dQdHUyQjBRdnZGNXZ3T1B4WE9UMyszY2lQTVgzYmdDRmp1TzBCZENPaUg2TkwrejFldGNZaHBFQm9LaUcwNGxqaUtnRE0yOXpIR2NXQU9UbjV4OXMwYUxGVmdDRFRkTXNkQnlucEZ5UmRBQzNBVmpnOS9zUElCd2Mzdy9nMDV5Y0hGdlg5ZTVFOUpOdDIxM2lDeG1HOGJqak9QRkhLcDJ2Ni9xSWNuVlhleTJ3RUVJSUlZVDQveVRnRlVMVUdVVlJNb2hvcStNNFN3NlgxKy8zeDQ3aklhTGJBR1FEQ0RIejB2Mzc5NWNQbUdIYjloSHRESjZUazdNNGNxYXVFMDFqNXNGRTlDWXp2NmtvU3ZuMXc4VUF2aWt0TGIwN3JnODdvOEc4eitkN0c4RGJsZlJ6VFB3MUVaMEhvR3U1YkUwQWJEK1M1eEZDQ0NHRU9CRkp3Q3VFcURNK24yOFpnRlBqZnhjRkFvR25OVTF6SDZxY1pWbG5SWlprRUlEUU1leWlFMy9oOC9rK2pleVVmVXhZbHRYOFdOVXRoQkJDQ0hFaWtvQlhDRkVmeEk1VnlzM04zVkxOTWs0MThnZ2hoQkJDaUJPWWJGb2xoQkJDQ0NHRUVLSkJrb0JYQ0NHRUVFSUlJVVNESkFHdkVFSUlJWVFRUW9nR1NRSmVJWVFRUWdnaGhCQU5rZ1M4UWdnaGhCQkNDQ0VhSkFsNGhSQkNDQ0dFRUVJMFNCTHdDaUdFRUVJSUlZUm9rQ1RnRlVJSUlZUVFRZ2pSSUVuQUs0UVFRZ2doaEJDaVFaS0FWd2doaEJCQ0NDRkVneVFCcnhCQ0NDR0VFRUtJQmttcjZ3NElJWVFRUWdnaGpsL3QyclZMQW9EOC9QeURkZDBYajhlVDVuSzVtZ0ZZNy9WNkE4ZWlqWXlNak5UazVPVFdmcjkvN2JHb1h4eGRNc0lyaEJCQ0NDR0VxTFVXTFZwODM2SkZpK1YxM1E4QXBLcnFJbWIrcjlmckRSMnJSbEpTVXU3Vk5HMVZkbloyNjJQVmhqaDZaSVJYQ0NHRUVFS0lXdWpTcGNzWmp1TUU4dkx5TnRkMVg0NG5IbzhuVGRPMGV3QmN3Y3p0aVdnL00vOEE0SEhidHZOcVc2K3U2emNRMFI4QS9OMHdqUDdWS1VORUljdXlQZ0tBVHAwNm5leDJ1MitwTEoraUtHc3R5NXFYbnA3dUJqQ1VtVmM2anROUjEvV084ZmtjeDlubDkvdHphL3NNNHVpVGdGY0lJWVFRUW9oYTBEVHRRa1ZSM2paTjgydG1uZ2xnU1VsSnlmNjh2THpDdXU3YnNXUVl4c1VsSlNWTDgvTHlTaXU3YjVybVVBQ2xsbVZOcWV5K3FxcXZBeGpBekY4QnNKajVUQ0xxejh5WGVUeWVIbjYvLzd0YTlLa0ZnRmNqbDdjUVVhV0JhM25NdkJmQVJ3Q1FrSkRRV2xHVWx3Q3NCZEFFUUZObVhnK2dOVE12QmpDdldiTm1nd0MwQk5DU2lCYVhyNCtJUGdad1ZVMzdMNDRkbWRJc2hCQkNDQ0ZFN1NVQjZFdEVjNGpJbTVpWU9Gdlg5WWNOdzdnNEl5TWp0YTQ3ZDdRWmhwRkZSQXNURXhOZnF5S0xHaG01bldpYVpsV2pyTjhIQW9GT3RtMzNzVzM3RHR1MmV3QVlTa1NKbXFZOVh0TStaV1ptSmhEUmZ3Qm93V0N3VTNGeGNVb2dFUEFBQ0RIemc4WEZ4U25GeGNVcHpMeWRtZCtKdS80UGdOL0sxMWRjWE56VGNaeVhBZnhvMjNZWEl2b0hBR1JuWnpjQjhEUXpieThxS21vZXJhZTR1RGdGd0xCSThYazE3Yjg0dGlUZ0ZVSUlJWVFRNHVob1JVVDlGRVY1QnNEc2xKU1V4WVpoUE8veGVNd0c5TDc3UVFBaHgzR3FDbmhEUkhRdGdOWE1QRWZYOVo3bE05aTIvY3FxVmFzMnhLY1ZGeGRQalFTb0hXclNtZlQwZEhkaVl1Sy9tZmtDSWhyazkvdlg1dVhsRmJwY3J2c0JGQlVVRkx5VGw1ZFhxR25hSDRpb0pSRjlscGVYVjVpWGwxZElSQ2xFdExlNmJUbU84d0l6TnlZaWQzSnk4bDNSZWpSTlMyYm1wNW41YTl1MnA5ZWsvK0xZa3luTlFnZ2hoRGhpTFZwa05rNXVwclZ3T05SY1ZWeU42cm8vb3FLZ3cwVXE4YzREdTB0MjdkcTF0cUN1KzlOQU1NTFRZc3VuYTVFcHJ5MEJtSnFtalRBTUl3ZkFiQ0thUzBRN3ZWNXZBUUNuVG5wZFM5bloyV2N3OC9YTS9INU9UczVQVmVYemVyMi82YnArT1JGOXB5akt4MTI3ZHIxZzFhcFZxdzVWZDFKU1Vpb3pxd0MyMUtSUFRaczJ2WkNJTGdWd20yVlpueUE4cFhvZ2dGc0FQTEJ1M2JyOUNFK2pmZ2pBcjhYRnhSREtjSkFBQUNBQVNVUkJWSjlHeXpKek13QjdxdE1PRWJWbjV2NUU5QUF6bHhEUmVJL0hNOS9sY3ExeUhPYzlJdEpDb2RBZDBmOG5SUDBoQVc4dDdkcTFDd1VGQlRqOTlOT1BXUnMvLy93elRqLzlkR2lhL0ppRUVFTFVUeTB5TXhzM2NyUkhDSFFGaU53S2s1dUo1UTlYUGVSU0VBUXB4WTFidUVzYU44OWFjRUFKUExHemdhODEvUjFRbVF1aU1zRnYzR3VWaUV3QUpvQW5ITWV4ZFYxZnFTaktDbWIrenJidC8vM08vYTRWeDNHZUFLQVEwZGpENWZYNWZCc053N2lLbWI5eXVWeWZaR1ptZHN2THkvdTFxdnpNL0Zqa2E0MUdTSDArM3hlbWFYYTFMR3Mxd2h0WFhjUE03eERScDVabHZZYndOT3grUk5RZndORDRkY2RFZEJLQURZZXFQNjUvR3dDOFpsbldiQUNPYVpwWHFxbzZqNW0vQWRBRHdKOFA5U0dBcURzTi9nOVNjWEV4Um84ZWpSdHZ2QkZubjMxMkxMMjB0TFN5VCtNcXBhcHFoYUR6NzMvL096NzU1Qk1zV2JMa3FQY1pBRmF2WG8yYmI3NFovZnIxdzJPUFBWYWpza1ZGUlNnb3FOa0h0eTZYQzgyYU5hdGhMNFVRUXB6STJtWjQycmtjbWdiZ0VoQXBtcW9pSVRFQnFxcldkZGRFSlVJaEJ5VWxKUWlGUW1CdzUwYU82dy91akM3M2JGbVh1NzZ1Ky9aNzBYVmRWeFRsZVdadWVaU3FyUERtaWVqL3g4Q1ZCYjlFMUlTSWVnTG93Y3g3aVdpbnJ1dkxtZm1mQnc0YytHcmR1blVsUjZsdlI1VmhHRmtBQmdMNFp6UzRQQnpidHBmcnVqNkVpS1ltSmliT3k4N083dUgxZW92SzU5TjFmU3lBNFFCbStIeStPVFh0bTJWWnE5UFQwOTFObXpaOVdsR1VoNWo1czJBd2VCMEF6c3JLTW9ob1ZtUzY4Y1M0WWdxQTFnQjJWcmNkMjdiZmpiNE9oVUwzcXFyNkk0QnJpZWcxeTdJVzFiVGY0dmR4UWdTOCsvYnR3NUFoUXpCcTFDZ01HREFBQVBDblAvMEp2LzFXWVkxNnBXNjk5VllNR1RLa1FucjhMN1NqclhQbnpyanNzc3Z3MFVjZklUTXpFLzM3VjJ0bmRRREF1KysraTZsVHA5YW92YXlzTEV5Zkxrc09oQkJDVkUrYk50bkptaXM0ZzBBWHUxd3VYTnp6SXB4emRqYmF0bTZGbEpTVXV1NmVxRVRoZ1FQSXo5OEtyKzNEZ2krL1VnS0JRQjlWMDZhM2JPbTVkUHQyLzRHNjd0L3Y1T2JJQmxOSHBiTHFEcDVVaG9pSW1Sc3pjNUNJV2pOemNqQVlQSFp2TG84UUViMEtvTGkwdEhSMGRjc1lodEhHdHUxM1ROTTBBTndlQ29YT0IvQkZ1VHhUaWVoMlpwNW8yL2JRMnZSTjEvV3JpT2cxQUtjQ2VOdTI3ZUVBZ29aaFhFSkUvMmJtSFFDdWpwOUNicHBtSHdESnpGemhDQ0czMjcwdExsLzBoL3lmdVBadVZCVGxOV2JlUTBRL0FyalBOTTBzQUdNdHkxb0M0SmlkQVN4cXJzRUh2RTJiTnNYa3laUHg2S09QWXR5NGNmamYvLzZIWWNPRzRkbG5uMFV3R0l6bG16WnRHdmJzMllPUkkwZFdxT09VVTA2cGtPWTR6aUVEM3R0dXV3Mzc5Kyt2OU41Tk45MkVmdjM2WWUzYXRWaS92dW9QVmJ0MjdZb0ZDeFpnOWVyVitPeXp6eXJObzJrYSt2VHBVeVp0eTVZdGFOS2tDVjUvL2ZWWTJyWnQyOUNpUll0S3AwYy85TkJEU0VwS3FySWZRZ2doUkhtdWxORDl4T2psVG5Mam1jZEhvL2NmZXlFMU5lV1lmaGdzamh3em8vK1ZWNkJ2NzRzeDhwRW5VRnhjY29HN0tSN0dkdFJzT3RseGlvamNrWmNyQVB6ZmtkYkh6RG9SWFZVdXJiSjI0KzhYRWRFcVpsN0p6R3NjeC9uUzcvZXZQZEsrSEV1R1lRd0MwSXVabjhqTnphM1dHdHVzckt3TEFDdzBET05GSXJyUGNaeXBQcC9QVjY3ZUFaRmc5eTNidG9kVlhkdWhLWW9TWk9ZREFIcFpsclVrT3pzN21abkhNZk9EQUg0RThDY0FuVTNUZkJYQWI4emNpSm12SnFJQ3gzRXE3S3JzT002MWlxSmN3c3c5QVF5SjdDQ3RHb2J4VndDamlFaG41bjhjUEhodzJKbzFhM1pIbnVOVkFGK2Fwcm1MbWY5bDIvWTl0WDBlY1hRMStJQVhBQklURS9IQ0N5L2c1WmRmeG9VWFhnZ0E2TjY5ZTVrOEw3endBcnAyN1JxN1g1a3Z2L3dTVHp6eEJBQWdHQXdpR0F6aS9QUFBMNU5ud29RSjBIVWR2L3p5QzFxM2JvMXUzYnJGN2dXRFFjeWVQUnY3OXUwREFIeisrZWVZT1hQbVlmdi80WWNmNHNNUFA2ejBYdVBHalNzRXZQbjUrVGpsbEZQUXRXdFhBTUQrL2Z0eDMzMzN3VFJOUFBmY2N4V0NYc2R4Sk9BVlFnaFJiVzNhdEVsV2lQOEtJdVd5UC9YR24vdGNna2FOWkorcTR3RVJJVFUxQlJmMzZvRytsMXlNdVovT1Y0am9wbmJ0MmoyYm41OS9zSzc3OXp0YVlWblcwMGRhaWE3cmZ3TndWWFR0YmxYQkxvZHZyR2ZtRHdGODdEak9wa0Fnc0xPcWMyenJHUTNBVTh6OHk5NjllMStxVG9ISTFQSC9Ndk5CSXZxSDErc05BUENWejBkRWZSRU9XSS9vWnhIWnJPclR1RTNFVG90c1dqVzdxS2pvL2pWcjF1eldkVDB0OHJOS0FGQktSTG5NUENvbkoyZHIrZnBLUzB1WEppUWtuS1lvU3JabFdRdE4wN3lLbVRzUjBhdk12QWJBUmJadEw0M210MjM3UDluWjJYTWR4K2tINEhZaXFwZlQwazlVRFQ3Z0xTMHRoY3ZsZ3FxcWVPaWhoeXJOOC9QUFAyUGJ0bTI0NVpaRG4wOTkybW1uWWRDZ1FRQ0FwVXVYWXVQR2pianBwcHVBeUtqcS9Qbnp5M3lDNS9GNGNPKzk5OGF1aTRxS01IdjI3QXIxTGx1MnJGYlA5dHh6ejJIeDRncm5YU00vUDc5TW9KMmFtb3JodzRmajZhZWZ4dWpSby9IODg4K1hDWHBMU2txUW5KeGNxejRJSVlRNDhTU2twcVdCNE5ZMERWbGR1MGl3ZXh4S2NydWhaM1hCL0FVTFVSb0l1Rnl1bERRQW0rcTZYOGNieDNFY1JWSGkxK2NDNFlETElhSkNadDdyT000aUlwcHAyL2EzQUlLSHFiSStDZ1lDZ2U2cXFwNjJjZVBHNGlyeTdJbyttNjdyNXhQUko4eXNBYmpzTU90OWYyUG1IeTNMMm5Va0hUUk5zeTh6NzdadCs0ZnM3T3pXZ1VCZ056T2ZTVVJuSmlVbC9lanhlSzcwK1h6ZkFXZ2NYMDdYOWQ0MWFHWWZFWFVGOENvenp6Y01vOHhOeDRuTmxqN1RzcXpqWWhPeUUwV0REM2hIang2TmtwSVNQUFBNTXpqNTVKTUJBUDM2OWNQdTNidGplVUtoOERUNzhlUEg0NVZYWHFtMG5nY2ZmQkQ5Ky9kSFJrWUdBR0RuenAzWXMyY1BCZzhlREVRQzRQbno1OWRxbzQ3RXhNUmFQWnVpVkR6T3JiQ3dFUHYyN1VQYnRtM0xwUGZyMXc4RkJRVjQ1WlZYTUhueTVESnJrb3VMaTJXRVZ3Z2hSTFdGbkVBTFRkSGNDUWtKYU5VeXJhNjdJMnFwVGV2V1NFNU9RdW0rUUVJb1VXc3VBVy9OS1pFM1kzR0I3ZzRpK2g3QWR3QldCb1BCbGF0V3JhcjJPYS8xVlc1dTduWUEyNnU2Yjl0MlQ0UUR6eUVBWGdWUTVEaE9YNS9QZDhoUkhjdXlSZ0tvdUo2d2hwajVMUUI1QUs1azVubXFxdWJidG4xVlptYW1yV25hVDVxbWZlcnhlTTZQbnpwdW1tWmZBUDluR01adzI3YmZxRTQ3WHE5M2wyRVlTUUEyTVhPWjBXNUZVYklBM0JjTUJodktlY3NOUm9NUGVIdjM3bzJ4WThmaSt1dXZ4L1BQUHcvVE5ERjA2RkFVRjRjL29OcTBhUk5tekppQkhqMTZvR2ZQbmxpMGFCR1dMbDJLZSs2NUJ5MWF0SWpWNC9GNHl0UWJIVG1PaXE0SHJrbkEyNjFidDFpd08zandZT1RtVmxnelg2bXNyQ3k4L2ZiYjZOR2pSNFgxeGZuNStRQ0FkdTNhVlNoMzQ0MDNJalUxdGN3VWFNZHhFQWdFanRrSUx6c09ralgrbzY3citqRnBvQjVoNXE2UmwrMTBYZTlKUkwvWXRpMXZIb1FRRFk2cXVCb3hzYWFxQ2hvM2JseU5FcUkrU2sxSmdVdHpBUVJWWVZWMkdxdTlZbVplNFRqTys2RlFhRWt3R055eFpzMmFQU2ZTZWF3ZWorZDBUZE1tQXVnTFlFMHdHTHlxT3V1U1BSNVBJNWZMbGVyMWVyY2RMbTlWdW5idDJwNklNcGo1NWZMMzh2THlTZzNER0FEQTBqVHRzNHlNak14MTY5YVZHSVl4dzNHY3FVUTBEOENMaG1Fc3NXMDdwd2JOYnZQNWZEUGlFMHpUdkJ6QWZiVjlEbkhzTlBpQTk4OS8vak5PUC8xMERCOCtIQ05Hak1ESEgzOGNDL2oyN3QyTG1UTm40dVNUVDhhVFR6NkpKazJhb0dmUG5yajIybXV4Y09GQ1RKdzRFVTJiTnEyMDNzTEN3akpUdUtLanhEVTVNN2RidDI2eHFjY0RCZ3hBang0OXFzeGJVRkNBT1hQbW9MQ3dNRFpTM2FOSGoxaVpCeDk4RUN0V3JJaE5wM2orK2VmeDRvc3ZWbHJYODg4L1h5RnR6cHc1K09DRER3QUFuMzc2YVpYUFhWTUtpQkkwWlFnUkhaMEs2N2ZvZlBZL0s0cHlBVE52MW5YOU9wL1B0N0dPK3lXT0V0TTBYMFQ0RStuSzEwZFVwRmExVTZPdTYxY0NDUHA4dmsramFSNlBwNTJtYVZjejgyemJ0cXQ5VElJUVFvZzY4MjB3R016MCsvMi8xSFZINm9MSDQwbFRWWFVVRWQwTklJbVpweFVWRmQyL2R1M2E2cHlQU2FxcStwajVORjNYei9mNWZOL1hwZytxcWthUE1wbGYyWDNidG5jYWhuRnRLQlJ5UjRMZE5rUjBNeEZ0TEMwdHZjUGxjcTBtb25lenM3UFBDZ1FDUUhqMjVhTkU5QWNBYlEzRGVCNUFkd0FuNU0rNElXandBUzhBZE9yVUNiTm16Y0tPSFR0aVJ5VnMzcndaOTk5L1A3WnYzNDZwVTZkaTc5NjkyTE5uRDA0Ly9YUzgrZWFidVBQT096Rnc0RUNNR1RNRzVlZm9JN0lSVkpNbVRXTFgwVUN6SmdGdnZQSWJUOFg3OHNzdk1YUG1USVJDSVl3YU5RclhYSE5OaFR4WFhua2x6am5uSEN4ZnZoeExseTdGSFhmY1VhMDFWUVVGQlpnNGNTSXV2UERDMkRuRlIzdDZzNktRV3Y1ZzlnYU1BYWpNbkFiQURTQWRnQVM4RFFRem4xUGR2S1pwWmpEelowUTB6TEtzejh2Zko2SmhSRlFjMldRRENFK0h5b2lzRGZxcUp1Y0NDaUdFcUJzK24rL251dTVEWFRCTjgxd0Fkd0w0SzRBa0FINW1mc0MyN1M5clVnOFJKVEt6eHN5MVc5OFgvdHQ1TzRCdm9yUHFtRGtFb0V4OXRtMHZqNzUySE9jQ1ZWVVJDb1dXNWVibWJ0ZDEvU0VpbWhvS2hlNEJFTzMvNVpFUHJBOFEwZFVBbWt2QWUvdzZJUUplQUVoTFMwTmFXbmlkMGR5NWMvSFNTeThoTVRFUmI3LzlOanAzN296aHc0ZWpwS1FFa3laTlFvY09IVEJseWhTTUdERUN0OTkrTzNyMDZJRUJBd2FVMlpGNTM3NTk2TkNoUSt5Nk5pTzhoN04zNzE2TUdUTUdTNVlzUWZmdTNmSFlZNCtoVmF0V2xlYTk2S0tMQUFDLy9QSUxORTNEMy83MnQ5Z2FYNi9YaTlkZWV3MnZ2ZlphYkhRNGF0T21UWmc0Y1NMT08rKzhHcDMxVzEwT21JdExnMjhtdXRROVI3M3krcWtVUUNNaUdoMDUwRnljb0J6SDJVVkVPd0Y4YXBybThHQXcrTEdtYWJHcC9jemNuSmxMSTFPZ29tVzZJdndHNEVMVE5LUHJFb3FpaDlsblpXWDFVUlRsSGdBZUlqcVptVGNRMFV3aW1oRFpBVk1JSVlRNDZqcDE2blJ5Y25KeWQyYnVRMFJYUnM2N0JRQ0xtY2ZidHYzUFdremg1a0Fna0pXUWtORE10dTJxeitrOEJJL0hreFpaTC94dU5JMklmbWJtcTNWZGY3ajhoOGRFMUNReTdYajNiNy85OWpYQ0gxcE1NMDFUTFMwdC9idkw1ZW9BSUJRSUJNNk5yRnNHd2dIK2RaR3lVYWZxdWo2aXpNTXdkNVpqMmVxbkV5YmdmZkhGRjNIaGhSY2lMeThQYjcvOU5nekR3S09QUG9yVFR6KzkwdndkT25UQTJMRmo4ZEZISDJIZXZIbG8zNzU5TE9CMUhBZmJ0Mi9IT2VmOC84R2UwdEx3cnZMeDYzcVBsTS9udzVJbFN6QnMyREQ4N1c5L3ExYVpyVnUzb2xXclZtVTJ0SEs3M2Rpd1lRUHV1ZWNlVEpreXBjeklkRkZSRVhBTVJuV2pTRkZ3TUlSRnEzLzBmWFZNR3FpSEl1dDNTNW5aWFkzc29vSHkrWHo3c3JPemV6UHpSd0NHUlQ0TWV5dDZQKzZQWXV6OHYraS9XeUtLYlo3QnpKc0FwSHM4bm82cXFuNGV1ZjZhbVZVQXZTTWp3ajBBL09YM2ZENGhoQkFuQnNNd01vbklEMENOL08zYUJ1QnRBTE1zeTFweEpIVkhOdlNxOWFaZWZyOS9Cd0N6M0NERFUwU1VRVVJQQXlqL3hqekV6R3RDb2RDZ3VCMm4yYktzeVpIWFAxWVdIMW1XOVg2NXBGT0pxTXg2M2Jnem5rVTljMElFdklXRmhYai8vZmNSQ29Wdy8vMzNJeTB0RFpkZGRobXV1ZVlhWEhMSkpiajc3cnRqZVJjdlhvdzFhOWJnMm11dnhlMjMzNDRISDN3UWd3WU5Lck01MVByMTYxRlVWSVRPblR2SDBrcEt3c2R0VlhlRTE3WnREQjA2OUpCNW90T2tKMCtlaktsVHAxYVpiOENBQVhqZ2dRZUFTTURidW5Yck12Zi84SWMvWU55NGNSZ3hZZ1NHREJtQ1NaTW14VFlaT1hEZ0FBRElzVVJDUkQ3QlRrcEtPdFJHWTBrSS8vRXZyQ3FENHpobVRrN09Ud2pQcmlqS3pNeThBa0N6dkx5OFh3Rk1pT1l6REdNaEVSVmJsaFViNGRWMXZhZWlLSXNkeHpGOFBsK1o4d3BkTGxmUWNaemh0bTIvQmNDSjVHOEs0SHNpdXNvd2pMTnMyLzdoU0w4SFFnZ2hSRHpidHZOMFhYOVFVUlFLQm9OZisvMSt1eDV1eUJVN0U4aXlySFVBemoxV0RkbTJmZld4cWxzY0d5ZEV3THRxMVNvZy9BWVRicmNiVjF4eEJaWXZYNDZOR3plaS9PYkIrZm41ZVBmZGR6Rnc0RUQwNzk4ZkV5Wk1RTy9ldmN2c3ZoeXRMMzduNXVpdXp3a0pDZFhxVSt2V3JXTkhHbFZsdzRZTm1EZHZIcTY0NG9wS2QxMk82dFNwRXhBZUNjSzJiZHNxUEJNaUcxeU5IRGtTSDMvOE1VcEtTbUlCYjJGaCtIMjdCTHhDQUlXRmhVVnV0L3VwcXU0cmluSTN3a0h0eEtyeUJJUEJYUUNRblozdDhucTlnYnk4dkZJQXY1YlBSMFNMQVpTWmhxeXE2cStPNDh4VTFZcExBTHhlNzNvQVpZNU44UGw4K3d6RCtDZUF4d0IwQUNBQnJ4QkNpS1BPNS9POVh0ZDlFS0syVG9pQTErLzNBNUdBTjJybXpKbG8zNzQ5dW5mdlhpWnZ6NTQ5OGRwcnIySGh3b1VZUEhnd1B2MzBVMHlaTWdXalJvMks1Zm5paXkvUXRHbFRuSGJhYWJHMG1nYThyVnExd3FCQmd3NlpaL0hpeFpnM2J4NzY5T21Eczg0NjY3QjE3dG16QjZXbHBkaTdkeS9tenAxYjRiN2I3Y2FBQVFQdzdiZmZ4dEtpd2ZzUFAveUFiZHUyd1RDTUNrY2RDWEdpeU0vUFA1aWZueisrcXZ1R1lWeU84Qi8rS3ZORUtJN2ovTmMwelkyV1pRMEhFRFFNNHlZaWVyTjhSdE0wSDRtK1ptWVFFWmo1S3RNMG8ybDV0bTJmVjFWRFJIUVN3a0g0bG1vK3BoQkNDQ0hFQ2VPRUNIZ3R5MEtyVnEzUXNtVkxBTUNpUll2dy9mZmZWM3Bzenltbm5JTDA5SFI4K2VXWCtNdGYvb0xycjc4ZU0yYk13TUNCQTlHMmJWdjg4c3N2V0xseVpZVmc5ZURCZzBCNEcvTlkydmJ0Mi9IZGQ5L0ZycVByZkkrVlVDZ0VsOHVGNWN1WFkvbnk1ZFVvOGY4MzI1bzVjeVlBNFBISEg1ZUFWNGdqNXhEUkx3Q0dHSWJSZnVmT25mMFZSVm5HelBIckdESUFQT2s0em4yS291eEdPTGg5R01BdUlvcXRZU0NpZlZVMVloakdhY3g4SXhHdHljbkpXWGFzSDBvSUlZUVE0bmpUNEFQZW9xSWkrSHcrOU83ZE81YVduNStQYnQyNjRlS0xMNDZsQlFLQjJDWXlGMTEwRWQ1Ly8zMFVGeGRqNE1DQnlNL1Bqd1dHMDZaTkF4RlZPQnBvL2ZyMWFONjhlZnhHTkZpeVpBbVdMRmxTNjc1SGcrajREYWdPSlMwdERTdFcxR3p2Z0pFalIyTHg0c1ZZdkhqeE1kdTRTb2dUa1dWWnd3ekRTQ1NpMjlQUzB1WjR2ZDYvQUlqdFFwbVZsWFdCcXFwUEJvUEJEM056YzdjZ0hNRGVEbUM5WlZudkhhNStqOGZUa1lnK1kyWTRqbk45L1BvbElZUVFRZ2dSMXVBRDNoOSsrQUhCWUxETXV0WkJnd1poMEtCQitQZS8vNDNTMGxJY1BIZ1FsbVhGZ3VJYmI3d1JOOTk4TTl4dU45eHVONTU5OWxrQXdPZWZmNDc1OCtmajBrc3ZSWnMyYmZEU1N5OUJVUlQ4OXR0ditQYmJiOHNFMVFCd3hSVlhsTmtRcTdpNCtKQkgvMnpkdWhXVEowOUcwNlpOb2FvcUZpeFlBQUJvMDZiTlVmbGV2UERDQ3lncUtrSktTZ3FJQ0JzMmJNQ0tGU3VRblowdHdhNDQ0WGs4SGxOVjFjT05raVlnSEpnV0h5cFRLQlE2eisvM1c3WnREelpOVXdQd1Q0UTNtYnFNaUZJaTJUb2p2Qm5WWllaaDdFTjROTGNsQU1jd2pML0cxYlVvc2d0bGpHRVlXVVQwSlRNSG1ibFgrUTJ1aEJCQ0NDRkVXSU1QZVBmdDI0ZVVsSlJLTjNLeUxBdWZmLzQ1aUFqdDI3ZVBIZjNUdkhuelN1djY2S09Qa0phV2hwRWpSd0tSVGFWV3Jsd0pSVkhRcVZPbkNyc3VKeVVseGFaUkkrNElvS28wYXRRSS8vZC8veGNiVFc3U3BBbUdEUnRXNWRtN05SVUtoZkRWVjEraHBLUUV3V0FRcWFtcHVPaWlpekJpeElocWxCYWl3Y3VQbko5Y2xldmlkbjM4TnY0NG9jcnFpbngxTE11NkpacW9LTXJyQUU1bDVsSWlpdTZFRjFzUHpNeEpSSFFHZ0hNb1BGMGtXVkdVWGdES0JMeEVOSXVaRldhKzBPZnovVnliaHhWQ0NDR0VPQkUwK0lDM1g3OSt1UFRTUzh2c3NodzFidHc0akJrekJrUlVyV25ENDhhTnc1WXRXNUNhbWdvQW1EZ3h2RkZyZEtPWmVJc1dMYXBRUGprNUdWNnZ0OHI2bXpadGlwVXJWd0tSSTRtcU81VzV1aDU1NUJFODhzZ2oxY2dweElrbk1vcjZXbVgzRE1PNEhvQVJDVHlaaU00TmhVSXY1T1RrTERoY3ZSNlBwNlBmNzE4YnZXYm1WMnpiSG0yYTVpMEFwdGkyM1FSQUtOTE9yOHo4cW0zYkwraTZucTRveWkrVjlLVU5nSzVFTk1HMmJRbDJoUkJDQ0NFTzRlaEdWUFdVcG1rVkF0SW9WVldySFZnMmE5WU1XVmxaRmRLcnF2dElITzFnVndoUk81SEFkQVlSM1E1Z05ZQTF6UHlnb2lnZm1xWjUrYUhLWm1abU50WTA3VWRkMThkV2N0c0RJTmkxYTlkTWhBUGp0TWlVNWtOT0JRbUZRb25NL0tQak9IbEgrbXhDQ0NHRUVBMmRSRlZDQ0ZFNVZkZjFGNWo1SFFEM3hXOGtaZHYySkNJYXo4d2ZSNDRWcXZSVHI4VEV4RzRBVkNMYVVMNXVBUDBCRkdxYTlyVnBtaGVxcWpvQTRRL1FYalFNNDg5VmRjcnY5LzlpMjNZWG44LzM5bEY4VmlHRUVFS0lCcW5CVDJrV1FvaWF5c3JLT2xOVjFabk1iQUM0enJidGY1ZlBZMW5XVTZacDdtVG1OMHpUdk1KeG5Mc3IyVHpxSW9SSFpSZkhKNXFtZVJjenR3eUZRcDFWVlIwUFlEQ0Fzd0c4eDh5RkFENGlvdnVyNnArdTYrbXFxbTcxZXIyQm8vallRZ2doaEJBTmpvendDaUZFUkhaMmRySmhHSStycXVwajVwTWR4K2xlV2JBYlpWbldCR2EraUpsYktvcnlnMkVZNytwbGQ4anJDV0N6MysrUHJjVWxvdk9ZK1dVQUwvbjkvbDlLU2txdWp3UzU2VVQwbEczYlF3RjhEdURHeXRvMERPTW1SVkYrY1J6blgwZjcrWVVRUWdnaEdob0plSVVRSW5Jc2tlTTRQd040R3NDc2twSVNNeWNueHo1Y09aL1A5MjFSVVZFV003OUdSTmNRa2FYcitua2RPM1pNSWFMdXpGem1NTzdJRHMwemJkdCtBdUU5Qms0SE1KQ1pCM3E5M3ZVQVFudjM3cjJPbVc5Qk9FRG1jazBtUkw0bUg4WEhGMElJSVlSb2tHUktzeEJDaE5mRzVoaUc4U0VSemJZc2EwVk55cTVkdTdZQXdJZ3VYYnE4cm1uYWhUNmZiNWxoR0FNQXVKajU2M0xaZjdBc0szYjhrZC92WDl1bFM1Y3pjbk56dDJkbVpyWktURXo4Q3pQdlZ4VGxFb1NuUS84YVg5aTI3V2tlaitlN1BYdjJyRC9DUnhaQ0NDR0VhUEFrNEJWQ2lMQ1FiZHZEanFTQzNOemNMUURtSUR3eTJ3ckFid0NXVktQY2RnQklTRWdvSnFJM2lFZ0RVQXhnUXZ5UlJsRit2ei8zU1BvcGhCQkNDSEdpa0lCWENDR3F5YmJ0bnRYTmExbldoT3pzN0NrK255OStZNmtyRkVYWlYxVVpuOCszRDRBcnNvdXpBNkQ4ZEdZaGhCQkNDRkVERXZBS0ljUXhVbjRYWmN1eVZsZXphT2pZOUVnSUlZUVE0c1FpbTFZSklZUVFRZ2doaEdpUUpPQVZRZ2doaEJCQ0NORWdTY0FyaEJCQ0NDR0VFS0pCa29CWENIRkN5c3pNYkdXYVp1ZTY3b2NRNHNqbDVlVmgrZkxsZGRMMjd0MjdzV3ZYcmpwcFd3Z2h4T0hKcGxWQ2lIb3RPenM3MlhHY2Z6cU84MnBPVHM3aWFIcEdSa1ppTUJpazZ0U3hjZVBHSUlCZ2ZGcGlZdUxEekR3SXdFbkhvdDlDaUpyNTl0dHZzV25UcHRoMTI3WnQwYU5IRHl4Y3VCQmJ0bXlKcGFlbnA2TlhyMTVseW43MDBVZFl2WG8xdW5mdkRnREl6OC9IL3YzN3krUkpTVW5CS2FlY1VpYXRwS1FFcjcvK09uUmRSNTgrZldyYzUrTGlZZ3djT0JBbm5YUVNwazJiaHFTa3BHcVhEUWFEMkwxN2Q0M2JURXRMQTFHMWZ2VUpJWVNRZ0ZjSVVkOGRPSEFnS1NrcHFibXFxZ3RNMHh4cVdkWmtBRWhOVGQwSzRPVHExTkcwYWRObmZUN2ZZNVhja21OL2hLZ25Qdm5rRXl4YnRnd25uM3d5OXU3ZEM0L0hneDQ5ZW1EZXZIbFl2WG8xMHRMUzhPdXZ2OEl3RFBUcTFRdHo1ODdGcWxXcjhPaWpqMWFvNi9YWFg4ZWlSWXZLcEYxd3dRVjQvZlhYeTZSTm1USUY3Ny8vUGhZdVhJaHUzYnFoU1pNbU5lcXoyKzNHa0NGRDhPU1RUMkxzMkxGNDl0bG5xMTNXdG0zY2RkZGROV29QQUw3NzdqdG9tcng5RTBLSTZwTGZtRUtJZW0zTm1qVzcwOVBULzlpc1diTTVBQ1laaHBGdTIvYkRvVkRvQmxWVkUrS3lQZ29nRGNEdzhuVTRqdk56SlZVcmh3cDRUZE5jeXN5Vmp2NHk4M2lmenplanRzOGtoS2hjbno1OThPaWpqK0tOTjk3QSt2WHJZK21YWDM0NTdyMzNYb3dmUHg3YnQyOEhBR3pac2dXclZxMnFzcTZzckN5TUhUc1dqdVBndXV1dVErdldyY3ZjOTNxOW1EVnJGaDU4OEVHODk5NTdlUHJwcHpGKy9IZ29TdG5WWHJ0MjdjTEtsU3VyYkVkUkZLU25wMlBIamgzNDdMUFBxc3gzd1FVWElEVTFOWFlkSGJWKzdybm5ZbjA3Y09BQWlvdUxjZkxKRlQvTG16NTlPcFl0V3liQnJoQkMxSkQ4MWhSQzFIc2JOMjRzM3JoeDR6V0dZYnpLeko4QVFFNU96b0w0UElaaHZBbGdoVzNibjFSVmoyRVlBd0RNQkFBaVNnRGdNZ3lqTUQ0UE0vZjErWHpmQXVoTVJKdVkrWXU0Mnk0aWVvQ1pteC85cHhSQ0hFMEpDUWxvMDZZTmNuSnlVRnhjakI0OWVzVHViZG15QlNOSGprU2ZQbjF3d3cwMzRNd3p6OFE5OTl5RE1XUEc0SWtubmlnelpmaW5uMzdDNDQ4L2Z0ajJObTdjQ011eXFydy9aODZjTWdGdmZuNCtBT0NpaXk2QzIrMEdBTngxMTEzWXNXTUhwa3laZ3ViTnkvNmFTVTVPUm5KeWNnMi9DMElJSVNUZ0ZVTFVheGtaR1lucjFxMHJCUkN5YmZ2ZXl2SjA3ZHExS3hHbEEzaitVSFdGUXFHMW1xYU5Seml3dlF4QUp5SjZPZG9VZ0J1Wk9YN1VkN2x0MjZPakY1bVptWTNkYnZjRFIrblJoQkMvZ3hVclZxQlJvMFk0NjZ5emdFaGdldmZkZDZONTgrWjQrT0dIQVFCbm5YVVdubmppQ1R6NTVKUFlzMmNQeG93WlV5WTRCWUMzM25vTHBtbld1UDNQUC84Y1R6LzlkSVgwL1B4OE5HL2VQQmJzQXNBRER6eUFPKys4RTNmY2NRZW1USm1DRmkxYXhPNlZsSlJJd0N1RUVMVWdBYThRb2w1TFNVbDUzelROcE5MUzBrRzV1Ym5iRVo1dXZKNlpXOFpsaS80dWU4MHdqSmNycTRlSUhyQXNhd3FBM0VnZGJRQzB0Q3pycWNqMTVaR0FOMWhaK1VQSnpzNCt3M0djTVFBdUlhSVVaczRGOEFRUjlRVXczSEdjdi9oOHZ2OGlQTW84bm9nZUJIQ0ZaVmxsUnFOMVhSK3JLTXFqQUc2eUxPdTkrSHVHWVZ3UDRENGk2Z3FnRk1BM29WRG84WnljSERzK1gxWldWaTlGVVI0Q1lCQlJFMmJld3N3VGZEN2Y2elhKSTBSRHNXelpNcHgvL3Zsd3VWeXdMQXNqUjQ1RWFtb3FKazZjaUVhTkdzWHlYWDc1NVFnR2d4ZzNiaHl1di81NkRCOCt2TXhHVmk2WEM0bUppVFZ1djZvcHlQbjUrV2pidG0yWnREUFBQQk92di80NjdycnJMb3dhTlFyVHAwK1AzU3N1TGk0VEhBc2hoS2dlQ1hpRkVQVWFNMzlBUkZNVEVoSjhobUZjWjl2MjF3QWVZZVlraEFQWmprUTBtcGsvWnViL0tvb3lnSmt2STZMSEhjZlpHcTFIVVpRVjVlcE5CRkFTdlhZY1IxTVVCVFVOZUQwZVR4ZkhjYjRtb3BPWWVUa3o1eEhSSHdETUErQTdHdDhEWGRkZklLS0htSGtyZ1BlWU9RWEFYMVJWN1dVWVJnL2J0bitJNVB1Ym9paC9aK2FkUlBRUk16TVJaUkZSVHdDdlZ6ZVBFQTNGdm4zNzhPT1BQK0tHRzI3QXJGbXo4TVliYjhCeEhGeDU1WlZZSzBtSXBnQUFJQUJKUkVGVXVIQmhwV1VHREJpQUJRc1c0T0dISDRhaUtPallzU1B1dlBOT3RHblRCcE1tVGNLc1diT3EzZjdYWDMrTkRoMDY0TTQ3NzZ5d0xqYy9QNy9NTk91b3JLd3NqQjgvSG1lY2NVYVo5SU1IRHg2ekVWNTJIQ1M1bkI2bWFYWUJ3TUZnMENFaUJ1QVFFUk9SRXdnRW1JaWkxeUVpNGxBb3hJcWloQUN3b2loT0lCQndBRVR6T1VURVRnUVJPUUE0SVNFaEZBcUYySEVjUjFHVWFEMU9LQlJ5aU1oUkZNVWhJZzRHZzQ2cXFxRkllcXgrVlZXZDB0SlNSMVZWaDRpNHRMVFVLU2twY1ZSVmRUUk5DeDA0Y0lBMVRRdHBtdVlVRmhhR2lJaGRMcGZUdEduVFlGNWVIb2RDSVZYV1FRdHhZcEYvOFVLSWVzM244ODNKeXNwYXJTaktKMFQwb2E3ckdaWmx2WS93cUdjTEFBOEIrTFcwdFBUV0gzLzhjVS9YcmwwLzFqUnRGVE5mcmFwcWI2L1hXOVVCbVUySXFDQjZRVVFhd29Gd29DYjlVMVgxNzBSMEVvQ2h0bTFQaUtZYmhuRTNFYjFkK3ljUHk4cks2aE1aalYxUlVGRFFkOTI2ZGZzUkRselBCN0EwRXFTZUgzbUdrWkd2NTFtV3RTNWFoOGZqU1l0N3pzUG1FZUwzNURnT0RodzRnRUFnZ0dBd2lJS0NBZ1FDQVlSQ0lSUVVGQ0FVQ2lFUUNLQ2dvQUNscGFXeFBOV3hkdTFhTURPYU4yK080dUppZE92V0RhZWVlaXJtelpzWHk3Tm56eDRrSnlmSFJrL1BQdnRzZlBEQkIzam5uWGZRczJkUGFKcUd3WU1IQXdET1BmZmNDbE9kNDRWQ0lYejQ0WWZZdkhreldyVnFCU0pDaHc0ZDBLRkRCd0RBZSsrOWg0a1RKd0tSRWRzRkN4WlUyRTI2S2lVbDRjL256ai8vZkFEQTJMRmpLeHpQVkZzS2lKSmNycUhNM0F6aDMydUlydTZJQkw1d3VWeXgvTkUxenVVMytJcmtLYk1aWVBrOHpBeFZWVmxWMWRpMXBtbmxSOEpqOStQVG82OWRMbGVzamNURXhESS9reVpObXNUdU5XdldyRXpiaG1FQWdDdnliRGNhaHRFVHdEY2xKU1VQNStYbGxkblBRVFJjWGJwMGFhbXFhb2NEQnc1OHYyN2R1cEpxRkJISE9RbDRoUkQxWGs1T2pwMlZsWFVPZ0xZNU9UbjdFQTc0T2hEUlhHWnVCNkNucXFvdFROTnNhVm5XYXRNMEwyWG14WTdqZkorVmxYVlRUazdPTitYckpLSm16THc3N2xwRitJMVV0VWQ0VGRQTUJuQVdBTnV5ckFueDkyemJubWdZeGsxRTFQMUlubDFSbFBzUWZsTjRWelRZUmZpRGdHOE53MWhHUk9kbloyYzNqd1QyQ1FpZjc2bkcxK0gzKzNmRVhWWW5qeEMvbXcwYk51QzY2NjZMWGMrZE96ZjJ1bWZQbmdDQTVjdVhZODZjT1dYUysvZnZmOWk2enpubkhKeDMzbmw0OXRsbjhmNzc3Nk5mdjM0Z0lqejAwRU94UEdlZmZUYnV1T01PREJvMHFFelpVYU5HVmFoUDEzWG91bDVwV3ovOTlCUEdqQm1EelpzMzQ1cHJyc0c5OTk1Yklkakx6czdHdmZmZWk2MWJ0MkwyN05tNDlOSkwwYWxUcDhNK0J5SkhLRFZ2M2p6MjNORWcrdWhnTUxOR1lRaFAvS2o2ck4reVd4MGNXdmw2bUxsRzVTdXJMNzdPOG5VZHJ1NjRzaTBBdEdEbVUxMHUxNGNBRmgreW9HZ3dORTBicGlqS280MGFOVElCMk5Vb0lvNXpFdkFLSVk0TE9UazVXd0ZzUlRqUXZBWEE2OHg4RUVBZnk3SzhwbWwrd3N4dUFKZFlsdVUzVGJNWGdBOVZWVjFxR01iSEFDYmJ0ajAvV2g4em4weEVzVE5OSE1kUkkyOU9hekxDZTI2a3JubVYzU1FpRzhBUkJieEVkQjR6bHpMek5icXVYMVB1OWtrSUI2L3RBZXdpb3ZjQVBLV3E2akxUTkY5aDVpbTJiZThzVjk5aDh3anhlenJ0dE5Qd24vLzhCNis4OGdvYU5XcUV3WU1INDczMzNzUG16WnZ4eUNPUFlOeTRjVGoxMUZNeGNPQkFUSjgrSGJ0Mzc4YklrU1BMak5KV2hZZ3dhdFFvOU8vZkh4OS8vREd1dnZycW85Ny9VQ2lFdDk5K0c3Tm16VUxidG0zeHpqdnZSRWNTSytqY3VUTTZkKzZNTDc0SWIvN2VyMSsvV040ZE8zWmd4SWdSdVAvKyt5c3RQMzM2ZEp4eHhobGxQaHc0V2h5QVN3S2hOelVGZXpWTkkyWldFZjdkcGpJemFacW1NTE1TZVY2RmlCUkZVUWdBTVhQMEhoR1JFazJMWEZQa0NEZ3FueDU5WFM0dlJldGhabElVaFJ6SFVSQk9WQ0tCT0RHekVwNGxUV1hLTW5OOEhiSFhBTlJJdWVoMWllTTR1NG5vU2dDS3FxbzFYNXd0amxjS0VkM016RCtVM3dQamNEd2VUNXFtYWZjQXVJS1oyeFBSZm1iK0FjRGp0bTNuSGJzdWl5TlY3d0xlRUFjTE5WSURUc2hCVVZGUlhYZEgxRkpSVVJHQ29TREFDSVU0S05PRXhCRXpET01OSXZvME1xSTZGc0JTSWhwc1dkYnF5dkpibHVYM2VEdzNxcXA2QnhIOWpabnpBRVFEWG9XSVRtSG1MNlA1aWNnZCtWcGEzVDR4Yzh2SWFFaCtGVmxxTkQyNkVtcGs2aldJNk5HcU1pbUtrb1R3TTQ4eFRYTS9FVDBTK1I0OVlSakdkRVZSUm51OTN0K3FtMGVJMzVQTDVVSjZlam9hTldxRXhvMGJJejA5SGFtcHFVaEtTa0o2ZWpxU2twS1FtcG9hU3o5NDhDRFMwOU1yako1V3BWMjdkc2pLeXNLU0pVdnd4UmRmSURjM3Q4eDl4M0V3WWNJRVRKNDh1VXo2Z0FFRDhNQURoOStVdmFpb0NETm16RURQbmoweGJ0eTRhbTFzOWIvLy9ROEEwS1pObTFoYVltSWlDZ3NMTVh6NGNFeWFOQW1abVpsbHlodzRjT0NZcmVFbFJjSEJFQlp0L05IMzFURnBvQjd5ZUR6bmFwcDJjZVNEVXRIQVpHUmtKS2FrcE96K2YrM2RlWHhjVmQwLzhNLzMzR21XbG9ZdXRKWk5JMGFCdE16Y2U0ZWxMZnVxTExLSUlNVkgvVDBLUGtWV1FSQUZVU3dpUWdWNVdLcUFnZ0lpRktRZyt5SWdaYXZNdlpOcEc1b2FJVUpvSVlVRzBqVHIzUHY5L1pFN2ZhYlRTWk9XdEVtYnovdjE0cFhrM0hQT1BYZktLNVB2bkhPK3A3QTgraUJrSklCSmhjY1M5a1pWL3l1ZFRzK3pMT3Q2QUNlcTZ2TUFQRlg5Z29oOFJWV1Bqc2ZqQjJZeW1kYzJ5Y1BRSnpia0FsN1ZydVhROHZhdTdtNDByZWh0NngwTmRVMHJQa0JIUnljQWRLcDJMUi9zOGRDV0xabE1iaHVHNFZtcUdqUEcvQ0FJZ3NaME9uMm40emlMSE1lNTMvZjl5M0oxYmRzK1hrVGM3dTd1bXl6TCtvZUluSi9OWnEvSlpESnI5cXZ1c2NjZWt3R01WdFZVcmt4RXl0R1RHS2JmQVc4dW9EWEdqQzEyVVZVbkZDN25peEszSUF6RDhzTDZ4cGh0Q29vQ0FCMnFHdmkrUDdwd2Ixd1JvZWQ1MTFWV1ZzNFpNMmJNS2NhWUh3S1lHWWJoYmdBTzNvQTZSSnRkZDNkMzBZekdRUkNzdFg5MFkreTAwMDVZdW5RcFpzNmNpZWJtNXJXdS9mem5QOGNoaHh5Q2FkUFdYb3p4MmM5K0ZzamJNOXVYK2ZQbjQ1QkREdW4xK2k2NzdMSW00VlZqWXlOaXNkaGF4dzV0dSsyMnVPR0dHL0N0YjMwTFo1NTVKbTY5OVZaVVZWVUJVVkRlM3Q2Tzh2SjFmbTBRVVJIMTlmVloyN1ovVmxBOEFzQlBBZnhMVlcvcGIxL1JCK1lBOE0vdTd1NUxGaTVjK0didW11dTZaNHJJamJGWTdDY0FqaG13QjZBQk5lUUMzc2FsUzkrdjNDMnh1cnU3RzIvVUxXVWEvaTFRVjFjM2FwZlVSUWsydExOeDZkTDNCM3RNdEdWVDFhblJjclFYVTZsVUc0QS9KaEtKSTBSazl5QUkxdHFmS3lLZkU1RUxZN0hZdFFCdVVkVXJMTXU2THdvZWdaNFpwV2xSdjYva05SMkpubVF0L1U1Z29hcExvaG5lZ3dCY25YOHRtVXlPQ01Od25lWE1ZUmcyRzJNZ0lwOHJ2QVlnV2VRZUdSSFpPeDZQTzVsTXh1dlB1Qm9hR2pvQTNGRlpXZm1YY2VQR0xSYVJnNUxKNUtkVHFkVGJHMUlIQUNaUG5qek9HS01MRnk1c0xub3pvZ0d5ZXZWcWZPWXpueWxhbm45OFVIOWxzMW1FWVlqdTdtNHNYYm9VbzBhTnd2Nzc3NDlubm5rR1RVMU5tREZqQmtRRXMyYk53dTY3NzQ1amp6MFdEei84TUE0OTlOQzE3cGRMV05XYnJxNHV6Smt6Qjhsa0VsT25UdTIxM3BneFk5WjgvKzY3NzJMU3BFbnJ6Rkx2dU9PT3VQNzY2M0hSUlJlaHZiMTlUWGx1eGR2R3ZBNUV3MVNRVHFkbjV4ZTRybnNKZ0ZKVlBUZWRUai9lZTlQaWZOKy90ckNzbzZQajFyS3lzdXRWZFNBMzFkTUFHM0lCTDRBc05MeFhZUklQUGZLWU9leVFnN0NuYTZPc3RIU2R4QWMwdEtncU9qczdzZmlOT2p6NDBDTUl3ekFFOUk4QU52aGNVNklDMDlBejAvTmlyc0N5ckIrcTZ1S2FtcHFuOGl1S3lFTUFaZ1A0cWpIbWNsWDladlNKN2xtNU9xcDZFb0FWTlRVMVMvUEt5a1VFemMzTkhmMGRWSHQ3K3hPalJvMXFFWkVqYmRzK1BuZldMZ0FUaHVGVkl2TFpJczFlajhaNW1tM2J2MDJuMHgraFo4bjJLUUQySzFML0xnQjdXNVoxNCtUSms0OVp2SGp4eXR5RlpESzVmUmlHWC9COS80V29qd09pWTV1QW5xQzJhK3pZc2UwaWdqQU1zLzJ0azlmL1NGVjlIOENUL09TYU5yWDMzbnV2Nkd6cUJ4OThzRmF3MkY4ZmZmVFJtbG5iYkRhTG4vNzBwMmh0YmNYVlYxK042dXBxbkhycXFXdlZmL2ZkZHpGNzltdzg4TUFEdVBIR0d6RjY5R2dBV0NlWlZhRlZxMVpoenB3NVNDUVNmZGJOZWYvOTkyR01XU3RCVjc3dmZPYzdlT3V0dC9EV1cyK3R1UWNBdlBYV1czajQ0WWV4ODg0Nzk3cFBtSWpXbFVna0hBQ1hxbXE5aUZpdTYvYjVudVo1M21NOVc5eDdWMTVlWGhIdGVYOW5RQWRNQTJvb0Jyem9XdlhoRFNVVkU0OXFhVmwxd05ublg0U0REOWdmaWZnVTdMakQ5aGk5VGVHS1B4b0tWclcyNHQxM2wySGg0bG84Ky95TFdOM1dCZ1ZlNlc3NTRKckJIaHV0WHlLUitJSXhwbm1JSnk0NlFGWC9rOGxrR3RIektlMVhBQndDWUowTU5KN24xYnV1dTBSRVRreWxVcmM1am5POWlGd2NqOGQvbmNsazNuSmRkM2NBaHdGWTYvOU5WUjBGUUJzYkd6dnl5blp5SE9ldzNNKzVmYjQ1ZFhWMXExelhQUS9BSDBUa3I2N3JQZ1ZndWFydUV4MVZkQitBay9PWElxZlQ2Yjg3amxNVG5YMjcwSFhkNTFWMWtvaE1CekFQd1BINTk0aXlQWjhvSWdlV2xwYld1YTc3bktxK0I2QXFETU5EUmVTWEFGNkl4dmRYMTNYZlZkV1hBSFNMeUw0QUpxdnFQYjd2TCt0dm5aeHNOcnVQWlZreFZYM3drLzRERXExUFIwY0hHaHNiMXl6aHpTOWZ2bnc1ZHRsbGwzWGFuSEhHR1pnNWMyYXZmVzYzM1hZNDZxaWowTjdlanIzMzNodDc3YlVYcnJycUtyUzJ0cTZWcFRrbk43dDYxbGxuNFl3enpzQ2NPWFBXQkwwRFRVU3dmUGx5WEhubGxmMnFuOHM4L1B6enorT0ZGMTdBMFVjZnpZQ1hxSitpbFVvUEFDZ1RrU29BZldlOEExQlpXVmtlcllicWxhcGVHbjM5dzBDTmx3YmVrQXg0bHkxYjFyYkQ2TzIrTzBMbHRvOC9icG4rMENPUG1jZWZmQm9qUjQ0c3VyK0hCbDkzdGh0dGJlM283dTZHcWlvVTh3TUVaeTFidG95Wng0WTRFVGxSUkM1MkhPY3BBSGQyZG5ZdUtDOHZiNG1XRGcrNjZ1cnFiVlIxWHhHWm15c0x3M0FYRVhuYTkvMEhjbVdxV3BJTExNTXdmTmdZYzNZeW1Sd1pCTUcxQUQ1bmpNbjk4cmhFVlVOVlhldU1YQkdaQW1CNWZuQWFaZkE4Ym4zajh6enZkdGQxUHdMd0l3QUhxbXFiaUR3dEloZXA2Zy9Sc3pjMy93MHpNTVljR1liaHRRQytCT0JFRVhrOW04MGVZb3o1c2pIbStJSmJaSnVibTc4MGR1ellDd0hNQUhDc2lLeFMxUVlBbDdXMHRNekpxM3VEcXA0TTRKc0F1bFYxcVlqTTlIMy85eHRZQjlHNDkxWFZFRUR4YVNpaUFmTGFhNi9CR0lQSmt5Y0RVWUFuSWxpd1lBRktTa3JXQ1lSUmNMNXJHQmFmaFBuMnQ3Kzk1dnNubjN3U2MrZk94UVVYWExBbVdWUVlobXZ1aGVpYzF0bXpaK084ODg3RG1XZWVpVnR1dWFYUGJWVzU1Y1lic2dydC92dnY3M2RkQUxqMzNudHg5ZFZYNDdycnJzUDA2ZE0zcUMzUmNCYVB4MGRabHZVM0VmbXNxaloxZG5ZVzIwNjBsdExTMGgrTHlJLzZxbWZiOWhVQXpnVndSenFkL25OZjlXbndETm5vY1ZsZHBtN3NMcnNjVTFFeStncUJIdGZaM1RXaTgrUHVFVkhXVWhwNkFrQzdCZWhXMFNkWFpkc3VXSmwzWmlnTmVSVWk4bFZWL1VwcGFlbmJxdnBQeDNGZVU5VlhtNXFhL01IODRLS3NyT3hnQUNXcXVtYXZiclF2Wjdiak9ETlZ0ZFFZczQycUhoRE5xS0tycSt1Njh2THlhNktndlEzQTEvRi95NGEvTGlKMytiN2Y0RGpPOWFvYWlNaDRBRWZtQjlXUk83TFo3RTl5UDRqSVNNdXk2Z3JINkhuZWd3RFdtUVYxSEdmbmFJL3ZlL25scVZScWVSUzhGbm9Od0tXRmhRME5EUjBORFEyekFNeGEzMnZsZWQ3bEFDNy9wSFh5N0F0Zy9oQ2YvYWV0d0x4NTh6QnQyalEwTkRSZzZkS2xtRDkvUG5iZmZYYzg4c2dqbUQ1OU9wWXRXNGEydGpZc1dyUUlPKys4TXdEZzVaZGZ4ckpseTlEUjBZRi8vT01mZlo1TCs5UlRUMkg2OU9tWU1XTUdicjc1WnBTWGwrT2RkOTZCcW1MOCtQRnI2azJiTmcyelpzMUNZMk5qcjhIdXozLytjNHdjT1JLbHBhVklwWHB5MysyNDQ0NEQ4bG84OE1BRFNLVlNHRE5tREVwS1N0RFUxSVRubm5zT28wYU5RaUtSR0pCN0VBMEh5V1J5WkJpR0QwVXJxTjRHVUZwYlc5dG5abWJYZGZ0TVh1azR6cTBpY3BxcXp2RjkvNnkrNnRQZ0dySUJMd0Ewdi9ubXg4M0EyUk1tVlA5bzVMalloRkN6MjFsbUJETTJERUhaVU5zczBSV3JWMlpYckZqUjl5OFRHbExXVEV0RVp4cFdSdjhkSnlJZmZPcFRuMW8yYWRLa1I3UFo3RDJaVEdacFB6SUZENmd3RE1lTFNITmhjcXJJQWNhWUdhb2Fpa2h0RUFTL0FvRGEydHIzaXRTRmlKeXVxbzNaYlBhY3FLaGFSQTZOTWlmNzBWRTkrVmJubGxFam1tMjJyUDU5NWxaVlZWVWhJZ2NCYVBGOWYzSC9uM2pJTUNJeURVQmhsa3VpQWRYUjBZR0ZDeGRpOXV6WldMMTZOZTY1NXg2TUdqVUtKNXh3QXM0Nzd6eGNkOTExdU8rKyt6QjM3bHlVbDVmanU5LzlMZ0RnOGNjZngyT1BQUVlBR0RseUpFNDU1WlQxM21mMjdObG9hMnVEaUdEKy9QbW9xNnRETEJiRDFLbFQxOG11Zk1RUlI2eTNyemZlZUFOTGwvYWtBQ2dySzhNUlJ4elJaNXYrS2lzcnc2dXZ2b3FPamc1MGRYV2hyS3dNdSs2Nks4NDQ0d3dtclNMcUo4ZHhKb1JoK0tpSTdBWGdoNnI2QlFELzdUaE8wYjhQOHFucU51dGJzUkZ0TXpwTlZXLzBmZi9zZ1I0N0RUeG1nU0lhWUxadEgyU011VWRWeTFUMWhIUjZhSjlyYU52Mmo0d3hWK2IyaUJYSys2V2ZWZFYvQXJnekNJSW4ydHJhUHF5dnIyL3RLNkhEQUlsRldaYUxEZEtLeXZzY1J6d2VuMmlNcVVxbjB5OFhYSktORGVRVGljVEpxMWV2ZnFJK2IwVkRsT3pwYmdESHErcTF2dTlmc0RGOUV3MVZsYnZaQjBIMG5vclJveWY5N29ick1IWHZQVDlSZnl0WHJzUzRjZVBXS1gvdnZmY3dhZElrSUVvOFpWbldtdDlKdVF6TVFSQ2d2THg4VUJKYkJrR0EvbjRJTmhTOXV1QjFuSFBCeFZqeDRZY2ZRWEZDdzVLaC9YNDFrS0p6ZUI5VTFUSVJtZUY1M2hPRFBTWWFPSzdybmdEZ3J3Qis1bm5lNVk3ajNDWWlKNFZoZUc1ZmJVWGtlQkU1YnVYS2xVWDM4THF1ZXd1QTAwVmtRaXFWNGhtcVc0QWhQY05MdElXTDljU1Q5bUNQWTcxRVpKZTg3NEc4QkNrRjM4ZEVaSnFxVG8zRllpdEhqeDd0MmJiOXVxcW1qVEhQYmVKbHIrdkw5QjJzNTlwYU1wbE1FNENtSXBjMmV0YmFzcXp6S3lvcWJuY2M1d1VSZVFmQVdGVTlHTUIyQUY0MXh2eWtIOTBRRFd2RmdsMEFhNEpkQU92azhEREdvTFMwZEpPUGJYMjI1R0NYYUd2bWVkNkRydXNlNjNuZW1nUlZxdHFlVHFmdjZLdXQ2N3FWZmVUditGaFZGM3VleDJCM0M4R0FsMmpUR1NraVB4R1JQdmVDREtZd0RFY1Z6b3prLzF3aytCVUE0MFhrY0FDSGljakhBSmE3cmp0ZlZlOHl4cnlTU3FXNk4rY3pEQ1pWdlZKRVRnZGdxK3FoSXRJTzRBMEF2MmhwYVpsVFgxL2Y3M045aVlpSWFHRGtCN3NSRTQvSGQrcXJYUmlHRllWblpCZjBleUdBQ3dkaWpMUjVNT0FsR21CaEdDNDN4aXdIVUFiQXFPcjZVM3dPTWhINVJMOEhSS1FVd05nd0RMZFgxZkxPenM1aHRWWEM5LzJIbWNXWWlJaG9hQk9SQ2JGWTdCT2ZseHVQeDBlTkdER2lJa3BBU1ZzQUJyeEVBeXlUeWZ6TGNaei9VdFdKZ3oyV2ZqbzFtcUZjbzloKzNvSlo0RlVBYXFJOXZiNnF2cGhPcHhzMncxaUppSWlJTnNhSFlSZ2UxbGNsRVprcEl2L1QyMlhMc3RLcStobmJ0dmROcDlQL0hQaGgwa0Jqd0VzMDhFTGY5MnNCMUE3MlFQckR0dTNwaUFMYTlTV3VpczVqZlVOVjcxZlZ4N3E2dXQ0UmtROXJhMnVIOUpKdElpSWlJbFhOcHRQcGRGLzFYTmZ0VUZWdGFHZ29tajlFUkVwVk5hYXFnNXRFZ1BxTkFTL1JNS2VxQWZKbWRmTm1jZ05WWFFXZ09RekR4OE13L0gwbWswbHZwcXpNUkVSRVJKdWM0emhuaU1qUnF0b3VJdVVBamhDUmhiMGt6TlR1N3U1RVNVbkpPTi8zL3owSXc2V053SUNYYUppTHp0N05uOFY5TjFxcXZFQlZYMnR2YjAvVjFkV3RHdXh4RGtlMmJZOHh4alNyYW8zdiswTTczVGNSRWRFV1NGV1hBeGdqSXR1cWFoYkFuNE1nK0dWdjlSY3VYTmdNb0huempwSStDUWE4UkFSVmJRWHdYQmlHY3dHOEZvYmhpb1VMRjM3MFNZN3JJU0lpSWhvS2ZOOC9yYmRyNlhSNkhvQjVtM2RFdERreDRDVWE1ckxaN0x3d0RHK3ZyYTE5YjdESFFrUkVSRVEwa0Jqd0VnMXppeFl0ZW1Pd3gwQkVSRVJFdENuMGZxb3lFUkVCd05aNHJqQi85eE1SRWRHd3dCbGVJcUtlTEkxZkZaRzVxdm9yVlgxV1JINERZRGRWUFRIYTN3UEhjV1lBT0U5RTlnRFFCV0IrRUFRL3FhbXA4WXYxazgxbWJ4a3hZc1JzVlQwWXdBZ1JlUzRNdzdPTG5Ga3NydXVlcnFwbmlNaHVxdG9pSXZOVTljcmV4cHRNSnJkWDFjc0JIS09xNHdIOEI4Q2ZmTisvS2orenBPdTZOd0k0RThDUnFsb3RJaGNDbUJTRzRkaDBPdjNSSm5vNWlZaUlpSVlFZnNwUFJKUkhSSFkweGp3UUhVbHd1NnArako2TXliOFNrVDhEMkJIQVhhcjZ1S29lWmxuV2ZNZHg5aXpXVHl3V2UxVlZKd0w0RzRBUEFCeGpqSG1pdXJxNkpMK3U0emczQS9nZGdNK282b01pOHJ5cWZoWEEzR0pqVENhVG53dkQ4SFVBcDZ0cWpZamNKaUlkSWpMTGRkMjdlM20wRXdCY0F1QmhWWDJndGJXVngwc1JFUkhSVm84enZFUkVhenRGVmIvdCsvNmR1WUpFSW5HRU1lWWlBSyt1V3JYcWkvWDE5UzNvQ1lMM0JmQWlnT3NCN0Z2UXozK3A2cG5wZFBwbUFLaXFxcXFvcUtoWUFHRFhzckt5TDBaQk1HemJQbHBFWmdLb0M0TGdnRXdtMHdRQThYaDhZaXdXZTZiWUFNTXd2Rk5FZGdCd2l1Lzc5MGJGTWNkeEhoS1JrMjNidmkyZFRqOWQrRnhCRU95ZHlXVHFCdlRWSWlJaUlockNPTU5MUkpSSFZSdDgzNzhydjh3WWMxNTBiV1l1MkVYUFVRWXZBWGhaUktZbms4bnRDcnBLNVlKZEFLaXZyMjhKdy9DMnFCOG5yKzh6MEJQRVhwd0xkZ0VnazhrMHFlcjVoZU5MSkJKN2k4ZzBBUE04ejdzMzcxSVd3SFZSbjhjVmVhNjVESGFKaUdoTDR6ak9rYTdyZnV5NjdrODM0VDNTcnV1cWJkdGpOdFU5YVBCd2hwZUlhRzJ2Rko0L0xDTFRWYlZMVlUreWJmdWtndnBqMFhPODB5N1JzbVdnSjhCY1VOaXhNZWJONk5xWXZIclRSQ1N3TE92Und2cGRYVjFlYVducFdtV1daVTJQMm0xajIvWVZCVTNHUjlkMktmSmNML2YxNEVSRVJFT05xdG9pVXFHcVV3ZDdMTFJsWXNCTFJKUkhSQXJQSTdZQWJDc2lFSkZMZW10bmpDa3ZLR29wVXEwdHFwdGJYV09KeURoVmZkZnp2TzdDeXFyYVZhUnNmRFNXdzBUa3NGNkdVemdXcUNyUFdTWWlvaTFPYTJ2cnRSVVZGWFZCRU13ZjdMSFFsb2tCTHhGUkhsVXRUT1lVQU9oUTFjRDMvZEdGczcrZlVBQWdLeUxqb3VPUDF1cmJzcXlKUmRxMFJsOHY4anp2bXY3ZXlCakRKRlZFUkxURnFhK3Y3d1R3MThFZUIyMjV1SWVYaUtnUHFwb1JrVkh4ZU56cFIvVU43YnNPUUhrOEh0Kzc4Rm9zRmp1NFNKTk0xRzcvZ1I0TEVSRVIwZGFHTTd4RVJIMjdDOERlbG1YZE9Ibnk1R01XTDE2OE1uY2htVXh1SDRiaEYzemZmMkVqKzc0UHdPV3hXT3o2eVpNbkg1WHIyM1hkM1FITUtxemMyZG41YkZsWjJYSVIrYkp0MjZlbTAray81MTBXMTNWUExraG1SVVJFdE1WeUhPY1VFYmtuRE1OZnBOUHBTOUh6M3J1ZHFxNEE4Rm8ybXowMEZvdjlRbFZQQWpCZVJCWUZRWEJoVFUzTmM0VjkyYlo5a0loY0tpSjdvK2ZENDVlTU1kOFB3K0tMb0Nvcks4dkdqaDM3QXdEZkFGQXBJaXNCL0MyYnpWNmFTelRwdXU3VkFDNVUxZC82dm45R3JtMHltUndaaHVHL0FGUVlZeWFuVXFtM04rWHJSTDNqREM4UlVSOTgzNStqcWkrSXlMVFMwdEk2MTNYdmN4em5meDNIZVN3TXd3WVJLVFlUMnk5QkVQeGFWV3NCN0ZOU1VsTHJ1dTVmWE5mOUc0RFhWWFdkYzNocmEydTd3akE4RFVDM01lWnV4M0ZlY2h4bmp1TTR2M2RkOTE4QS92S0pINWlJaUdnTG9LcVdaVm1QcWVxUkFKNFJrVVVBa3NhWXh4T0p4QmZ5NnpxT00wTkVuaFdSQXdIOEl6cjMvdk5oR0Q0ZmJTMWFTMVZWVmVuWXNXT2ZGSkZaQU5wRTVGWlZYUVRnZE11eTVsZFZWVldnSjJubDVRRGVFWkhUYk52K2ZON1lMaEtSSFZUMVVnYTdnNHNCTHhGUjM3TE56YzFmVXRYTFZIV0ZxaDRySWpNQVRBQndXVXRMeTdVYjIzRW1rMWx0akRsUVZYK0huamZJNDFYMXN3RE9WOVdpUnpDazArbkhnaURZVDFYL0JtQTNFZmwvQUE1UVZUOE13LzAreVlNU0VSRnRLVVJrVHdDTnhwZ3B2dTkveS9POHZRRGNMU0tseHBqL3lkV2JNbVhLcHdEY0lpSmRBUGIzUE84WTMvZS8xZEhSVVMwaVR3UFl1YkR2MGFOSC8xUkVEZ0J3aysvN1NjL3p6dko5Ly9Bd0RIOHNJcCt2cUtqNElhTDNjUURuQW9nWlk2NUFUM0M5ZzZyK1FGVVhwTlBwR3pienkwSUZ1S1NaaUtobkZ2ZitLSEZVVVEwTkRSME5EUTJ6aWkwejdtOC9udWM5VWV4YUtwWDZBTURNNkw5Q1JmdXFxYWxaQU9EWTlZMGx1dWRaQU03cXF4NFJFZEdXUmxXNzJ0dmJ6MW15WkVuMy94WHBiMFRrNnlLeUp1OUdMQmI3aG9oc0ErQjZ6L05lelpYWDF0WjJWVmRYbjFGYVducVNpS3c1QnpDWlRJNVExVE5WdGFtenMvTjhBR3ZXUEVkWm8yZXA2bkVBTGtIUGUrMkRydXMrcXFvbnhlUHhYd0U0SitydjlQeTJpVVJpUjh1eTFqcEpRVVM2Y2pQQWt5ZFBIbGRhV3JyT2JMUG5lVzlGaVM1cEl6RGdKU0lpSWlLaUxkRy9seXhaOG1GK1FWZFgxNXZSR2Zacnpyd1hrV25vMlViMFVHRUh0YlcxcmE3ckxnV3dSNjRzQ0lMSnhwZ0tBTytYbEpSY1p0djJXbTFVdFVORTFqcnpQcHZObmgyTHhRNnhMT3NQQVBaUTFWLzV2cC9KcjJPTXVSZkF2Z1Y5MVFIWURRQkdqQmh4Zmk2SXpsZGRYYjE5YlcwdGp4ZmNTQXg0aVlpSWFJTUVtbTJOaWRVZEJpSGEydG9HZXppMGtkcmEycEFOc29BaUNEVGIybzhtUkVPS2lLeHo1djNxMWF2YlNrdExvYW9tcjk1RTlCejM5MDR2WGExMTdyMklqSSsrZmw1RTFnbEFpOGxrTW0rNXJudTdpSHhQVlR2YjJ0cCtXVmhIVlM4RnNGMStXUmlHTFhuWDcxSFY5RHFENitwcTdzOFlxRGdHdkVSRVJMUkJWTHVXUTh2YnU3cTcwYlRpZzhFZURtMmtwaFVmb0tPakV3QTZWYnVXRC9aNGlEWVZWZTBVRVVUQlpuMlJLbXVkZXg4RVFXc3NGb09xUHViNy90SDl1VWQxZGZVa1ZUMEZ3QW9SbVRCeTVNanZBZmhWZnAxME92MzgrdnFvcWFsWkRHQngvNTZLK290SnE0aUlpR2lETkM1ZCtyNENxN3U3dS9GRzNWSjBkSFFNOXBCb0EzVjFkYU4yU1IwNk96c0JhR2ZqMHFYdkQvYVlpRFlWRVZtQ25zRDN3TUpycnV0V3FlcE8rV1dkbloyMTBaN1pQU3NySzh2NmM0K3lzckk1QU1hSXlKRUFGb3JJVDEzWHJSckF4NkNOeElDWGlJaUlObFFXR3Q2cnF1RkRqenlHZjNwcHRIZDBRRlVIZTF6VUIxVkZSMGNIRmk2dXhZTVBQWUl3REVOQS93Z2dPOWhqbzk0bEVva3ZWRmRYVHhyc2NXeXBWUFUrOUFTK0YrNXM3K1Q5QUFBYm1VbEVRVlN4eHg1cjl1b21rOGx0VmZWV2lhWi9jK3JxNmxhcDZrTWlNbkhjdUhHL0xsd1Y2N3B1TWorWWRSeG5Cb0RqQWR6cWVWNUtWYjhQb0J6QTd6YlBFOUw2Y0VrekVSRVJiYkN1VlIvZVVGSXg4YWlXbGxVSG5IMytSVGo0Z1AyUmlFL0JqanRzajlIYmJEUFl3Nk1pVnJXMjR0MTNsMkhoNGxvOCsveUxXTjNXQmdWZTZXNzU0SnJCSGh1dG40aWNXRnBhK21QSGNaNEFjR2RIUjhjL1I0NGMrWEVxbGVJbStuN3dmZjhmanVQOFNVUytPV0xFaU5kYzEvMjdxcTVTMVlORTVBMEFpd0JNeVc5ampQbStxazREOEQzSGNRNFhrWmRVdFYxRVhBRDdoR0Y0TUlENmVEdytVVVQrVjFVL01zWmNHdDN2V2NkeEhoS1I0eHpIK2JidiszOFl0SWNuQnJ4RVJFUzA0Wll0VzlhMncranR2anRDNWJhUFAyNlovdEFqajVuSG4zd2FJMGVPUkN6R1B5K0dvdTVzTjlyYTJ0SGQzUTFWVlNqbUJ3ak9XclpzR1lPbUxVQjByTTVYVmZVcjVlWGw3NnJxcTQ3anZLYXFyelkxTmZuOGQxdy8zL2UvN1RqT0d3QytBK0J3QUUwQTdtcHFhcnBzd29RSnJ4Uk04aUtWU3IyZFNDVDJzaXpyTWdCSEEvZzZnUGNCL0V0VlQwMm4weStpSnhIV1RkSGU0SE9qWXdhQm5uK3ZINmpxa1FCbVQ1a3k1ZEZGaXhaeDI4QWc2ZlhNU1NLaXJZWGpPSmVMeUxrQXZ1WjUzcE1EM2I5dDIyT01NYzJxV3VQN3Z0MlBKa1JiamJHNzdMSnRSY25vSzR6Z09BVkdBRElDZ0RYWTQ2S2lBa0M3QmVnT29VK3U2bTY3WUdWOS9UcFpib2VEZUR3K05SYUxQYWlxWlNJeUl6b25mY2l5YmZ2SHhwaGZGSmFyYWhlQUR3QXNFNUZIczluc1BabE1aaWtBN2k4Z2l2QWpXQ0xhNm9uSVZBRGJxcW9OWU1BRFhxTGhyUG5OTno5dUJzNmVNS0g2UnlQSHhTYUVtdDNPTWlOR0RmYTRhRjNaVU5zczBSV3JWMlpYckZoUnkyT0l0aXlLYUE5MmdSSUFPNGpJRGdEMmpNVmlsemlPODA4QWR3WkI4RVJiVzl1SDlmWDFyUURDUVJrMTBSREFnSmVJdG5vZEhSM2ZLaXNybTliWjJmbm9ZSStGYUd1MVlrVnRLMWFnRmNCYmd6MFdvcTFaYnVsdGZ2Q2I5MzFNUkthcDZ0UllMTFp5OU9qUm5tM2JDNHd4cjZycWE3N3ZyeGljVVJNTkhnYThSTFRWcTYydGZRL0FnNE05RGlJaUdscEVaRFNBR3gzSFdUWFlZK25EeE1LQy9EMm5SWUpmQVRCZVJBNEhjQ2lBbFFCV3VLNDdYMVh2TXNhOGtrcWx1amZiNklrR0VRTmVJaUlpSWhwV0xNdHFCOUFWN1RmL1hHSENvcUhta3h6NUpTSkdWVWVMU0RZTXcrMVZ0Ynl6czNOb1B6RFJBR0xBUzBSYlBjZHhmaXNpLzZPcWgvdSsvMHhVOWxVUm1hdXF2OHBtczdlTUdERml0cW9lREdDRWlEd1hodUhaNlhTNm9hQXJjVjMzZEZVOVEwUjJVOVVXRVptbnFsZjJkdTlrTXJtOXFsNE80QmhWSFEvZ1B3RCs1UHYrVmRHNWwrSzY3aXNBOWdGd2l1ZDU5K2JhSmhJSnh4aVRFcEcwNTNsNzlTU2NXVnNpa2RqUHNxd1hWWFV2My9kZjM4RFg1UmtSNmZBODc1Z05hVWRFdEtWYnNXTEYwb2tUSi80TXdLY0hleXo5dEg4MFU3dEdzU0M0SUhCZkJhQUd3T3VxdWpnSWdtY3ptUXkzSE5Dd3c0Q1hpSVkxRWRreEZvdTlxcXBMQWZ3TndBRUFqakhHZkw2NnVqcGVXMXZibGF2ck9NN05BR1lDYUZiVkIwWEVVdFd2QW5DSzlaMU1KajhYaHVFL1JHUUhWWDFDUk42TS9taVo1YnJ1SHA3bmZRMkFobUU0MHhqenVxcGVBZUNCS0JDR01lWmFFUWtCbkY0czJDVWlvbzNUMk5qWTN0alllUHRnajZPL2JOditzWWdjS2lLOXp2WkcxMElBYjZqcS9hcjZXRmRYMXpzaThtSCtleG5SY01PQWw0aUd1LzlTMVRQVDZmVE5BRkJWVlZWUlVWR3hBTUN1WldWbFg0eUNZTmkyZmJTSXpBUlFGd1RCQVpsTXBnazlSMXRNak1WaXp4VHJPQXpETzZQTW1hZjR2cCtidVkxRmg5R2ZiTnYyYmVsMCt1bDBPcDEySE9jbUVUbkhjWnpUZmQrZlk5djI4U0p5a0tyKzJ2ZjkxR1o4UFlpSWFJaFIxUUI1czdwNU03bUJxcTRDMEJ5RzRlTmhHUDQrazhta21aVjVhSXJINHhOemZ6L1E1c09BbDRpR3UxUXUyQVdBK3ZyNkZ0dTJielBHWEtPcVRpN2dOY2FjZ1o0Zzl1TDhONnRNSnRQa09NNzVJdkowZnFlSlJHSnZFWmtHWUY3K011Vm85dlk2QUVjWlk0NEQ4RFFBckZxMTZpY1ZGUlVuaWNobHlXVHl6MkVZWHEycWJ4bGpMc3Z2dDdxNmVwdXlzckpKZVVVN291ZVBvSjFjMS8wb1Y5alIwZkZlYmUzYXg0NGtrOGxQcTJwSjdtZFZMUWRnWE5ldHlwV0pTRmNxbFhyN0U3eWVSRVEwd0VURUlHOFdWMVdYQTNnTndBSlZmYTI5dlQxVlYxYzMxQk52RFRleGFIV1dBb0RydW9lbzZ0TzJiUitiVHFkN1BUWENjWndKQUQ2VFh4YUdZVkJUVStNWDFyVnQrd2NpVXU3Ny9xeE45QXhiQlFhOFJEU3NxZXFDd2pKanpKdlJ0VEY1OWFhSlNHQloxanB2VWwxZFhWNXBhZWxhWlpabFRZL2FiV1BiOWhVRlRjWkgxM2JKRmRUWDE3ZTRydnQ5QUg5UjFlZEU1UE5CRUh6UjkvMjIvSWFscGFYSEFMaW55SmpYeWtKZFZsYjJEUUIzRlR6clV3QjJ6ZjJjTjBQd3I3dzYvd1pRQlNJaUdsSlV0UTNBczJFWXpsWFZCYXJhdEhEaHdvOXlBUlVORHNkeGpnVXdWVVRHUjdrNnRvOEMxdTNETUp4V1UxT3pvTHE2ZWh0Vm5RTWdLeUpUWGRmZHE3QWZFZmxMS3BWYUlpSmZBM0JEL2pWanpHb0EyK1NYdWE3N1JRRFhxR3FZU0NTZXE2bXBtYjg1bm5kTHhJQ1hpSWE3bGlKbGJlaDVnekhSejVhSWpGUFZkejNQVytjWUIxVmRaMitVcW80WEVZaklZU0p5V0MvM0xzLy93Zk84ZXgzSHVVeEVIRlY5dWFhbTVxbkNCa0VRekxjczY2UzhvdDFFWkJhQUg2cnFtN2xDWTh3NmdYd1FCT2NZWXlweVA0dklaUUM2VlBXcXZMTFd3blpFUkRTNHN0bnN2SzZ1cmo4dFhicjAzY0VlQzYxTlJLYW82amNBckJTUktnRExBY3lMdm40RVFNckt5bTVUMVVvUmVRZkFqUHoyVVFidGlXRVllZ0NXUk1WQkdJWlZVZjkzQUppUTM2YTZ1bnFTcXQ0RzRJOGlNdDZ5ckQ4NmpqT1Y1eXdYeDRDWGlLaHZRZlNwN0xqb2JNTzFQazIzTEd1ZDh4RUI1QUxIaXp6UHU2WS9OMGtrRWtlSVNMV3FyZ0F3MVhHY2FiN3Z2NUpmSjVQSk5BSzRQNi9OZnBabFFWWC8zbGVXNXNJQTJuR2NtU0xTNGZ2Ky9iMjNJaUtpd2JabzBhSTNCbnNNVkp6bmVWY0N1Qkk5NzZ0cEFLLzd2bjlXN3Jyak9EZW82a2tBVHZZODc0SDh0clp0anpIR3ZBaGdsVEZtclh3ZzZYUzZvYnE2dXFTMHREU1pQK083MDA0N2xaZVZsYzFUMWJZZ0NNNjBMR3NrZ0xTSVBHbmI5aUhwZFBvajBGcE1QK29RRVExN3Fsb0hvRHdlais5ZGVDMFdpeDFjcEVrbWFyZC9mL3JmZGRkZFIxdVdkYXVxTmhwakRoQ1JMZ0MzVmxkWGwvU2pPUkVSRVEwdGx1dTZkd0w0bnFxZURlQkUyN1ova0x0WVZWVlZZWXg1R0VCVkdJYmZUS1ZTYllVZGxKU1VUQmVSYllJZ2VBalIzd29USmt4NERNRHVBRTdPWkRLcmZkOWZrYzFtdjZTcW54V1IxeEtKeE9UTi9hQkRIV2Q0aVlqNjV6NEFsOGRpc2VzblQ1NTgxT0xGaTFlaVp3L043Z0RXU1JiUjJkbjViRmxaMlhJUitiSnQyNmVtMCtrLzUxMFcxM1ZQems5bU5XclVxTm5SZVpBelVxblVFc2R4Wm92SXBhV2xwUmNEK1BubWVrZ2lJcUpOTFRxMmJ4YUF3MFJrdEtvdUFuQ1ppSHdSd0xsaEdKNlFUcWZub1dlR2RMYUlYQURneTU3blBaTGZqMjNiVnhoakxnSHdEYy96MXNwYjRUak9EQURuaWNnZUFMb0F6QStDNENlRnlaOFNpY1RCeHBpTEFEZ2lzcTJxdnFPcU42WFQ2ZXY3VThkeG5NTUE1SEorYkF1ZzBuR2NyMFkvWjhNd25GRlRVM09mNjdvaUl0ZEYrM2V2VTlVL3FlcW5WZlhFZERyOWNySFhTVVMrQkdCNUpwTlpNR1hLbEoxSGpCanhWeEdwRG9MZ2l6VTFOVFc1ZWdzWExseG8yL1lSSXZLSVpWa0xYTmY5eGNxVks2OXRhR2pvR0loL3J5MGRBMTRpb240SWd1RFhsbVY5VFVUMktTa3BxWFZkOTNrQW93QWNvcXEzaWNnNStmVnJhMnU3Yk5zK3pSZ3p6eGh6dCtNNFowYXp2aVVpY2lDQXp3RzRGLytYdWZGMEVabnYrLzVmb3Z0ZFpWbld0d0ZjNHJydVhNL3plbHZPMXFXcTd3TllaMjl4WDBSa0pZRE9qWHhKaUlpSU5sZzhIcDhTblZFL1ZsVmZVZFZhRVprY25ZcVFIb2g3MkxiOUt4RzVTRlhmQlhDWHFvNEdjSUpsV1FjN2puTmdiZ3VRYmR2L3p4aHp1NnF1RUpFSFZWVkZKQ0VpQndHNHZwOTFab3RJSXUvMmxRQU9SVTkyNVlOcmFtcWVSOC9TNTV0YzEvMlBxajRrSWllTHlEdEJFQnhRVTFPelRzNk5IQkU1VWxVZmRsMzNZRldkRytVVGVjQ3lMTnQxWGJ1d2ZoaUdkd0E0UWtSK01XN2N1QjBhR2hyT0t0N3o4TUtBbDRpb0h6S1p6T3BrTW5sZ0dJWlhBRGhlVlk4SFVDOGk1NnZxdllVQkwzcjIzenlXU0NUMk04WmNDbUJmRVhGVnRWRlZmVlg5RnFKamhsVDE5d0EwQ0lKejh1L25PTTdGSXZJblZiMFZ3UDdGTW5GR2I1U1RDc3Y3dy9POGt6ZW1IUkVSMGNheUxPdDJFUmtMNEN6ZjkyL0tsVHVPYzRhSTNMeisxbjFMSkJKSFJMT3hyNjVhdGVxTDlmWDFMZWdKWFBjRjhHSVVwTzZMbm9EeXd1anJkTS96Nm5OOXhPUHhOYms1K3FyaiszNFNnQ1FTQ2RleXJOZFU5USsrNy85UFZDMUF0TzkydSsyMis2NnFYb2llN1U1enN0bnNKUXNYTG16dTdUbDIybW1uY2dDN2k4aGZneUI0MzdLc1pRQ3VBbkNCcXU0WFZSc2IvVzN3VVRUR2pzN096aStVbEpSY1pveTU0NU8rbGxzTEJyeEV0Tlh6Zlg4bWdKa0ZaZmRIQ2FqVzRYbmVFOFd1cFZLcEQ2SitaaFpwVnJTdktDQTl0cmV4UldmbGZyYVhjZDhKNE03ZTJoSVJFVzFKWE5kTkF0Z1RnTzk1M2szNTEzemZuK000emplaU0rdzNtakhtUFBRRWxUTnp3UzU2UG9SK3lYR2NsMFZrMzJReXVWMzBubDZDbml6WVZuNGZtVXltS2UvSHZ1b0U2QW5rVDR0KzFwMTIybWxFWTJOanUyM2JoeHRqVGdYd0ZWWGRCc0I3SXZJdkVmbmY5UVc3QU5EWTJOZytZY0tFeXdEOERNQTludWZGbytCMlRTSk14M0dlRVpFT3ovT09LV2grNlFhOWFGczVCcnhFUkVSRVJMUTVURVZQTVBxM1loZEZ4QWZ3aVFKZUVabXVxbDJxZXBKdDJ5Y1ZYQjZMbnVCMUZ3QWZpTWhkQUg1bVdkYkxydXRlcTZxM0ZCN3QwNTg2dSs2NjYyaFZuUkVkUjNqNGhBa1RGbzhiTis1WUVUa1R3TjZxZXF1cVBtaU11Ui9BWjhJd1BNSnhuSU1LeHRidCsvN3Y4d3Q4MzcvR2NaeHZXNWIxY3dDbmZKTFhaVGhqd0V0RVJFUkVSSnVjcW41S1JLQ3FqYjFVMmVCOEZBVXNBTnRHZ2VjbHZWVXl4cFNqWjBYWExOZDFXMFRreHdDdUFIQ1o0emgvTU1aY25FcWxQdTV2blZHalJwMmhxaVVBM29zU2NPMFlpOFZlQ29MZzlKcWFtaE9UeVdTcHFqNnJxaE1CdE9lT01jb1JrVkpWN1FEdys0S2hCaUx5WndBWE9vN3pjd0RuRjdRclE4OU1iMnRCdTFyZjk5YzVWV0s0WXNCTFJFUkVSRVNiUXpkNkFzNnh4UzZxNmdTUnRYY0lpVWlJbm9STTVZWDFqVEhiRkJRRkFEcFVOZkI5ZjNTeDNCY0ZRcy96cnF1c3JKd3pac3lZVTR3eFB3UXdNd3pEM1FBYzNKODZqdVBzRUMwaHZsMVZwd0pZM3RiV2RzcklrU1Avb0tyL2ljZmpaV0VZemdQZ0FEakc5LzNIOHdlUVRDWS9IWWFoRCtDSlhsNlROMFZrcEtyK0hjQ2JCWmN2Qk5DdHFyOHBLRi92Y3VuaGh1ZndFaEVSRVJIUkpxZXFTNkt2aGN0NWtVd21SeFJiemh5R1lUTjZBdC9QRmVreVdlUWVHUkVaRlkvSG5mNk9xNkdob1NPZFR0K3hjdVZLQjhDYkluSlFNcG44ZEQvci9CckFDQUMvek5XdHE2dGI1ZnYrU1NMU2FGblc4d0FPQUhDeXFpNHZlT2J0d2pCOFRFUTZPenM3TDhpL1ZsbFpXZGJ6MkxLM3FuWjFkWFc5YkZuV2l5TGlBcGlYVHFmdkFMQmNSQnFqNzk4MXhyeVdUcWZ2U0tmVEQvWDMyWWNEQnJ4RVJFUkVSTFRKdGJlM1B3R2dSVVNPdEczNytMeExKZ3pEcTBTa1dCTEgxOUVUK1oxbTIzYnV2RnM0am5NS2dQMksxTDhMUFVta2JwdzhlZks0L0F2SlpISjd4M0VPek92amdQenJEUTBOWGFyYWpwNUFPOXRYbmRiVzFpeUEvVlQxVXQvMy8xTndyODlabHBVR3NIMTBIT0ZJWTh3QzEzVy9HMTNmTFF6RGx3SHNvS3JIMXRiV3ZwZmZmdXpZc1NuWGRWY0RPQlBBWDJwcmE3dkNNUHhmQUNlMnQ3Y0hCYzlzaWNqVnF2cUM2N3J4SXEvSnNNWWx6VVJFUkVSRXRNblYxZFd0Y2wzM1BBQi9FSkcvdXE3N0ZJRGxxcnBQZEZUUmZRQk96bCtLbkU2bi8rNDRUazEwOXUxQzEzV2ZWOVZKSWpJZHdEd0ErWUZ6THR2emlTSnlZR2xwYVozcnVzK3A2bnNBcXNJd1BGUkVmZ25nQmZRRTBYOTFYZmRkVlgwSlFMZUk3QXRnc3FyZTQvditzcjdxMU5YVkxYTWM1N3UrN3o5WitLeXBWT3BOeDNGdURvTGdwaWlqODZ1MmJZOFdrZDg2am5PVXFoNEI0SjBnQ0E3SVpES0xDdHVIWVhpNU1jWlYxWVZkWFYxemJkcytTVVNPQ29MZ2EzVjFkYXNLcWdlZG5aMUhscGFXdmdEZzc2N3JIdUo1WG1aQS8vRzJZSnpoSlNJaUlpS2l6Y0x6dk5zQmZDV2F1VDFRVlk4VmtZeUk3QVBnQS9Uc3plM0lheElZWTQ1VTFiOEEyQWJBaVNKU21zMW1Ed25EY0hHUlcyU2JtNXUvcEtxWHFlcUtxUDhaQUNZQXVLeWxwZVhhdkxvM3FHb013RGNCZkZOVkF3QXpmZC8vWm4vclJIdHl3eUxqVU4vM2Y1bzd2aWdlais5a2pKa1luWm43SlZXOTJSampGQXQyMFhPczRYMis3MStjVHFmdkhqRmlSS1V4NWpZQTgycHFhdTdMcTJibFBoeW9yYTE5enhoemVEVDcvR3c4SHQ5MXcvNWx0bDVGejQwa0lpSWlJaUxhbkJ6SGVWaEV2cXlxdHUvN05ZTTluZzNsT0U0YXdPdSs3NThHSUJhUHg1T1daUjBFNFBBb0NkYkhBRzQzeGx5ZlNxWGVMdGFINjdwbkFmaU41M214dkxMelZQV0NycTZ1UkVsSnlmRUFkaENSbUtwZURPQ3U2SDVBdEZSYVZYL1kxTlQwdmNiR3h2Yk45ZXhER1pjMEV4RVJFUkhSb0txcXFxb1FrWU1BdFBpK1gyem1kb3NTQmJ1dkFQaVBpRHlucWljME56Yy8xZERRME5HUDVtdnhQTzgzVlZWVmY2aXZyMjl4WFhjUFZUMVhWUlhBa2pBTXI4dXZtMHFsbGdENDd3RjlHQ0lpSWlJaUl1cGJJcEU0dWFxcXFpSy9MSmxNam5SZDkwSFhkZFZ4bkY4UDN1Z0dsdU00RXdaN0RNUWx6VVJFUkVSRXRKbTRydnNxZ0QxVTlRVVJlUWZBMkdpNTczWUFYaFdSUTFPcFZOdGdqNU8ySHRaZ0Q0Q0lpSWlJaUlhSFNaTW1OWW5JT0FBSkFQdUt5R2NBTEFYdzY1YVdsck1XTDE2OHdVdCtpWWlJaUlpSWlJaUlpSWlJaUlpSWlJaUlpSWlJaUlpSWlJaUlpSWlJYVBOaDBpb2lJaUlpSWhvMmJOcytmb2NkZG5oaisrMjNIN3Q4K2ZJbkJuczh0R25GQm5zQVJFUkVSRVJFdzUzak9PY0F1QnpBNGI3dnY1NHJkMTMzRmxVOUxBaUNxWmxNcG1sd1I3bmxNWU05QUNJaUlpSWlvdUhNdHUyOUFGd2pJdGZrQjdzQTBOTFM4Z01SQ1MzTHVwdngyNGJqQzBaRVJFUkVSRFNJakRHL0U1RzNQTSs3cXZCYWZYMTlTeGlHNTRySVlZN2pmSDF3UnJqbFlzQkxSRVJFUkVTYjA5WWFnMnpVYzdtdWV3d0FKd3pEWHdJSWk5VkpwOU9QQXZCRjVKS3QrUFhiSkxpSGw0aUlpSWlJTmduWGRXOEVjQ2FBSTFXMVdrUXVCREFwRE1PeDZYVDZvOHJLeXJLeFk4ZitBTUEzQUZTS3lFb0FmOHRtczVmbTcxY3Q2Q2NMNEhJUnNWVjF0WWpNWGJseTVRVU5EUTBkK2ZldXJxN2VwclMwOUJJQVh3T3dvNGcwQXZndGdQcmV4dXM0enA0aThqTUErd0VvVWRWRnFucE5PcDJlVzFCdmtZaE1GcEV4cXZvYkFDZXE2cHUrNzlzYitocXA2cGtBbXRQcDlOM3JxeGVHNGMzR21Gc2R4em5FOS8xbk52USt3eFUvSFNBaUlpSWlvazN0QkFDWEFIaFlWUjlvYlcwTnE2cXFTc2VPSGZ1a2lNd0MwQ1lpdDZycUlnQ25XNVkxdjZxcXFxSklQMThTa1lkRXBCbkFJeUpTQ3VCNzQ4YU51em0vVWp3ZUgxVldWdmE4aUZ3c0lncmdMbFZkQXVBWHF2cWpZZ08wYmZzNEVYa1p3TUdxK3FpcTNpMGlPeHRqN3JOdCszdkYycWpxMWFvNkhjQ2ZST1NsRFgxUnFxdXJTMFRrQUFEUEFjaXVyNjVsV1U5Rjl6eDhRKzh6bkhHR2w0aUlpSWlJTnJWVGdpRFlPNVBKMU9VS0hNZTVNZ3IyYnZKOS81emNjbDdidG45a2pMbXlvcUxpaDFHUW5POTBWVDB3bDlncGtVaE10aXdyRGVBYmt5ZFAvc0hpeFl0WEFrQXNGdnNaZ0NTQXVTTHlkYy96dXFONzdnbmcrY0xCT1k0elFVVCtwS3F0eHBqcG51Y3RBWURkZHR0dGZIbDVlVVpFcnJadCs4L3BkUHFqZ3FaN0dXT2NWQ3JWdGpFdlNsbFoyVDRBUm9ySWMzM1ZUYVZTYnp1Tzg1WXg1c0NOdWRkd3hSbGVJaUlpSWlMYXBGUjFibjZ3bTB3bVI0akltYXJhMU5IUmNYNyszdFhXMXRackFRU3FlbHlSZnVia1p6R3VxYWxaRE9CSkFMR1NrcElwVVhFTXdPa0FPa1RrM0ZRcTFaMnI3L3YrNjlFUzVMV0l5SDhEcUZEVnkxT3AxSkpjK1pJbFN6NVUxZHRGWkpTSUhGYmswYTdkMkdBWFBjdVVkNDZlNiszKzFCZVJSbFhkY1dQdk54eHhocGVJaUlpSWlEYTFsL04vQ0lKZ3NqR21Bc0Q3SlNVbGw5bjIybHRmVmJWRFJIWXA3Q1FNd3dXRlphcjZwb2dBd0JnQTJHT1BQWFlIc0sycS9zUHp2T1dGOVkweFhwRStwb3NJUkdRUDI3YXZ5TDhtSW03MGRaM3hkSGQzdjF4WXRvRW1SRjlYOUtleXFqWUIyUHNUM25OWVljQkxSRVJFUkVTYmxLcStsLyt6aUl5UHZuNCt5anpjTDVabHRSUXBib3Z1WWRDem5IbGkxUGM3dlhUVFZWaVFONTd2Uk1Gek1lV0ZCU1VsSmU4VnI5cHZJNkt2M1gzVUEzckdGNnBxcndPa2RUSGdKU0lpSWlLaVRjb1lzOVp4TzBFUXRNWmlNYWpxWTc3dkh6MlE5d3JEc05PeUxBRFlydGgxVloxWUdOU3FhcXVJSUF6RHZkUHA5RC83ZTY4UFAveXc2REZDRzJBRmVnTFpvbU10cEtvVCtqc2JURDI0aDVlSWlJaUlpRGFyenM3T1dnQUJnRDByS3l2TEJySnZZMHh1ci9DZThYaDhWT0YxRVRtNHNFeFZNOUcxL1FkeUxIMHh4dVJtaUxmdlo1TWRST1NUemlvUEt3eDRpWWlJaUlob3M2cXJxMXVscWcrSnlNUng0OGI5dW5EbHFldTZTZGQxcXphbWI5LzNWMFRIL0l5M0xHczJBQ3V2M3hOVTlkVENOc2FZdTFWVkFWd1NqOGVuNUYrcnJLd3NzMjE3blFSYUE2Rzd1M3RCbEtCcnY3N3FUcGt5NVZNQVBxK3FHM3o4MFhER0pjMUVSRVJFUkxUWkdXTytyNnJUQUh6UGNaekRSZVFsVlcyUGtrVHRFNGJod1FEcU43TDc4MVQxSlJHWjZicnVRYXE2QUVBbGdPa2k4bHNBYTUycjYzbGV4blhkWHdMNGNTd1c4eHpIZVJyQW15SXlBY0JoMGZuQUR3M01rLytmaFFzWE5ydXUrN3FJOUhtMmJpd1dPMVI2MW1JL005RGoySnB4aHBlSWlJaUlpRGE3VkNyMWRoQUVld0c0QmNCSUFGOEg4R1VBYmFwNmFqcWRmbkZqKy9ZOEx5TWkrd0o0Rk1DT0FMNkNudjI5aDRkaCtIUXZiUzRKdy9EcnF2bzZnQU5GNUZ1cU9nWEFYNElnK085UDhxenJvNnAzQU5qWnR1MzFCcjNHbU5OVWRWbExTOHRUbTJvc1d5Tm0rQ0lpSWlJaUlob2sxZFhWSmFXbHBmOEc4Ry9mOXc4cVZzZHhuR2tpOGpLQTczdWV0ODQ1d3RRN3p2QVNFUkVSRVJFTmt0cmEycTR3REM4UWtRTWR4L2xxa1NveEVibE9WUmMzTlRYOWJoQ0d1RVZqd0V0RVJFUkVSRFNJYW1wcTdnTndNNEJiSGNmNVRQNDF4M0d1VU5VcEluSlNZMk5qKytDTmNzdkVnSmVJaUlpSWlHaVFpY2g1SXJKWE5wdHR5Uy9QWnJPM2RIWjJWbm1lOThiZ2pZNk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QnNUL0J6RE9qZ25VVDhHL0FBQUFBRWxGVGtTdVFtQ0MiLAoJIlRoZW1lIiA6ICIiLAoJIlR5cGUiIDogImZsb3ciLAoJIlVzZXJJZCIgOiAiMTcyNDY4Mjg4OSIsCgkiVmVyc2lvbiIgOiAiMjciCn0K"/>
    </extobj>
    <extobj name="ECB019B1-382A-4266-B25C-5B523AA43C14-2">
      <extobjdata type="ECB019B1-382A-4266-B25C-5B523AA43C14" data="ewoJIkZpbGVJZCIgOiAiNDk2OTYyNjU3NTk1IiwKCSJHcm91cElkIiA6ICIyNTczODAwMDk2IiwKCSJJbWFnZSIgOiAiaVZCT1J3MEtHZ29BQUFBTlNVaEVVZ0FBQTZzQUFBRmxDQVlBQUFBTm4zNW9BQUFBQVhOU1IwSUFyczRjNlFBQUlBQkpSRUZVZUp6czNYZFVWTmYyQi9EdnVWUG9SUkFCUVFVVUZRdUNXSURFK3F5RTJFc3NpU1h4QmFOWVlvdEJzQ1Ntb1ZFakdrczBSSDBrcUxId0Vuc05CbFFVRUJCRlVWSFFKd3FDMG1GbXp1OFBZWDVNQm5SQWNBRDNaNjJzQmJlY3UyZUNkMmJmYzg0K0F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doaEJCQ0NDR0VFRUlJSVlRUVFnZ2hoQkJDQ0NHRUVFSUlJWVFRUWdnaGhCQkNDQ0dFRUVJSUlZUVFRZ2lwTTVpMkF5Q0VFUExtc0xCb1p5Z3lWelNXS0VRV0lrRmlvTzE0U04waFUvQjhFZU9QOHpLTE1qSXlrbkswSFE5NS9Td3MyaG5xbTRrdEZGemVtTzRQcEw2Z2UxZnRvbVNWRUVKSXJiTzBkRGJRYXdRL0J2WXVHTk1GNTdxY1FhenR1RWpkd1Roa1lLeVFneGVCNDFpZVVCTHdPREV4Vjl0eGtkcG4wYTZkb1lGQy9EbmRIMGg5UlBldTJrWEpLaUdFa0ZwbDA4clpWaUlXTmdEY216RW1pRVFpNk9oSUlSS0p0QjBhcVVQa2NnV0tpNG9nazh2Qk9WY0FPQ0dYeVQ5SlRVNjRwZTNZU08xNWZuOWcyd0QwWTR3SllwRUlVcm8va0hwRUlWZWdxTGdJTWhuZHUyb0RKYXRFNnhvM2JtT2theXhZaVVYTWdJc0VmUWF4Vk5zeGtmL0hJU3VXeVJYNVRNRnk4MW5Sb3lmSnljKzBIUk9wUDVvMmRkT1htTWpDQkxCL1NTUVMvS3QzVDNSMWM0V3RUVk1ZR1JscE96eFNoK1RtNVNIdC9nTkV4MXpCc1pPblVGeGNBczd4VjBHV3dpczlQUzVQMi9HUm1sZlIvYUZiVnpmWVdGdlIvWUhVRzNsNWVVaDc4RDljdTU2RVUyZkRrWkdSU2ZldUdrVEpLdEdLRm80ZG5DQ0lSb0xCblRIWWdVT1BNU2JtSEdJd0xtZzdQbElPWndyR0lPTkFDWUJDcmxEY0JSQ2hFSEF3OVZwY2dyYkRJM1ZiaXpZdWZvenhGYnE2dXNJWEFZdlJ2MjhmR0JzYmdUSDYrQ0hxT09mSXljMUYrTitSV1BCNUFBb0tDaFdjODYvdkpzVXQwWFpzcE9hVjNSLzA5UFNFRmY2ZjBmMkIxR3Y1K2ZsSXZINEQwMmZQUTBaR0p0MjdhZ2pkRGNqcklsaTJkRzZzSitGZWdPRERHT3RlZnFlT1ZBcEJKSUpJRU1BRStyT3NTempua01zVmtNdmxLQ2twQnVmL3YwL0IrV1d1d0xyQ0V2bXhSM2NTSGdOUWFETldVcmZZMnRycVNRek5MNEt4RG9NSDlNTjNLNWZCd0lCcXBwQ1hLeXdzeE9kTHY4Q0IveDRDZ0hzbE9SbHQwOUxTQ3JRZEY2azVUWnMyMWRjeHRyZ0F4anFNSFBZdWx2a3RvdnNEcWZkS1NrcXc4cnZ2c2VNL3Y0SHVYVFdESnErVFdtZlgxc1ZPb2VEdkNRSkdNeVowQmdDUlNBU250cTNSeXNFQjluWXQwTlRLRWdZR0J0RFgxNE5VU3FPQTY1TGlraExrNStjak56Y1A2WThlNGZhZHU3aVpmQXRKTjIraXBFVG14Z1Vlcks4cnV0S2lyZlBla21MWnJnZTNFKzlwTzJaU04zQmRNM013cGlzV2k5R3hRenY2SWtvMHBxdXJDeGZuampoMDlBU0tpb3NsRW9sUkV3QjN0UjBYcVRsUzR5Wk53S0FyRm92UnFXTUh1aitRQmtFaWthQmQyemJRMDlORmZrRWgzYnRxQUNXcnBGYlpPamc1TXZDZlJRSzZnakZwSTFOVERCL3lEcndHOVllMWxTV01ESTFnYUVnZlVQVkpibDRlY3A3bDRPR2p4emgyNGhSMi8zNUF5TXJPZG1VTUhhUTYwb0UycmR2UHVuL2o2aFZ0eDBtMGo0a1VadUJNVnlxVndyYXB0YmJESWZXTXRaVWw5UFIwVVZSVUxKWHJpQnZURjc2R1JhNG9zUkFMWWwycFZBb3J5eWJhRG9lUUdtTnUxZ2c2VWgzazV4ZlN2YXNHVUxKS2FrZTdkbEo3aFhnZ0I5c0Z4b3oxOVBUZzJza1pTLzBXb0pXREE4MUhxY2NNRFF4Z2FHQUFhMnNydURoM3dJaWgzdmc2Y0MwdVhMb3NLU2dvNkNrUnhPSE4yemhQdlNlU2hTRXhzVmpiOFJMdEVjc0ZmUzZCV0NRU3FGZ0txVElqSXlOSXhCS0FRU1J3RWYwQk5UQWlRV0xBR1JlTFJBSU1EUTIxSFE0aE5jYkF3QUJpc1pqdVhUV0VDdG1RbXRldW5kUk9McDBEQ0xzRXhvemJ0MnVMcjViN0kzaExFQnhidHFSRXRRRmhqTUd4VlV0c0RscURiNzljaW5aT2JTQUlncEVnQ0wrMFVJaG5OVzNhVkYvYk1SSkNDQ0dFa1BxSmtsVlM0K3pra3JtTXdROE14azV0MjJETnR5dmhQWGpBODZkTXBFR1NTTVR3R3RnZjMzKzdFczRkMjRNQitnSUVmNGx4NHpuYWpvMFFRZ2hwcUI0OWVnUXZMeTlNbno1ZDI2RlVhdVhLbFhCemM4T0ZDeGVVMi83KysyLzA3TmtUVzdaczBiaWQ5OTU3RDI1dWJzakp5YW1sU0VsZFJOa0RxVW1pNW0wN2ZjUVkrMFlrRXVEYXlSay8vZmdEakduNDN4dEJFQVMwYnRVU3dWczI0dDh6WmlNNjlvb3g1Rmpab3JWejl0MGJjWnNCeUxVZEl5R0UxTGJPblR1UDRKeFhxVkpnVEV4TUtBQ3V3YUdFcUhqNDhDSFMwOU9SazVNRG1VeFdiem9Ha3BLU2tKZVhoN2k0dUZkcTU4bVRKOWl6WncvKyt1c3ZwS1dsd2REUUVFNU9UdmprazAvZzRPQlFZL0VTN2FrZmY5R2tQbUIyclR1K0MyQ0ZJQWdZMUw4ZkFoWXZvRVQxRFdSaWJJUk42NzlId0lxdmNlVDRTWER3TCszYk9LZmRTWXI3ZzVhMklZUzhBYll6eHZRNTU1ck0yWmN3eHFRQTlnS1F2WWJZU0FQajdPeU1EUnMyd01MQ290NGtxZ0F3Y2VKRTJOblp3Y1hGNVpYYUNRd014S2xUcCtEbTVvYTJiZHZpN3QyN09IMzZOTTZkTzRldFc3ZWlZOGVPTlJZejBZNzY4MWRONnJTbXJWdWJReEF0QTdoRk0xc2JMUHgwRmhvM050ZDJXRVJMVEUxTXNQQlRYOXk2azRKcjE1Tk11Y0NXTjNWb0YwdkwyaEJDM2hCZnhjVEVMSHZaUVowN2Q1NERZTTNyQ1lrMFZPN3U3dG9Pb2Nxa1VpbjY5dTM3eXUyMGI5OGVNMmJNZ0sydHJYTGI3dDI3OGUyMzMrS25uMzdDdW5Yclh2a2FSTHNvV1NVMVFTUVI5QUlZUXlkREEwTnNYTHNLeld4dHRCMFQwU0xHR0pyWjJtTE5kMTlpOUlTcExEYzMxMFVxRVg4R3dKZUdBeE5DR2pyT2Vldk9uVHQ3YTNCb3U5Y1FEaUVOMXNTSkU5VzJEUjgrSElHQmdiaDNqNTZQTndSVVlJbThNcnUyemhNWjJDYzZPbElzK1d3K25OcTIxblpJcEk1bzQraUk1VXNXUVVjcUJST0VhYzFiZDV5cTdaZ0lJYVMyTWNaR2NjNS8wK0MvU2RxT3RhSEt5OHZEdW5YcjRPM3RqZTdkdTJQbzBLSFl0V3NYVHA4K0RUYzNONnhhdFVwNWJIaDRPTnpjM0xCbWpYb245NFVMRitEbTVvWVZLMWFvN1V0TVRNVHMyYlBScTFjdmVIcDY0djMzMzhmeDQ4ZlZqcnQzN3g2V0xWdUdkOTU1Qis3dTdoZzRjQ0NXTGwycWNreE9UZzQyYmRxRWtTTkh3dFBURTMzNzlzWDA2ZFB4K1BIakY3N09qSXdNdUxtNVllcFUxWS9YNnJRWEVoSUNOemMzZlBQTk54WHU5L0h4Z1p1Ykd4SVNFZ0FBVVZGUm1EOS9Qb1lNR2FKOFhWOTk5UlZ5YzNOZkdETUFIRDE2Rkc1dWJ0aXdZWVBhdmt1WExzSEh4d2M5ZXZSQWp4NDlNSFBtVEtTa3BMeTB6VEo1ZVhsUUtCU3d0TFRVK0J4U2QxSFBLbmtselIwN09qQ3crV0FROWVyeEZnYjA2NlB0a0VnZDA3OXZIeHc5ZmdySFRwNFdDNEt3dUVVYjV4TjNrK0x1YURzdVFnaXBSVFFNV0l2eTgvTXhiZG8wSkNVbHdjYkdCbDVlWHNqTXpNVDY5ZXZSdG0zYkdybkdtVE5uc0dqUklvakZZdlR1M1J1NnVyb0lEdy9IWjU5OWhxeXNMSXdaTXdZQWtKeWNqTW1USjBNbWs2RlBuejVvMUtnUlVsTlRjZTdjT1dWYmhZV0ZtREpsQ3U3Y3VZTnUzYnJCdzhNREdSa1pPSC8rUEo0OGVRSUxDNHNxeFZiZDlnWU5Hb1MxYTlmaTlPblRXTGh3SVFUaC8vdTBuang1Z3N1WEw4UGUzaDRkT25SQVJrWUdmSHg4WUdWbGhTNWR1c0RBd0FCUlVWSDQvZmZmOGVEQkF3UUZCVlhyZlQxeTVBaVdMRmtDUVJEZzRlRUJFeE1UWExseUJkT21UWU5FSXRHb2paOSsrZ2tBTUhUbzBHckZRT29XU2xiSnEyQUNFNFlDYUdWb1lJRDNSbzJBcVltSnRtTWlkWXlob1FIR2pCeU9xTXN4eU1yT3RnVm5Rd0dzbzhxWGhKQ0dpblB1NHVMaU1sbUQ0N3JSMnVNMWI4dVdMVWhLU3NMQWdRT3hZc1VLWmVHaHhNUkVUSnMyN1pYYno4cktRa0JBQVBUMDlCQWNIQXc3T3pzQVFIWjJOc2FPSFl0MTY5Wmg4T0RCTURJeXd0NjllMUZRVUlBbFM1WmcrUERoeWphZVBIbWkvRGs4UEJ4Mzd0ekI0TUdEOGVXWFh5cTNGeFFVVkN1KzZyWm5abWFHYnQyNklUSXlFbkZ4Y1NyRmowNmNPQUdGUW9FaFE0WUFBQ1FTQ2Z6OC9EQjA2RkNJUkNJQVFFbEpDVWFQSG8zSXlFaWtwYVdwekNQVlJHWm1Kcjc4OGt0SUpCSnMyYkpGV1J5cHBLUUVLMWFzd0tGRGgxN2F4b1lORy9EcnI3L2kzWGZmeGVEQmc2dDBmVkkzMFRCZ1VtMjJ0dTBiUVlUM3dKaXVxNHN6UExwMzFYWklwSTd5Y08rS3JsMDZBNEFFREdPYXRXbGpyZTJZQ0NHa3RqREdCZ2lDc09wbC93RVlvdTFZR3hxNVhJNzkrL2RES3BYaTAwOC9WYW1RMjY1ZE80d2JOKzZWcnhFV0ZvYTh2RHo4KzkvL1ZpYXFBR0JxYW9vaFE0YWdzTEJRdWFab1NVa0pBRUNoVUMyR2IyWm1wdnk1N0JpNVhMV2tnNTZlSHZUMDlLb2MzNnUwNStYbEJRQTRlZktreXZaang0NUJKQklwOTV1WW1HREVpQkhLUkJXbENheW5weWNBNFBidDIxV08rODgvLzBSQlFRRkdqaHlwVXNWWElwRmc4ZUxGTCsxWi9lS0xMN0I5KzNhTUdqVUtBUUVCVmI0K3FadW9aNVZVbThTQTlRTllad0NZTjJzR2RIUjB0QjBTcWFQMGRIVXgwK2NqSER0eENveWhDMk02L1FEczBIWmNoQkJTMHhRS3hYWkJFRTVGUjBmLzhiSmpPM2Z1M0pkelBvYVc5YW81S1NrcHlNM05oYXVyS3hvM2JxeTJ2MDJiTnE5OGpTdFhyZ0NsUTN6L09lZnkrdlhyQUlENzkrOERwVU5yRHh3NGdHKy8vUmJYcjEvSHVISGoxTmIvZk91dHQyQmlZb0pqeDQ3aDZkT25tRFJwRXJwMTY0YnE5cnEvU250OSsvYkZWMTk5aFZPblRtSGV2SGtBZ01lUEh5TTJOaFp2di8yMnluc3FrOGtRRXhPRG1KZ1kzTHQzRDZtcHFiaHo1L2tzbjhMQ3dpckhYYmJtYXE5ZXZkVDI2ZXZybzBXTEZraE9UcTd3M0pNblQrTEFnUU1ZTTJZTUZpMWFWT1ZyazdxTGtsVlNQYTFhNlhBbStvSUJZcStCL2VIY3NiMjJJeUoxWElkMlR2QWVQQkIvSEQ0cUVYSG1qMWF0UXBHY1hLVHR1QWdoNUZXNXVycjJZNHgxS1AzMUhvQldwZk5SWDRveGRyMXo1ODZ6OER6UlRZbU5qVDFRcThFMmNHWERheXNycmxNVGE1RStmZm9VQUhEdzRNRktqeWtxZXY3eDFyVnJWNnhmdng2clY2L0d2bjM3c0cvZlByaTd1MlBCZ2dYS1hsa1RFeE5zMzc0ZHExYXRRbVJrSkM1Y3VBQTdPenZNblRzWGI3LzlkcFhqZTVYMmRIVjEwYWRQSHh3NmRBaFhyMTVGKy9idGNmejRjWERPVmVhQXBxU2tZTjY4ZVVoSlNZR3hzVEZhdFdvRmUzdDdTQ1FTeE1URWdQT3F6L1RKeXNvQ0FGaFpXVlc0LzBVOXE1R1JrUUNBanovK3VNclhKWFViSmF1a1d1ekVCcE1aWTYzTkdqWENSNVBmMTNZNHBKNlkvdStwK0R2eUFyS3lzMXUxa0JoK2RCZFFMd05JQ0lGY0xsY1pYbGZlN3QyNzBhbFRKNVVlb3ZqNGVGeS9maDJqUjQ5K2pWR1NNb3l4QVp6ejhTODV6Sm94VnNnNXo2cnNBRUVRVGdPZ1pQVVZsQ1dqejU0OXEzQi9XVUpVWGxtUFkxbUNXVjUrZnI3YXRyS2h0RHQyN0VENzlpOS9XTy9wNlFrUER3K2NQMzhldTNidHd2bno1ekYxNmxUczI3Y1BwcWFtQUFBN096c0VCUVhoMXExYitPMjMzM0R3NEVITW5qMGJtelp0UXRldVZaOW05U3J0ZVhsNTRkQ2hRemh4NGdUYXQyK1BZOGVPd2RUVUZEMTY5RkFlczJ6Wk10eTlleGRmZi8wMSt2ZnZyM3dQTjJ6WWdKaVltQ3JIaTNMSmFIWjJOcG8xYTZhMnYvdzgzMzh5TkRTRWc0T0Q4djBrRFFjbHE2UTZ4QUFmRHpEMDd2RVdIRnM1YUhBS0lZQmRpK2JvOGJZSHd2NDREQWIrSVlCTnRPNHEwYWFjbkJ4RVJFUlU2WnhHalJxaFc3ZHVLdHNlUDM2c05pZXRxb3lNaktDdnI0L1RwMDlqMDZaTldMMTZkWVVGU2dJREErSHI2NnVTckVaRVJDQWtKSVNTVlMySmpvNWVDR0FoQUxpNXVabHd6cWNXRmhiK21waVkrTERzbU02ZE8yZHd6Zy9FeE1SOHBOVmdHN2dXTFZvQXBjV1VDZ29LMU9ab1ZwUklHUnNiQXdEUzB0TFU5bDI3ZGsxdG02T2pJeUlqSXhFVEU2TlJzb3JTaE5qRHd3TWVIaDd3OC9QRGtTTkhjTzdjT1hoN3F5N0gyN0psUy9qNStjSEp5UWtyVjY3RW9VT0hxcFdzdmtwNzNicDFnN201T1U2ZE9vV3hZOGNpUGo0ZTQ4ZVBWejRJS0Nnb1FIeDhQQndkSFRGZ3dBQ1ZjMi9ldkZudFdPM3Q3UkVWRllYTGx5K3J6RmtGZ05UVVZLU25wMWQ2N3B3NWN6Qm5qa2FER1VnOVE4a3FxYklXclRwMVpJelo2ZWhJNGVuUkhRWUdCdG9PaWRRVGVycTZlTXU5TzA2Y1BJUDgvQUpibTlidE85eS9jZldLdHVNaWI2NEhEeDdnODg4L2gxUXFWVm1tb1RMRnhjWG8yTEdqV3JJNmF0UW9qZFlXZkpGNTgrWmgvUGp4c0xXMVJWWldGaVpObW9SVnExYkJ3TUJBNVVzYTV4eDM3dHhCZUhpNGN0dmR1M2NoazhsVXRsbGFXcUoxNitmclh2djcrMWRhU1hQdDJyVXFQU2JrMWNqbDhtR0NJSHl2cTZ2N0Y0Q0g1ZmN4eGh4Y1hWM2ZxK2c4bVV4Mk1UNCt2dXBWYVlnS016TXp1TG01NGZMbHk5aTRjYU55M2lVQW5EcDFxc0ovQnkxYnRvUkVJc0dGQ3hlUWxKU2tmQkNVa3BLQzBOQlF0ZU85dkx5d1k4Y09iTnUyRGU3dTdtalZxcFZ5WDFGUkVTSWpJOUc3ZDIrZ2RCNW11M2J0VklZZmwzMXZLdHVXbkp5TUprMmFLSk5tbFBZVW9wckRsbCsxUFpGSWhJRURCeUlrSkFRaElTRUFvS3dDWExaZkpCSWhQVDBkT1RrNU1ESXlBa3FyRUplL0IxVlYvLzc5c1h2M2J1ellzUU52dmZVV0hCMGRBUUM1dWJuNDRvc3ZYbmh1UVVFQjh2THlLcHluVE9vM1NsWkoxUW5jZzNObVlXaGdDTmRPSFRVNGdaRC81K0xjRVkwYU5VSitmcjZ4aElrOUFGQ3lTclJ1L2ZyMTZOS2x5MHVQKy9UVFQ1R2RuYTIyL2Z2dnY0ZE1KcXZ3bkp5Y0hBUUdCcUtrcEFUKy92N1ExOWV2OExpeUhpRkhSMGRzMjdZTjA2ZFB4NzU5K3lBSUF2NzRRN1ZXVDFoWUdNTEN3dFRhS04rejRPM3RqZVhMbHdPbHcrb1lZK2pUUjMwdGJQcHlWN01ZWTFNNTUzZGpZbUl1VjdDN0I0QnVGV3lIU0NTYUFZQ1MxUnF3WU1FQ1RKa3lCU0VoSWJoMDZSS2NuSnh3Nzk0OXhNWEZZZlRvMGRpelo0OUtzU0VEQXdNTUh6NGN1M2Z2eHRTcFUrSHA2UW5PT2M2ZlA0K2VQWHZpNk5Hakt1MDdPanBpNnRTcDJMNTlPeVpNbUlEdTNidkR4c1lHMmRuWnVIRGhBbHEyYktsTVZuZnUzSW40K0hpNHU3dkQyTmdZOSs3ZFEzaDRPSm8xYTRhZVBYc0NBQzVmdm93ZmZ2Z0JucDZlc0xhMlJsWldGazZkT2dWZFhWMk1HaldxeXErL0p0cno4dkpDU0VnSURodzRnTFp0MnlvVFJ3Q1FTcVhvM2JzM1RwNDhpWEhqeHNIVDB4UHA2ZW00ZE9rU2V2WHFoYk5uejFZNVpqd2ZmWUIzM25rSGYvNzVKeVpObW9TdVhidENYMTlmdWI1cnk1WXRjZXZXTGJYek9PZDQ3NzMzOFBEaFEyemZ2bDNqM201U1AxQ3lTcXJFenM1T0Y0TFFEZUM2ZGkyYW8zbXpxcTJoUllpOVhYTzBhRzZMdFB2M3BXRG9abW5wdkRNOVBTNVAyM0dSTjF0Y1hKeEdheG8rZWZLa3doNVlOemUzQ28rL2UvY3V2dm5tRzJSblorUDc3NzlIOSs3ZE5lclphTmFzR1lLRGcyRmlZZ0tKUktKTU9sRmFzTVhYMXhjZmZQQ0JjdHZtelpzUkVoSlM2WmZFcDArZnd0VFVGSUdCZ1MrOU5xaytWMWZYd1l5eG5nRGc0dUx5VVd4czdFL2w5M1BPZjZGaHdMWFAwZEVSUC8vOE00S0NnaEFkSFkzVTFGUTRPVGxoMDZaTnlNek14SjQ5ZXlDVlNsWE9tVGR2SHZUMDlIRG8wQ0g4OWRkZnNMVzF4V2VmZlFZTEN3dTFaQlVBWnN5WUFRY0hCNFNHaHVMeTVjdUlpWW1CbFpVVkJnNGNpSWtUSnlxUEd6aHdJQjQvZm96VHAwOURKcFBCeXNvS1U2ZE94WVFKRTVRUHJseGNYTkMxYTFmRXhzWWlQRHdjalJzM1JyOSsvVEI1OG1UWTI5dFgrZlhYUkh0T1RrNndzN05EU2txS1NxOXFtWUNBQURScTFBaG56NTdGSDMvOEFTY25KL3o0NDQrSWpJeXNkcklLQUV1WExvVzl2VDBPSERpQTgrZlB3OHpNREY1ZVh2RHg4Y0hreVpVdlhWeFNVZ0taVEliaTR1SnFYNXZVVFpTc2tpb3BFQmtiNnpGMFkyRHNuVUg5S3kwQVFraGx4R0l4QnZicmk0anpGeG5udkp1ZVhyRUZBRXBXaVZadDNicTFTc09BTmJGdjN6NTgvLzMzTURNemcwZ2t3ckZqeDNEczJER2twS1RBMTllMzBwNWNtVXdHc1ZoY2FZL25nQUVEMUw1d3RtN2RHb01HRGFvMGx1enNiRFJxMUVpanVFbjF1THE2V2dENEVjQnB6dmxweHRnV1YxZlg1b0lnZkhQNThtWDFLajJrVmprNk9tTGR1blZxMjNmdDJnVUFNRGMzVjlrdUZvc3hhOVlzekpvMVMrMmN5NWNyNmlRSEJnOGVqTUdEQjc4d2puNzkrcUZmdjM0dlBLWk5telpZdTNidEM0K3BUT1BHamRYaWU1WDJ5dnY5OTk4cjNXZG9hSWpGaXhkajhlTEZLdHVkblozVkt2TDYrZm5Cejg5UFpkdkFnUU14Y09CQXRYWkZJaEdtVEptQ0tWT21xTzM3N2JmZktveUZNWWJmZnZzTno1NDlxM0NlUDZuZktGa2xWU0lXb3dNREhLVlNLYndHOWRkMk9LU2VHdEN2TDc0S1hJT2lvcUkyQ29sdWV3QXAybzZKdk5sZWRSaHdlV2xwYWZqdXUrL3c5OTkvWTlDZ1FWaThlTEd5WjJMbzBLRUlEQXpFeHg5L0RFOVBUL2o2K2lybmxRSkFabVltUHZyb0kweVpNa1Y1enNxVkszSHMyREdWYTV3N2Q2N0NheDg1Y2tUNTg0Z1JJekI3OW15Z05GbDFjbko2NmVzajFkTytmWHN6QUFjWlk2YU1zY25SMGRHcHJxNnUrZ0Q4T09mVFhWMWREd1BRQStEbzZ1cjZQdWRjZ2VmVmY1bENvUkFERURQR0pBREVNVEV4RzJqZDFkcHo1c3dab0RTcElnMkhzYkd4eWh4ZDBuQlFza3FxUk15WU53Qnh0eTZkWVVIem5FZzFOYkZvak81ZDNmRFh1UWd4Ukh3Z2dEKzFIUk41czBWRVJPREJnd2N2UGU3aHc0ZlExZFd0Y0Y5dWJpNjJiZHVHWDMvOUZXS3hHTXVXTGNPNzc3NnJja3puenAzeG4vLzhCd2NPSE1DR0RSc3dmdng0akJ3NUVqTm56b1NSa1JGMGRYVmhZbUtDNWN1WDQ4R0RCL0R4OFlHM3R6ZGNYVjJWYmZ6MTExK0lpb3BTS1J6ajcrK1BFU05HcUJ4WE5nZFdKcE1oTHk4UGFXbHBXTEZpQlhSMGRHQnJhNHRldlhwUkwwVE5FRW1sMG5BQUxUam5RNk9qbysvaGVkWFp4WjA3ZDk3TE9mOFFRRThBSmFWRGhIdVdueS81ang3OVV3RFdhK0UxTkNnWEwxNkVqWTBOYkd4c2xOczQ1d2dPRGtaTVRBeWNuSnpRb1VPSEY3WkJDS2tiS0ZrbFZjUFFGUURlY3UrdVVweUFrS3BnaktIbld4NzQ2MXdFd09DcXdTbUUxS3E5ZS9kcU5KYzBMeTlQclhoSFptWW1Ra0pDc0dmUEh1VGw1YUZmdjM3dzlmV3ROQkVVQkFFalJveEEvLzc5c1diTkd1emR1eGNuVDU3RW5EbHo0TzN0amFDZ0lQajQrR0RyMXEwd05qYkcrUEhqMGFsVEorWDVEeDQ4UUdKaUlyeTh2SlRiL1AzOTRlTGlvckt0VEZsUDhNT0hEM0h3NEVIbDlqVnIxdUNqano2Q2o0K1BodThTcVlTY01iWUt3TFhvNk9qejVYZEVSMGRmQnZEUE1hUmlPenM3c1V3bVkyWm1ab0pNSm1OeXVaemgrUkJJOVlVK1NaV2RQMzhlTzNic1FJY09IZEN5WlV1VWxKVGd5cFVyU0V0TGc3bTUrVXNyeXhKQzZnNUtWa2xWaUFYT25NRUFwN1p0TkRpY2tNbzVkM3orVkp0eDFoR0FRTVBlaURhWW1wcGl4SWdSbURoeG9ySW44a1gyN3QyTC9IelY2WWVYTGwxQ2NIQXdPbmZ1ak5teloydmNZMk5rWklTQWdBQU1IRGdRWDM3NUpiWnUzWXErZmZ2QzBOQVFHelpzd09MRmk5R3ZYejhVRmhhcUZDeTVjZU1HaW9xS2xFVmZPT2NBZ0lTRUJKV0V1MncrbUttcEtVNmVQQWxEUTBNb0ZBbzhmUGdRUjQ4ZVJYQndNTFp1M1lxbVRadFdXRUNGYUM0Nk92cm5LaHd1UzBsSmthR1NkVDNKcXhzMGFCQ3lzcklRSFIyTnc0Y1BnekdHcGsyYjR2MzMzOGZFaVJPcEFqWWg5UWdscTBSak5tM2JPb0RCMk1qUUVGYVdUYlFkRHFubnJLMHRZYUN2ajd6OGZCTmJCNmVXYWJldlZYOGxjVUtxS0N3c1RMa3VxcjI5UGY3KysyLzgvZmZmR3AwckZvdVZhdys2dUxoZzRNQ0JhTnEwNlFzTEw4MmRPeGRXVmxZVjd1dmV2VHQyNzk2TkowK2VLS3VEbXBpWVlPUEdqUUNBOVBSMGxiVmdaVElaNUhJNVZxeFlvZExPZ1FNSEVCWVdCcmxjanBLU0VtV3lLaGFMWVdwcXFqeXVlZlBtbURadEdwbzFhd1kvUHorRWhJUlFza29hbE5hdFcyUHAwcVhhRG9NUVVnTW9XU1VhRTNHcE14aGdaV1VKZlgwOWJZZEQ2amxkcVE2c0xKdmcxcDBVaU1XaXpnQW9XU1d2emNHREIzSC8vdjFLOTh2bGNqeDU4a1E1ajdReVlyRVk3ZHExUThlT0haR1dsbGF0TlJFSER4Nk1wVXVYcXN5dkt5Z29RRTVPRHBvMCtmOEhnNnRYcjRhbnB5Y0NBZ0tRbnA2T3paczNBd0JTVWxJd2N1UkliTm15QlIwN2RrUllXSmpLVWplVjZkKy9QMWFzV0lIYnQyK0RjMDVUT3dnaGhOUTVsS3dTalltWTRBb0FUYTJ0b0s5SHlTcDVOVklkS1pvMnRjYXRPeW5nZ3JnTGdGQnR4MFRlSE51MmJWUCtmTzNhTmR5K2ZSdjkrdldEam80T0FDQTVPUmxqeDQ3RndvVUxLNXdIV2hIT09VcEtTdURsNWFVeXgvUkYxcTlmajVLU0VyWHQwZEhSbUR0M0x0YXVYWXVXTFZ1cTdMdDU4eVprTWhseWNuSmdaR1NFR3pkdUFNQUxrK3FLaUVRaTZPam9RQ2FUVmVrOFFnaUpqbzZHcTZ0cmpUemtpbytQaDdXMWRaV0haNGVGaGNIRXhBUzlldldxY0Y5bVptYUZTK0NRK29XU1ZhSXhCWGduQVF6V1ZwYlFvMlNWdkNLcFZBcHJLMHNBQUFQdnJPMTR5SnNyTkRRVWYvMzFGd1lNR0tDMkx6NCt2dEwxcEh2MDZLRWN0bHRlNTg2ZE1YejRjSTJ1L2ROUFAxVzQvY3FWSzVETDVXamV2TG5LOXRUVVZOeTRjUU9tcHFiNDZLT1BFQlFVaEZPblRnR2xRNDNMZWxzMWNmUG1UVHg3OWd5T2pvN1VxMG9hTEpsTWhxQ2dJQXdaTWdRT0RnNEFBSVZDVWVGRG9zcUl4V0tWKzhETGxxOTZFVjFkWGVXRHBjaklTQ3hhdEFqang0K3ZWNFhPb3FPak1XM2FORXllUEJtK3ZyNnYzTjdNbVRQeHlTZWZZT3pZc1ZVNkx5UWtCUGIyOWhVbXF4RVJFWWlQajhlVUtWT3dlZk5tRkJZV3d0ZlhWNlAxdEVuZFFza3EwUlJqak5rQWdGV1RKdERWMWRGMlBLU2VrMG9rNWVjKzIyazNHdktteXNuSndlblRwOUc3ZDI5SUpCSzEvZnYzNzBkWVdGaUY1NGFHaGxhWXJOYUU2T2hvV0ZsWndkYldGdW5wNmNydDY5ZXZoNE9EQXpadTNJaVBQLzRZb2FHZkJROW5BQUFnQUVsRVFWU2hPSDM2Tk9iUG40OC8vL3dULy83M3Y5WG1ueVluSjBNcWxhb2t2dW5wNlZpMmJCa0FhSnhZRTFJZjVlWGw0ZFNwVXpoOCtEQisvdmxuTkczYUZHZlBuc1g4K2ZNMWJtUGh3b1VxaWRTZ1FZT3FsT3lXTjNIaVJNeWRPeGNvZldDVWw1ZUhoSVNFYXJXbExXVVA1UGJ1M1l2Um8wZFhPaDhmcFE4THlrWi9WRVl1bCtQaHc0ZElURXlzOUJoalkrTXFMYldscTZzTHVWd09BREF6TTBOZ1lDQnUzcnlKcjcvK0drWkdSaHEzUTdTUGtsV2lFVXRMWjMzR3VWZ2tGc1BJeUpDZXdtdUljNDdDd2tMcWlhNEFZd3hHaG9ZUWk4V1F5V1JpVzF0YnZiUzB0QUp0eC9XbXM3T3owelUwTkxSUFNFaEllaE1xTkcvZnZoMjV1Yms0Y2VJRUpreVlnTmF0VzZ2c0R3Z0kwSGdZY0UwcExDeEVRa0tDV2svdnpwMDdjZW5TSmZ6d3d3K3dzTERBOXUzYk1XdldMTmpZMkdEMDZORVlPSEFncGt5Wmd2UG5WVlpQd2ExYnQrRG41d2RuWjJlMGFORUNqeDgvUmt4TURBb0xDekZnd0FDTUhqMzZ0YjQrVW4vVngvdURpWWtKMXE1ZGl3OCsrQUN6WnMxQ2NIQ3djbDlnWUNBTURBeUEwcy9yM054YzZPdnJxL1NpenBvMXE4SjJQVDA5NGUzdHJiSXROemNYWDMzMUZkNTU1eDI4OWRaYmF1Y0VCQVNvL0Q1dTNEalkydHBxUEczZ2RkcTdkeTlXclZwVjZYN09PUlFLQllZTkcxYnBNZlBuejBlL2Z2M3cvdnZ2di9SNk8zYnN3STRkT3lyZDM3ZHZYd1FHQm1vUStYTjZlbnJLS1E2alI0K0dyYTB0NXMrZmovZmZmeDhoSVNHMTlxQ1IxRHhLVm9sR1JDYUZlcHpwaXdTQlFhcER2YXFhT0hIaUJBSURBekY3OXV6WC9tVzN2cERxNkVBa0NKQnhMZ2hDSTEyQWtsVnRNelkyYml3V2l5TmRYVjJUT2VlN0JFSDRRNkZRWk1UR3h1WUFrR3M3dnBvVUV4T0RrSkFRZlBUUlI3aDY5U3FtVFp1R3p6Ly92TUxod0ZXUmxaV0YxTlJValk1VktOUy83MSsrZkJrbEpTVndjM05UMmE2cnE0dkZpeGZEdzhNREFQRDMzMy9qL3YzNzJMWnRHOFJpTWN6TXpCQWFHb3FqUjQ4aUxpNU9lVjZiTm0zZzRlR0J4TVJFeE1mSFEwOVBEMjNidHNYUW9VUHg3cnZ2MHNOSG9ySDZlbjl3Y0hCQVFFQUFGaTllalBEd2NPVXczTTZkT3lzclphZW5wOFBMeXd1Yk4yOUdseTVkbE9kVzl1K2pSWXNXeW9yYlpUSXlNdkRWVjEraGJkdTJhdnNBcUZVb2xrZ2s2TnUzYjQyOHhwcFdWbFY4MXF4WnlvUyt6SlVyVjlDOGVYTTBhdFRvaFcyNHVyckN4TVFFSjArZVZOdVhsWldGRlN0V29LQ2dBUGZ1M1lPOXZUMVNVMU14YTlZczlPdlhUKzM0c3BFdkowNmNVQzRmOXV6Wk05eS9mMTg1K3NYWjJSbDJkczhIYXVucDZhRzR1Rmg1dm9lSEJ6WnUzSWlvcUNoS1ZPc1pTbGFKWnVSU1BTYmlZc1lFNkVpbDJvNm1YcmgxNnhZeU1qSzBIVWFkcGlPVlFoQ0p3TUVFcmxlc0J5QkwyekVSQUlEQUdITUQwSmx6dnBReEZ1dnE2bnFCYzM1ZUpCSmR1SHo1OHYrMEhlQ3J1bkhqQmhZc1dJRFdyVnRqMnJScHlNL1BoNStmSHo3Ly9IUDgrT09QYU51MkxWQ2EwSmJIT1lkY0xvZE1Kb05NSm9PWm1abmFGNnNOR3paZ3c0WU4xWTd0M0xselFPa1g2ZkpHang0TlQwOVA1ZS92dlBNTzNOM2RZVzV1anF0WHIrTEdqUnZRMGRIQi92MzdZVzV1cmp6T3pzNE82OWV2cjNZOGhQeER2YncvREJnd0FIWjJkbWpkdWpWT256NnQzSjZZbUlpY25CemxQTlJyMTY1QkxwZERSMGNITGk0dVdveTRibmpublhkVUNoOWxaMmZqKysrL2g2ZW41d3Q3WHNzcnYzU1dYQzdIZ1FNSDhPT1BQOExOelUwNWVtWElrQ0d3dHJiRzh1WExjZWJNR1V5ZlBoM3QyN2RYYTJ2VHBrMzQzLytlLzRrVkZSVWhJeU1EMzM3N0xRQmczcng1eW1UVndNQUFSVVZGeXZOeWMzTmhhR2lJZHUzYVlmLysvV2pac2lXY25aMWY0WjBocndzbHEwUWpUQ0xTNHh3aVFSQ2dTejJyV3FkUUtCcEVrUUNkMHA1VnhyaUlsNGpwVVdjZHdUbG5qREd3NTEwS3BnQjZjODU3TXNheU9lZVBYVjFkTDNMT2R4WVhGNTlOVEV3czFxREpPaVV0TFExVHBreUJoWVVGQWdNRElSYUxZV3hzalBYcjErUE1tVE00ZE9nUXJsMjdCaDBkSGV6YnR3Lzc5dTJydEsyS2lxSk1tellOZmZyMDBTaVdHVE5tcUczTHk4dUR0YlUxbWpWcjl0THp5NUxTakl3TXJGeTVFcHh6R0JrWlZXaytIaUZWVVovdkQvOGM1ZzhBUVVGQnVITGxpdkwzalJzM1FoQUVXRnRiWSsvZXZaVzJsWmVYaHdjUEhxaHN5OHA2L3J6MTZkT25hdnRRK3JDcnZCTW5UbURSb2tXWU5HbVN5bkRqZS9mdVlmdjI3WWlLaWtKbVppWk1URXpnN3U2dXRpVFY3ZHUzOGZQUFArUFNwVXQ0OHVRSkRBME4wYWxUSjB5Wk1rVnQzZWZSbzBmajl1M2JpSWlJd01HREJ4RWFHb3I3OSsralNaTW1tREJod2d1TEcwVkVSQ2gvRGc4UFIxRlJFWnljbkZTMi81Tzl2VDJzcmEyVnYrZm41K08vLy8wdlFrSkNVRkJRZ0huejVtSHc0TUVxNS9UczJSTjc5KzdGMnJWck1XblNKTGk0dUdEWXNHSG8wNmVQc25lMy9QK1Q5OTU3RC9iMjl2ajY2NitSbVptSnhNUkU3TnUzRDQ4ZlA4YUZDeGNnazhrd2N1UklQSHIwU05rYmk5S0NXUjkrK0NFbHEvVUVKYXRFTXdxWkhrU1MwbUhBRGF0bk5URXhFWnMzYjBac2JDeEtTa3JRc21WTGZQREJCK2pmdjcveW1PenNiUHpyWC85Q2h3NGRzR25USm16WXNBSEhqeC9IMDZkUDBhcFZLOHllUFJ0ZHUzWUZBR1d4a3pMKy92N3c5L2VIUkNKUm1VdW15WFZSN2dQbTdObXpXTFZxRlU2ZVBBa2JHeHY4OXR0dnIrWDlxVTA2T2xJSUlnSGdUR0FRVlczZERWSnJHR01jNmwrc0JBQm1BTXdZWTIwWVkrL3I2T2pjZDNWMURlV2MvMVpZV0hoYkVJU2N1dmJsdENLMnRyYVlPSEVpeG80ZEN6TXpNNVY5dlh2M1J1L2V2WlcvbC9Xa3l1Vnk1Unl0OHU5TCtlVmliRzF0RVJFUm9WWTU5RVZPbkRpaHRtM0ZpaFVxeThtWW01c2pKQ1RraGNWRmV2WHFoVXVYTGtFbWswRXNwbzkyVW52cTAvMWg0OGFOeW5tUXBxYW1PSExrU0lYSG9Od3c0UFhyMTZzTUE2NU1XRmhZcGNYWGZ2cnBwMG9yZmI5TWNuSXlKaytlREpsTWhqNTkrcUJSbzBaSVRVMVZqcmdvRXg0ZWpvVUxGNktrcEFUZHVuWERXMis5aFljUEh5SThQQnpuenAzRGwxOStXZUdVaGcwYk51RFBQLzlFdDI3ZDBMUnBVMFJFUk9DNzc3NkRnWUdCMmh6Y01oVlYvQzE3M3lvemI5NDhqQjgvSGpFeE1kaTdkeS9PbkRrRHNWaU1DUk1tWU1LRUNTcERpMGVNR0FGSFIwY0FRS05HamJCOCtYSk1tREFCMjdkdngvTGx5L0hGRjErZ1M1Y3VXTFZxVmFVMVFLNWV2WXE1YytkQ0xCYkR3c0pDZVEvdTFxMGJXclJvQVV0TFMxaGFXcUpKa3lZd056ZW42US8xQ0gyaUVZMUlGQ0k5Q0Z3c01FRzVEbUZEY09iTUdTeGF0QWhpc1JpOWUvZUdycTR1d3NQRDhkbG5ueUVyS3d0anhveFJPVjR1bDhQWDF4ZVptWm5vM3IwN2J0KytqV3ZYcnNIWDF4ZWhvYUZvMGFJRmJHMXRNV2JNR0NRa0pDQXhNUkhkdTNkSGl4WXRWTDVBVnZXNkFMQnUzVHBjdVhJRjN0N2VhazluNjZ2blBhc2lLS0FRZEhTRVRpNHVMbFZiWkkzVUJvdnludzFsSCtqbC8rYksvV3pER1B1VU1mYUp2cjcrTlFCUkxpNHVjWEs1L0svNCtQZzZYZDV5K3ZUcEdoM0hHSU5ZTE5Zb0FXU00xZGo5c2Z6MXhHSXgyclJwVStYekdncXU0TkFSODFZMEpMTk9xRmYzaHo1OStzRFcxaGJuenAzRHBVdVgxUFkvZWZKRVdZRzJiQmp3MWF0WGxYTWQ3ZTN0SzIyN2YvLytHRFZxbE1xMlo4K2VZY0dDQlJnelpneis5YTkvcVoxVDBVaUtmOXE3ZHk4S0NncXdaTWtTbFVyZFQ1NDhVZjZjbFpVRlB6OC9jTTZ4ZGV0V3VMcTZLdmZGeE1UQXg4Y0hLMWFzUUxkdTNWU0c0QUxBK2ZQbnNXZlBIdVdEdW4zNzltSGx5cFg0OWRkZkswMVdqeDQ5Q2dBSURnNUdhR2dvdG16WmdtYk5taUVwS1FsYnRtekJ6Smt6MWQ0clEwTkRBSUFnQ0VoS1NzS01HVE1RRmhhR1gzNzVCYi84OG92YU5YYnYzbDNodFgxOWZWRlVWQVN4V1B6Q1lwWHU3dTQ0Y2VJRVRFMU53UmhEZUhnNDVzeVpnekZqeGloams4dmxXTDE2TlVhTkdxVmN4cWcyMWNkN0YyUHNUa3hNekYxdHgxRmV3L3RVSTdWQ0xrQWlBaE1ZWTVBMGtDOURXVmxaQ0FnSWdKNmVIb0tEZzVYekhMS3pzekYyN0Zpc1c3Y09nd2NQVmlseGZ1M2FOUXdhTkFpYk5tMkNXQ3dHNXh6Ky92NDRmUGd3ZnYvOWQzejY2YWR3ZEhURW9rV0xzSG56WmlRbUpzTGIyMXVsd0ZKMXJvdlNEOUJmZi8xVnBTZW52cE5JeEJBRUFRd1E5TVdZSmdpQ1p0L0lTYTNobkF1Y2M1MS9Qbld1N0NsMDZSZFRYY2FZSytmY1JSQ0VJc1pZdW91TFMxSlJDYjlZb0FBOXZpYXZoQUhRbFFqdkM0S2dQb2FUdkZZMWVYOG9sQ0d1VUY2Nzl3Y25KeWM0T1RraE16T3p3bVQxNnRXckt2TXVEUTBOc1gzN2R1WHZNMmZPckxCZHVWd09HeHNidFI3WXNqb1Z6Wm8xcTdCM1ZwUGV2TElsY2Y1WmZLMzhLSkN3c0REazVlVmh3b1FKS29rcVNvc2F2ZnZ1dTlpL2Z6K09IVHVtOXZEYjE5ZFhwYTBoUTRaZzNicDF1SEhqUm9WVGpCaGpNRGMzUjBwS2luS3BtckpyM3JoeEF3a0pDUkNMeFNyeldzdnIxS21UY3VodVdGZ1lXcmR1clZFRjh2ejhmSHo5OWRkbzNManhDNHRVeW1ReUpDY240OGFORzdDMnRsYkdWaFpQUmthR01sbGR1M1l0UWtORDRlam8rRnFTVlFaQVh5cWF5Z0NuV3I5WURXR01wWFhvMEdGWVFrTENMVzNIVXFaaFpCMmsxb2s0aWhtNG5ITmU3YlhGNnBxeW0zMzVDZmtvSFNvMFpNZ1FiTisrSFJjdVhGQXBuaUlXaTdGZ3dRSmw3d1ZqRE9QSGo4Zmh3NGVSbEpSVWE5ZEY2ZHBzRFNsUkJRQlppUXdLcmdBQXpnUkJ4RGx2V0Mrd0htS01NYzU1bGI5QWx1dE5FVFBHREFGWU1YQ2FoMHhxaE1DWWhPNFAybGZEOTRma0dnK3dpbnIwNklGMzMzMzNoY2VzWHIxYTVYZUZRZ0dGUWdGcExSV2JIRFJvRUE0Y09JQnZ2LzBXMTY5Zng3aHg0OVFTcTdKcTN6MTc5cXl3alM1ZHVtRC8vdjI0ZnYyNjJyNS9GaTBTaThXd3NySkNjbkl5OHZQemxUMmlaYjNMZW5wNjRKeGo1Y3FWTURJeXdpZWZmUEpLcjgvR3hrYWpGUkt5czdQeDlkZGZxMndyS2lwQ1JFUUVVbEpTY1B2MmJhU2xwZUhtelpzNGRlb1VCRUhBM0xsemxjbXFqWTBOQU9EKy9mdm8yclVyZ29PREVSSVNnazgrK2VTMXJpMnQ0THhFTEFpRnIrMkMxY1E1bHpMR1REam50bUt4dUJrQVNsWkovU0lURkFVU0pwWXJGQW9VRmhacGNFYmRWMVpRSVRrNVdhMXlaOWtOL3Y3OSt5cmJiVzF0MVliVWxOMFFjM0p5YXUyNktDM0ozdEFVRmhVOVg3U2JNM2xoZ1d5ZG5wNUE1Wk8xakhOdXdSZ0xCcUQvaisxQUJUMERwYi9MT09mSm5QTkxDb1VpaG5QK2QxeGMzR1c3VnM1ZElHSGpYK3NMSUEwT0I1QmZMTit1THhHMG50eTg2V3IwL3REVzVXMHdqSGl0TDZCVVdTS21xNnVMQXdjT1ZMaCtwNStmWDRWSlZWbWhudXpzYkxXSDFFK2ZQZ1VBUEhyMHFNSUgySnBNNGVuYXRTdldyMStQMWF0WEt3dTh1YnU3WThHQ0JTb2pzUURBMHRLeXdqYktlaFh6OHZMVTl2MXpHUnFVbTN0ZlByNnkxNm1ucDRjblQ1NGdPam9hSXBGSVpVbWVzdDdmR1RObXFQMi9uemx6SnNhTkc2ZDJyV1BIanFsVVk2NEt6amtXTFZvRWtVaUUxcTFiUXlRU29WT25UcGcvZno1YXRteXBNZzNEMk5nWTV1Ym11SG56SmxhdlhvMlFrQkJNbmp3WkgzNzRZYld1WGExNEFSU1dLSGJxUzFBZjdsMHVBUHhMNTUvWEtaU3NFczJVeUF1NFZQUThXUzJxOHcrSU5GTDJvWEx3NE1GS2p5bGY5aHpsNW1DVVYzYVRyMmk5eEpxNkxzcDkrRFFraFlXRmtNdmxZQUlVK1NXS21LVFl1RHJ6Sk85TjVlenNiQ3NTaVpSL3pCVjl1U28zVHkyTGMvNEg1enhVb1ZBa0ZoVVZaU1FsSlduMjFJWVFEVEdCb1ZqT2ttOWNqVDJqN1ZqZWRBM2gvcENRa0lEVTFGVG82T2hBVjFjWE1wa01JcEZJSldHZE5XdVdTcEd6OHNvU3hkMjdkMWM2ejNMbnpwM1l1WE5udFdQMDlQU0VoNGNIenA4L2oxMjdkdUg4K2ZPWU9uVXE5dTNiQjFOVFUrVTZvWThmUDY2d2FuaG1aaVpRbXJCVlYwNU9EZ3dORGNFWWc0R0JBUll1WEtoMnpKMDdkN0Jueng2TUhEbFNyUUJjWmZNME8zYnNXR0Zkam4vS3k4dkR5cFVyVmJicDZ1b2lORFFVelpvMWcxZ3N4bnZ2dlFkTFMwdTBhOWV1d2piYXQyK1BQWHYyQUFBKy8veHpqQnc1OHFYWHJVbjE2ZDdsNHVJQ3hsaHhYUnpCUXNrcTBZeFltczhBbVlJclVGaEJJbFVmbFUzVTM3RmpSNFZyZWRXMTZ6YkV5bldGaFVXUXl4WGduTWtoS2luUWRqemtPY2FZb3R6UHdQTXZuaHhBUG9CbkNvVWlubk8rN2ZIangzODhlUEFnLzBWdDFSZjUrZmthajQ2b2pDQUlzTEN3cVBKNUsxZXV4TDU5KzdCeDQwWjA3OTc5bFdJZ3BMYlY1L3ZEeVpNbjRlL3ZEemMzTjVXMWlNVmlzY3EvdlJkOTNwYXQ4VGwvL255MXRaQ2ZQbjJLNmRPbjQvMzMzMWRibGdVQVB2amdBNDFqWll6Qnc4TURIaDRlOFBQenc1RWpSM0R1M0RsNGUzdWpmZnYyaUlpSXdMbHo1OVJpQUtDY245dXBVeWVOci9kUHQyL2ZWdmJrNnVycVZyaTBUVVJFQlBiczJZTytmZnVxeloydGpMVzF0VXJ2YkdXeXM3UFZrbFc4cE9oVmVYLysrU2ZpNCtNaGw4dnh4UmRmcVBTU1oyZG5xNDJTSTNVWEphdEVJenl2cUpBYjY4b1ZDbzZpQmpJTTJOSFJFWkdSa1lpSmlhbVZaTFhzdzA0dWw3L1c2OVlueXA1VmNNV3pnZ0pLVnVzT2h2Ly9HMzRHSUJaQUZJRHpuUE9vMk5qWU9sVXBzQ1ljT0hCQWJXNWFWUmthR3VMczJiTTFGbE5ONDV5anNMRHdoUlUxQ2RGQXZicy9aR1ZsNGRteloxaTRjQ0c4dkx3UUZ4ZW5rc2dwRkFxa3A2ZHIxTmExYTllQTBpVlJXclpzcWJLdnJNQlNreVpOS3F6Z3JjbEQ1N2k0T0xScjEwNmxzbmZaME4yeWJjT0dEY012di95Q1gzLzlGVDE3OWxUcHhieHc0UUxDd3NKZ1lXR2hWdnVpS3BLVGs5R3paMDhrSlNWVldwTWpPZm41Nk5hSWlBaWtwcWFxN1hkeGNVSHo1czFWdHIzS01HQk54TWZIWSszYXRZaU5qWVc3dXpzdVhicUV1M2RWL3lTRGdvS1FrSkRRSUpZQWZCTlFza28wd2xodVB1TTZzb1kwWjlYTHl3czdkdXpBdG0zYjRPN3VqbGF0V2luM0ZSVVZJVEl5VW1XOXhhb3FlMnAzNzk2OTEzcmQra1E1WjVVeHhWT3B0RTQ5Z1gvRGNjNTVISUM5SlNVbGh4VUtSWnFlbmw3bTVjdVhHMFoxdFFyMDdkdFg3WXRuZWNlUEg4ZisvZnN4Yk5pd0N0Y3VSQjFmTnViRWlSTUlEQXpFN05tek5TcHVRc2dMMUt2N2cxd3V4OUdqUjZHam93TS9QeiswYXRVSzQ4YU53OVNwVTVYSDVPVGthUHp2NHN5Wk16QTBORVNMRmkxcUpkNmRPM2NpUGo0ZTd1N3VNRFkyeHIxNzl4QWVIbzVtelpvcEN5cFpXVm5CMzk4ZlM1Y3V4VWNmZllUdTNidkQwdElTOSs3ZFEyeHNMUFQxOWZIdHQ5OVd1eWhqZkh3OE1qTXo0ZXJxaWpObnptRExsaTB2UEw1OEJlWHlsaXhab3Bhc3RtL2Z2a3JWZ0RVVkZSV0ZiZHUySVNvcUNsWldWbGkxYWhYNjlPa0RQejgvaElTRVlPVElrV2pTcEFrQUlDVWxwY0pwWGFSdXFydWZyS1JPU1V0TEs3UnphbHc2WjdWaEpLdU9qbzZZT25VcXRtL2ZqZ2tUSnFCNzkrNndzYkZCZG5ZMkxseTRnSll0Vzc1UzB0aWxTeGN3eHJCejUwNDhmUGdRQlFVRldMVnFWYTFmdDc1NDNzdFRCSVZDQWM2NURNbkpEZU1QcTU1Nzh1Ukpwcm01dWVlVksxZXVBZEJzSW5ZRFlHVmxCU3NySzdYdFplc1k3dCsvSDEyN2RzVm5uMzBHQUpCSUpGcUlzdnB1M2JxbDdQVWhwTHJxNC8xQkpCTGgwMDgvaFlPREF4d2RIVEZuemh5WW1wb3FIem8xYnR3WW5wNmVXTEpraWNwNUppWW1aWjlQeWg3UnUzZnZJaTR1RHYzNzk2L3l3Nm15S3NJVjlhNktSQ0xsendNSERzVGp4NDl4K3ZScHlHUXlXRmxaWWVyVXFaZ3dZWUp5cmlwS0gzdzNhOVlNd2NIQmlJMk54YVZMbDJCbVpvWjMzMzBYSDM3NG9kb2MwcW9JQ3d1RHJxNHUrdlRwQTMxOWZYejg4Y2NWSGhjUkVRRmZYMS84OU5OUEdnMERuanQzTGd3TkRUVWFWVlpTVWdKemMvTks1Nk9pM0RJL1pUR25wS1JnNGNLRkdENTh1TEphOHllZmZJSXpaODVnNGNLRkNBb0tncDZlSG03ZnZsM3BtcktrN3FGa2xXaUtjODdUR0dNdTJVK2Zvcmk0dU5iS3RyOU9NMmJNZ0lPREEwSkRRM0g1OG1YRXhNVEF5c29LQXdjT3hNU0pFMStwYlFjSEIvajcrMlBidG0wNGZ2eTRTZzlxYlY2M3ZwREo1TXBDRlp6ampyYmpJYytscGFVVnBLV2xYZFYySEhWQmVubzZsaTVkaXFpb0tOamIyeU1xS2dvWEwxNUVRRUFBUm93WWdVbVRKdFhwcC9QbHYyUVRVaFBxNi8yaGJJNWtjSEF3d3NQRE1XZk9IT1Z3K042OWU2czhJRDV5NUFoeWNuS2dwNmVIcEtRa3lHUXk1VWlwTld2V2dIT3VVWUVnQU5pMWF4ZXlzN01obFVweDgrWk55T1Z5WmU4ZUFEeDc5Z3dBVkpMUWZ2MzZhVHg4dDJQSGpocFBYeWdyTkZTUlgzNzVSZm56elpzM2NmRGdRUXdkT2xRbHJ1cUtpNHRURHAwdWs1Q1FvUEg1ang0OVV2NDhhdFFvN04rL0h6RXhNU2dxS2tKS1NnbzhQRHlBMHVyTmdpQ29mVGUxc2JIQjBxVkw0ZWZuaDdGang4TEp5UWxQbno1Vm5rZnFQa3BXaWNZWStHV0FlZCsvL3dENStRVU5JbGtGZ01HREIxZFlDS0U4VTFOVFhMNTh1Y0o5T2pvNmxlNGJPblFvaGc0ZFd1M3I0aVVmTVBWWlVYRVIwaDQ4TDFUQkdMK283WGdJS2FOUUtIRGd3QUdzVzdjT0Vva0VQL3p3QTlMUzB2RGRkOS9CMHRJU1E0Y094YzZkTy9INzc3OWo2dFNwR0RObVRJWDN3NmlvS0lTR2h1TEdqUnQ0OU9nUlRFeE0wS3RYTDh5YU5VdmpKUGZJa1NNSUNRbEJjbkl5SkJJSlhGeGNNSDM2ZExSdDIxWjV6SWtUSjdCbzBTSk1talFKM2JwMXc2cFZxNUNTa3FLc2JqcC8vbnpsc2Y3Ky92RDM5NGRFSXNINTgrZHI1UDBpcEw1NCtQQWhldlhxaFFrVEpsUjZ6TVdMRjFXcTlidTZ1cUpIang3S09kODlldlNvdEJkUkVBUVlHaG9xUjE0a0p5Zmp2Ly85TDFBNlg3VlRwMDRxUFhwbDh6ekxyN211YlhwNmVyQzN0OGVNR1ROcXBMMklpSWhYcW94YzN2RGh3eUdSU0JBWEZ3Zk9PYnAyN1lyeDQ1K3ZqdmFpSWM4REJneUFxYWtwMXE5Zmo4aklTQXdZTUlDSzJkVWpsS3dTamNrVTdJcEVCTnovMy8rUVgxQUFVMU1UYllkRTZySGlvbUk4S0UxV09WQnh0ay9JYXhZVkZZWFZxMWZqNXMyYmNIZDN4L0xseTlHNGNXT0Vob1lDcFQwZ3MyYk53b2dSSTdCNjlXcXNXYk1HZS9ic3dhSkZpK0RwNmFsc0p5TWpBejQrUHJDeXNrS1hMbDFnWUdDQXFLZ28vUDc3NzNqdzRBR0Nnb0plR3N1NmRldXdZOGNPV0ZoWXdNdkxDM2w1ZVRoOStqUXVYYnFFclZ1M3FnMlBlL3o0TVJZc1dJQzMzMzRienM3T01EUTBoS21wS2NhTUdZT0VoQVFrSmlhaWUvZnVhTkdpUloyZVgwdEliWmsvZno1S1Nrb2dDSlV2SlJrUUVJQ0FnQURsMGpYbC82MEVCZ1pXdUxSY0dUTXpNNVVpYTh1V0xVTkFRTUR6UW9LTVFTd1dLNWY3eWM3T3h1SERoNkdqbzRPdVhidld6QXVzQWJhMnR2alBmLzZqMFQzQzA5T3owb2YxWlh4OGZPRGo0MU5qOGIyb0UrQkZ1blhyVm1OSk0zbTk2Tk9LYUV4VXhHTzVIdmlEQnc5WjJXTFJoRlJYVVhFUkh2enZJVGpudktoUW9HU1ZhTlc1Yytld2ZmdDJYTGx5QlkwYk44YVNKVXN3Yk5pd1NvZlIydHJhWXMyYU5majc3Nyt4Y3VWSytQcjZvbS9mdnBnL2Z6NHNMUzBoa1VqZzUrZUhvVU9IS3VlamxaU1VZUFRvMFlpTWpFUmFXdG9MNTVSRlJrWml4NDRkNk5peEk0S0NncFE5c2JHeHNmand3dzhSR0JpSW4zLytXZVdjbzBlUFl1blNwWGpublhkVXRpOWF0QWliTjI5R1ltSWl2TDI5cWNBU2VXT0p4V0tOSDlSVWRKeVJrUkdNakl5cWRFMUJFRlNTNHdrVEpzRGUzaDR4TVRGNC9QZ3haczZjV2VlbUU5RERMRktYVlA1b2laQi91SHMzN2k0SGU1TDk5Q24rOTFDekV1K0VWT2JCLzlMeExDY0hETWg0bUJLYm91MTR5SnVydUxnWVFVRkJTRTVPeGllZmZJS0RCdzlpK1BEaEdzMzNmT3V0dDdCbnp4Nk1HalVLcDA2ZHdybHo1NERTNGl3alJveFFLWndpa1VpVXZhKzNiOTkrWWJzaElTRkE2VUwyNWIvSXVyaTRvRk9uVG9pTGkxUE8rUzVqYlcxTmlTZ2hkWndnQ0RoeDRnU2tVaWtXTEZpQUtWT21hRHNrUXVvMGVuUkNxa0lCS0dJQW9kKzFwQnZvOFJaTlRpZlZkeVcrck1BQ3Y2TGxVTWdiVGlxVklqQXdFRVpHUnBVdUZOK2xTeGNzWHJ3WUppYnEweDhNREF5d2VQRmlqQjQ5V3FXUW1rd21RMHhNREdKaVluRHYzajJrcHFiaXpwM250Y1FLQ3d0ZkdGTmNYQnpFWWpHT0h6K080OGVQcSt3cks4cVNscGFtRXErenN6TVZWQ0tranR1MWE1ZTJReUNrWHFGa2xWUUplNzd3ZDcrSTh4Y3hiY29IOU1XSVZBdm5IT0huSWdFQUNvWVliY2REU0xObXpRQUF5NWN2eCtIRGh5czlidFdxVlJWdTM3dDNyMHFpbXBLU2dubno1aUVsSlFYR3hzWm8xYW9WN08zdElaRklFQk1UbzV5M1ZoRzVYSTdjM0Z6Z0Jlc1hvblJkNXZJYU4yNzhnbGRJQ0NHRTFEK1VySklxNGVEL1pjRDg4eGN2U2RJZlBZYVZaUk1OemlKRVZYcjZJMFNjdndBQUpSeUs0eTgvZzVEWG82U2tCRG82T3ZEMTlkWG8rQ3RYcnVEUW9VTnF5ZWV5WmN0dzkrNWRmUDMxMStqZnY3L3l3ZDZHRFJzUUUvUGk1ek1pa1FoU3FSU0NJT0RjdVhNYVB4U2toNGVFRUVJYUdrcFdTWlVVeVFxU2RTVUdONHVMaTlzZE9YWUNrOThmcisyUVNEMTA0dlJabE1oa0FPZEpKVVh5RzlxT2g1RHk5UFQwTUdyVUtJMk9GWWxFT0hUb2tNcTJnb0lDeE1mSHc5SFJFUU1HREZEWmQvUG1UWTNhZFhSMHhOV3JWM0g5K25VNE9UbFZJZnFLbFNXeWNybjhsZHNpaEJCQ1hoY3FzRVNxNUtGTWxnUE9vampuUE96UEkvVEZoMVNaWEM3SDBST253RG5ubk9HaUlsK1NvZTJZQ0tsSklwRUlJcEVJNmVucHlNbkpVVzRQRHc5SGVIaTRSbTJVRlVyNjl0dHY4ZlRwVTVWOUdSa1pMMTB1NHAvSzVyYmV1M2V2U3VjUlFtcEdkblkyMHRQVFgrbS9meFpWZXhVWkdSbHdjM1BEMUtsVGE2eE5RbW9EOWF5U3FrbEpLVVFiNXd0Z3dwaDdxV2w2dCsra3dMRlZTMjFIUmVxUlc3ZnZJT1h1UFRDZ21ITmNTRStQeTlOMlRJVFVKS2xVaXQ2OWUrUGt5Wk1ZTjI0Y1BEMDlrWjZlamt1WExxRlhyMTRxNnpCV1p0U29VVGg1OGlTaW82TXhZc1FJZE9uU0JlYm01a2hOVGNYRml4Y3hkZXBVdUxtNWFSeFRseTVkd0JqRHpwMDc4ZkRoUXhRVUZGUTYvNVlRVXZOV3JGaWgwYi85RituVnF4ZSsvLzc3R292cGRjbkx5NE9CZ1lHMnd5RDFGQ1dycE1ya1VFU0pHY3ZJeTh0ckZwZVFTTWtxcVpLNGhFUmtaV2NEWURsY3ByaWs3WGdJK1NlRlFvSFUxRlNOanMzS3lxcHdlMEJBQUJvMWFvU3paOC9panovK2dKT1RFMzc4OFVkRVJrWnE5SVZWTEJZaktDZ0lPM2Jzd0pFalIzRDI3RmtZR0JqQTJ0b2EwNmRQMTNpWWNoa0hCd2Y0Ky90ajI3WnRPSDc4dUVveEtFSkk3WnMrZlRyR2poMWI0VDZGUW9ITm16Y2pJU0VCOCtiTmc0T0RRNFhIbVptWjFYS1VOU3NsSlFXTEZpMUNodzRkNE8vdnIrMXdTRDFGeVNxcHN0U2toQ3QyYlRzOUtDb3ViaFo1NFNJRzllOUxUOHlJUmdxTGluRCs0aVhrNXhjQVVEeThteHhIeTlhUU9pY3pNeFBEaGcxN3BUWU1EUTJ4ZVBGaUxGNjhXR1c3czdNelB2NzRZNnpuTmdzQUFDQUFTVVJCVkpWdGZuNSs4UFB6VTJ0RFIwY0gwNlpOdzdScDAxNTRyWDc5K21rMExIam8wS0VZT25Tb3hxK0JFRkp6SEIwZEs5eWVsNWNIUHo4L3hNZkg0OE1QUDhTNGNlTlFVbElDaVVUeTJtT3NhUmtaR1VoT1RrYjc5dTIxSFFxcHh5aFpKZFZSd3FIWXhTRHFmdnJzT1l3Ymt3dzMxMDdham9uVUF5a3A5M0RxN0Y4QUFNNnhEUUJOZWlaMVRxTkdqYkJod3dhTmpqMTkralMyYnQxYTZ6RVJRaHFlMk5oWUJBUUU0TW1USjdDeXNzS2ZmLzRKVzF0Yi9QampqL0R4OFlHM3R6ZEVJcEcydzZ3U2hVSUJRYUNTT0tUbVVMSktxaVUvVXg1czBGaVluNVdkM1dKSHlHK1VyQktOYlAxNUI3S3puNEp6Zmlmdmlld25iY2REeUQ4dFc3WU1Db1VDVXFsVW8rUGJ0R2tESHgrZjJnNkxFTktBNU9ibVlzdVdMUWdKQ1VHYk5tMFFGQlNFOWV2WEl6RXhFVzV1Ym1qZnZqMVdyRmlCblR0M1l1Yk1tZWpkdTdmR2JXZG5aK1AzMzMvSDZkT25jZi8rZlJRV0ZxSjE2OWFZTm0wYTNuNzdiWTNheU1qSXdLWk5teEFlSG83czdHeFlXMXZEMjlzYmt5ZFBobGo4LzZuRDZOR2pjZnYyYlp3OWV4YXJWcTNDeVpNbllXTmpnNjFidDZyRWZQRGdRUnc4ZUJBQUVCd2NqSTRkTzFicC9TSnZObnIwUWFybDhlUEVYSVdjQjNBTytYLy9QSUpyU2JUNkNIbXh4T3Mzc0Qvc0QzQU9PYUQ0NXZIanhGeHR4MFRJUDRuRllvMFRWVUlJcVFxWlRJWjkrL1poMkxCaCtNOS8vb1B4NDhjak9EZ1l6WnMzVng1alkyT0RWYXRXWWRPbVRSQ0pSSmczYng1OGZIeVFrcEtpMFRVMmJOaUF6WnMzdzhqSUNGNWVYdWpUcHcrdVg3K09PWFBtSUM0dTdxWG5wNldsWWNLRUNkaS9mejhjSFIweGZQaHc2T2pvNE1jZmY4U1NKVXNxUEdmZHVuVzRjdVVLdkwyOTRlTGlBb2xFZ2pGanhpZ1RWbnQ3ZTR3Wk13Wmp4b3lCdWJtNXh1OFhJYUNlVmZJcUZQbnlQMFNHTEJwZ1hiOVp0UlpiZ3RaQVIwZEgyMkdST3Fpd3NCQS9iTmowL0JmR0w4bitqNzM3am12cSt2OEgvam8zQ1hzNHdBVnVyYUtzQkt0MTFiMUhxL2FyZGJUVzNXcXRyYnRxdFdvL3RvNDY2cW9EdFZxeDJCWXJ0UTdjaWxvVkFvSUxSVVNnT0FBQm1TSEpQYjgvVFBJakRBa09ndmgrUGg0K0pPZWVlKzc3QnJubXpWbGE0Ujl6eDBRSUlZU1VCWlZLaGNEQVFPemN1Uk9KaVlsd2MzUEQwcVZMbjdtaTk5dHZ2dzAvUHovczJiTUhHemR1eEpBaFEvRHh4eDlqekpneHNMS3lLdlk4aFVLQlR6NzVCQzR1TG9heXdNQkFMRnk0RUwvLy9qczhQVDJmR2V1OGVmT1FuSnlNNzcvLzNyQlB0RWFqd2RTcFUzSDA2Rkc4Ly83N2VPZWRkNHpPdVhidEd2YnMyV01VMTZ4WnN4QVNFb0pUcDA3QjA5TVRzMmJOTXVtOUlxUWc2bGtsenkwaDRWb2E1K3dQY0s0S3V4S0p5NkZLYzRkRXlxbExJVXFFS01NQlFNMUUvbWZDclN2M3pSMFRJWVFRVWhZZVBYcUVOV3ZXZ0RHR0pVdVdZTmV1WFNadFBTV1JTREJpeEFqNCsvdkR5OHNMdTNidEtuR3Y1RjY5ZWhrbHF0QnRlUU1BTVRFeHp6ejM2dFdyaUl5TVJNZU9IUTJKS25RalRvWVBIdzRBUmE1bVBtTEVpR2NtMElTOENPcFpKUzlDVkRQK2x3d1luWm1aMmNSdjc1OXdiOTRNbFJ3ZHpSMFhLVWV5c3JMZy84YytQSDY2eGNkOXRVYTdENEJvN3JnSUlZU1FzbEM3ZG0xczJiSUZqUnMzTnByem1kK2dRWVBRcVZPbklvKzV1cnBpMDZaTmlJbUpRY09HSlc4WCtPREJBMXk4ZUJGUlVWR0lqNDlIUWtJQ29Cdmw5Q3o2WWNMWjJkbUZGcGxMVDA4SGRNT0VDeXFwdDVhUUYwSEpLbmtoLzkyOGNxdE9VOC92QmM1OFQ1dzZJL256cjc4eFp1UUljNGRGeXBGOWdmL2cyTW5UNEJ4YVVkUitsM0RuV3JTNVl5S0VFRUxLa3B1Ykc2RGJRdXJodzRmRjFsdTBhRkdoc3VyVnEyUC8vdjBtSmFvYk4yN0V0bTNid0RsSC9mcjFVYnQyYmJScjF3NStmbjdnbkQvejNMUzBOQURBcFV1WGNPblNwU0xycUZTcVFtVk9UazRseGtYSTg2SmtsYnl3dUpzUmZ2V2FlblhJeTFPUCttbjlKcmczZDBPckZpVVBieUVWWDFoNEJKYXZYZ3UxV2czT3VWL2NyY2dkNW82SkVFSUlNUmVWU29XMzNub0wvZnYzTjZsK1lHQWdIajE2WkZMZEN4Y3VZT3ZXcmZEeDhjRVBQL3lBS2xXcUFMbzVwMzUrZmlXZWIyTmpBd0NZTW1VS1B2NzRZNU91Q1FDTU1aUHJFbEphbEt5U2wwR2RsYXVlWTJkdDBmNUpSa2JEcjJiTVlidTNiMGE5dW5Yb0FmYUc0cHdqOWw0Y1pzeVpqeWRQTWppQVcxd1V2d1dnTm5kc2hCQkNpRG5WcVZNSEgzendnVWwxdzhQRFRVNVc5YjJoUTRjT05TU3FBSEQ3OW0yVHptL2N1REVBUUtsVWxpcFpMWTcrTTZBbzBzd2Y4dnhvZ1NYeVVpVEZYbitrRmNXdkdaRDg4RkVTdnZ0aEJmNUxwRFYwM2xSSlNjbFl0R1FaN3Q2TEE4Q2VjQkZmeDkyT05HM2RmVUlJSVlTVW1rd21Bd29rcDdtNXVWaTFhcFZKNTdkczJSSk9UazQ0ZS9Zc0RoMDZaSFNNYzQ2Z29LQlN4Vk81Y21VQXdMMTc5MHAxSGlINVVjOHFlVm5FdUNoTllMMG1VbGR3dnVyTXVRdjRjc1ljYk5td0dwVXJWVEozYktRTVBYNmNpc25UWmtNWkZnN09PYlJNdXpEK2xzVUJXbFNKRUVJSWVYVzZkT21DSFR0MllQUG16WWlLaWtLbFNwVnc4ZUpGZUhoNG1IUytUQ2JETjk5OGcyblRwbUhldkhuWXUzY3ZHamR1RExWYURhVlNpWVNFQktOVmdrdFNwMDRkVks5ZUhSRVJFWmc4ZVRJcVZhcUVFU05Hb0VtVEppOXdsK1JOUXoycjVDVzZuaGNiRmJHYWMvRmJqVWFib3d5L2doR2pKdUJlWER3TkFYa0RpS0tJdS9maU1QcXpMM0E1VkFtTlZzelJhdm1DK0J1UnE0QlFHdjVMQ0NHRTZGYmJqWStQTitsUGRuYTJ5ZTAyYWRJRXExYXRncHViRy83OTkxOEVCd2VqZS9mdVJTN2FWSngyN2RyQjE5Y1g3ZHUzUjJ4c0xQNysrMjhvbFVvMGFkSUV2cjYrcGJwUHFWU0twVXVYd3MzTkRTRWhJVkFxbGJDMHRDeFZHNFJRenlwNTZXSTEyVC9Vazlya2dRdXpiMFRkY3Zoc3luU01IUDRoM3UvWEI1YVdGdVlPajd3Q2VYbDUySC9nSUxiOXNodTNvdStBQTlsZ2ZKRW1NMm10dVdNamhCQkN5cFBUcDA4WHVWOXBjWnlkblUydTI3WnRXN1J0MjdaUWVXaG9xTkZySnllblFtVjY3dTd1V0wxNmRZblgrdjMzMzB1czQrSGhnVjkvL2JYRWVvUVVoNUpWOHZKRlI2dnlhdFZhWTJIbmxBaUJiYndaZGN2NnU2VXJjT2pJTVV6NWZBSzhQTndoQ05TcFh4R0lvb2l3SzVIWXNOa1hsMEpDa1pXVi9UUlI1WmlVOXlScGIySmlvdW0vRWlhRUVFTGVBRzNidHNXa1NaTk1xcnQrL1hyY3VuWHJsY2RFU0hsRnlTcDVKWjRtS1ltL3VEWnhENU5DdWlzek03djVtWFBuSlJjdVhrTEhEdTB4NnFOaGVLdHhROWhZVzhQS3lzcmM0WkpTeU0xVklUc25HN2VpNzJEWGJuOGNQWEVTR28wV25ITVJEQkVhclhwQ3dxM3JSVy9RUnQ0b0dpblBrb0dwUmEySXpDejZ2UVVwbmV6c2JHaTBHb0JEcStXYVRIUEhRMTR1TGRka1NwbEVMV3JGVWcxMWZkMEZCZ1pDRUFSSXBhWjlCUC9wcDU5ZWVVems1YUpuMTh0RnlTcDVwUktpcmtiVWJ1UStVQ0tWak9WZy9kVWFUYk9qeDAvaStNblRhTks0RVpxODFSajE2OVZGclJyVllXdHJDeHNiYTFoWTBGRGg4aVJQclVaMmRqWXlNN1B3OE5FanhOeU54WTJvVzdnZEhRT3RWZ3M4WFNVd2lqTVd5RFhhbnhOdVg0OHhkOHlrZk1oVDhVY3lTK1RrcWRWNDhQQ2h1Y01ocjVsSFNjbkl6VlVCZ0lyelBGcGV2b0xoUE84K3VIVk9ubHFOUjBuSjVnNm56TkJubklxUG5sMHZGeVdyNUpXTGo3NTZCNDBhZlZzYlZsc0ZxYVFYQTBhSm9xaTRFWFVMTjZKdWdUSEEydG9hVXFrVVVvbVVoZ2lYTXlJWG9kRm9vRkZya0pPYkM4NjU0UmpudU1JWnRtanpXRkNDa0JtSDZHaVZXWU1sNWNxanUxZVQ2elgxeWxLcjFiaHhNd3E1dWJrMGtvS1lKQzlQamVzM282QlNxUUJ3VmNLdFcvVGJqZ29tNGRhdGg0Ym5ROVF0ZWo2UUNvR2VYUzhmSmF1a2JFUkhxK0tCT3dEV0FWam4ycUNwaDlUQ1lpaVkwQmFjMTgvT3pyWUFaeExPdUFBd3lsYkxGUzR5emtRd3JnV1FKNHE0SnpCK0JxSjJiK3l0YTFmTUhSMHAxN1Rnb2orSDRCVjAvS1R3WHI4K2FLSHdocFdscFdHemVQSm1PbmJzR0diTm1vV1JJMGZpaXkrK01KUnp6cUZTcVhEdFJoVDI3VDhBVVJSRmdQOENRR09PT0wyOXZkOFhCR0VmZ0RWS3BmSkxBR2pXckZrTkt5dXIrNXp6YzJGaFllM01FVmNGb2RFL0gvWWZPQ2gwN2R5Um5nL2t0VlhlbmwwVkNTV3J4Q3dTWW01R0FvZ0VBQ2VuSnZaV0RrSU5xWVRaY29sZ3d5Q2xNVExsQ0ljMlQ2MFZzNW5JTXJPWjZ0SGo2T2duNW82SnZEN3lNbExXV2poVTY1MlptZlh1NUtrejBlbmQ5dkIwYndaWFZ4ZlkyOW1aT3p4aUpyZWk3d0FBRXU4L3dMK1hRZ0FBR1ptWitPKy9SRVJldTQ3anA4NGlLenNiSExpZ2ZwSzgzTXpodm5JS2hlSW1nQ1lBVml1VnlxL01IVTlaMFQ4Zm5qekpNRHdmdkR6ZDRWS3JKajBmeUd2alRYNTJsUVZLVm9uWkpTZEhaU0FaR2VhT2d4RHk4aVVtSm1iWHNuY2FiOEhaaHZUMEp4MzNIemdvSER4eUZMWTJOaVl2TUVJcUhsR1RCd0E0ZXVJVVRnUS9YWTlOclZFak96c0hhclVhbkhNT2ptQXR0SjlYOUZYRjVYSjVhd0JOK05NNUZzTjlmSHhtaG9hK0dYdFQ2NThQTXM2MnBxYy9hYlAvd0VIaDBKR2pzS0huQTNtTnZLblByckpDVHdKQ0NDR3ZWR0pVUkpTVFU1UDNiWjJzbGpEdzkvTFVlYks4ZExVTWdNVGNzUkh6c0JBZ3M3TVViSE95YzFRNUdUazV1bUl0d05VTVVIUEdqMlJvc3FlOUNTTTVHR09mNlA0K0NxQzdWcXZ0RFdDL3VlTXFLNGxSRVZHVkd6VG82MkJoL3gwRGYwK2x6cE9wNlBsQVhpOXY1TE9yckZDeVNnZ2g1SlZMVG83S1NFN0daR2ZuWmw5THFvcE9NbEhpTEJGa3R1YU9pNWlIbEtFRGdHK2xBZ0tnd1dZQTBJZzhXOEo0VXRaalRWSlMwdlUzWXJ1SGV2WHFXWEhPQndPNEMyQTVZNnk3SUFnajM2UmtGUUJTWTJMU1UvSDArV0JUUmVvc2NvMVR3ZWVEV3ExbU1wbU1GOThLSWVieEpqNjd5aElscTRRUVFzcE1VdEwxVENRaEUwQ3N1V01oNWlPWHk1MEFRQ3BoY2ZZeVRaeE1KbHZCT2U4RVFGYkZSbkttVmkydkw2OWN1WElyL3prS2hhSXo1M3dTWTh5YmMrN0NHSHZNT2QrZmtaRXhLenBmTDRaQ29WZ0hZQktBWHB4ekRZQ0Z1bk95R0dPL1AzNzhlRnBzYkd4dS9yYWJOV3RtWjJscE9SZkFFQUF1akxFRUFEOERpQzdOZmZuNCtOVGtuQzhFMEpkelhoWEFQUUE3dzhMQ2ZpaHFvWlhLbFNzUFlJeFZBckJCcVZTZWtNdmxpWXl4dmo0K1BrNmhvYUhKQmRwMjRwd25BYmlvMFdpNlNLWFMvM0hPL3c5QVZjYllWYTFXTytQS2xTc244NS9qN2UzZFdCQ0VPYnIzdGdhQUZBQkh3OExDUGludy9XakJHUHNXUURzQUZwenpxNXp6NWVIaDRiL3IydmxFRUlUdCtSZWEwaEhrY25rU1k4eFJyVlk3UjBaR3B1YTc5bEpCRUdZQzZLSlVLaytZOHY3b253OEtoV0phdnU5aE04YllETUN5aGlpS2xjUER3OU5LOHowaGhMemVhTlZWUWdnaGhKZ0ZZOHhGS3BWZTRKelhBUEEzZ0dUR1dDOUJFSUxxMWF0bjJNZWtXYk5tTlFBY1o0eTE0SnlmQmJDWmMvNllNZmFwdmIyOWZ6SE45MlNNN1dlTXBRSTR3Qml6QkRDeFNwVXFHL0pYOHZUMHRMV3lzanJGR0p2TkdPTUFmdVdjM3dUd1A4NzUxNmJlaTQrUFQwTlJGRU1Bak9PY1gyR01iV1dNNVRMR0Zpc1VpdDNGM1A4bkFLRFJhUFlBRURubi9nQmtvaWdPSys0Nm5IT0pSQ0k1eURudkJlQVlZK3dxQUI5QkVBNTVlWG05bGUrKzNCbGpTczc1VU1iWXZ3QTJBN2dDb0hmKzlyeTl2ZDlqakowSDBJbHovZy9uZkRkanJMWWdDSHU5dmIwbjZ1STdwSnRUMjduQWUvYzJZNndLQUlsVUt1MVM0TjQ2Y3M0emMzTnpnNS8zL1FFd0FNQmNBSUdjOHo4ek16TkYwNzRiaEpDS2ducFdDU0dFRUdJdUl4aGpVNVZLNVNvQWFOS2tpYjJ0cmUxbHhsaVRLbFdxOUk2TmpRM0EwOFFuRDhBRXBWTHArM1IrR05Dc1dUTUxTMHZMcTR5eG5qNCtQZzFEUTBQdkZHaDdIT2U4UTFoWVdBZ0FlSGw1TlpkSUpPRUFQbXJldlBuMGE5ZXVQUVlBcVZUNkxRQWZBTDh6eG9ZcmxVbzFkTDJOQUU2WmVpT2lLTzVpak5VQzhHRllXSmcrZ1piSzVmTDlqTEhCM3Q3ZVc4UER3NC9xNjN0NWVibHd6cnN5eGlJaklpS3VBb0FnQ0xzQmZLVkxZbjhxNmpxNmhOMVBFSVN1dW9XWW1FS2gyTVVZR3k0SXdnUUEwM1QzOVJrQU8xRVV4NFdGaFczVm4rL3A2VmxOLzdWY0xuZG1qTzNrbkdjS2d0QkdxVlRlQklDbVRadFd0YmEyam1DTUxmUDI5dllMRHc5L3FGQW9sSnh6aFZ3dWR3NExDMHZTWGFNbmdBek9lVFpqckJ1QVAzVGZHenZHbUlKei9zLzE2OWZ6bnVmOTBmbFFxOVcyaklpSWlETDErMEFJcVZpb1o1VVFRZ2doWnNFNXY2SlBWQUVnS2lvcUE4QTIzVXRQZmZtMWE5Y2VLNVhLemZwRUZRQjBTZEJoWFR2TmltaDdvejVSQllBclY2NWNBM0FFZ05UQ3dzSmRWeXdGTUE1QUxtTnNTdjVWZU1QQ3drSTQ1NnROdVE4dkw2K1dqTEhXQVA1U0twWDVlM28xQUZiaGFTTDZYdjV6R0dNZk04WUVVUlQzNk11VVNtVW9nQ2dBY2c4UEQ0OWkzck84bkp5Y0wvTEZ5dlZ4TXNiaytlcFo2SzVydEZCUlJFVEVvM3d4akFMZ3dEbGZHQm9hZWxOZmZ2UG16UlRPK1hiR21DMWpyS3V1dllPTU1jWTU3NWp2R2owQVhBQVF5am52cGkrM3RMUnNEMERLR0R2MHZPK1BydjNmS1ZFbDVNMUdQYXVFRUVJSU1aY0xCUXRFVWJ3ckNBSkVVWFRJWCs3ajR5UFRhRFR0QkVGb3p4aDdDMEFqQUc2Nnd6WkZ0SE9wWUJublBJWXhCZ0NWQU1ERHc4TU5nQ1BuL0l4U3FieGZzTDRnQ0VwVGJrSWlrYlRSdFcvbjdlMzlYWUhEVlhYSEdoUm9lNlF1enQ4S3hPakhHRnNvbFVvLzBmZVNGbkRuNXMyYktma0w4dkx5WWl3dExRMzNwV3ZYVHhDRU1ZeXhkUXFGUXNFNVh4TVdGbmE5d0xYYU1NYkFHUE1vR0RkalRLSDd1NEh1NzRNQXZtR01kUWJ3dTdlM2R5WEdXRXZPK1ZUR21BUkFiNFZDMFVpcFZFWnp6anN5eHNBNVAveTg3NC9PK1NMS0NDRnZFRXBXQ1NHRUVHSXU2UVVMQkVISTBmMXRHUDNsNCtQVFZCVEZBSWxFNHNZNWY4dzVqMlNNM1FDUUI2QTk1NXdWYkVjaWtSUzFkVVEybmlaR0FwNE9ZNjJHcDRsWWZESHg1Wmx5RTV6enFycWtyNnUrSjdJSTF2b3Y5SHVyQXNpVlNDU3I1SEo1L25wT3VyK0hBNWhWY0dFbXhsaWgrOHJLeXNxMnRMUTAzQmVlOWlTZlZDZ1V2VG5uS3hsajR4bGo0eFVLUlpCR28vbEMzMXZKR0t1cSszdU1Mb2t2Tm02bFVubEpvVkFrNTV1MzJnMkFoREYyVUt2Vldrb2tFb2lpMkIxQXRHNis2dld3c0xCN3ovUCs1SHRmSHhRWEZDSGt6VURKS2lHRUVFTEtOYzc1ZGwxeTkyRllXTmhlQUJ4UFYvNzlINEQyejl1dUtJb3FpVVNDZkFsaXdldFdlMFlTbDU5K3U0cVpTcVZ5ZVVtVjlRc3JBYkJpakJVYS9xcXJVMTJoVVBSU0twVi9teEpBVVpSSzVXRUFSN3k4dkxwSkpKSnBBTHBMcGRKelRaczJiYUliNnB2SkdJTW9paTNEdzhNdmw5Q2N5RGtQWW93TjgvTHljbUdNOVFBUXBWUXFvL0UwQVU4VUJLRmJreVpOZHVubXE2N0pkMjZwM2g4OVFSQm9RU1ZDM25BMFo1VVFRZ2doNVphbnA2Y3Q1N3dWWSt5cWJyNWovcjAyUFo5eGFva0VRZERQaDJ6aDZlbFphTjlmeGxnbkU1dUt3TlBrdHNURU9kL2VxdXJzN0d3bnBWTEpDdjdobkgraGEyOWtLVytwS1B6S2xTdEJTcVd5QitmY0QwQlZhMnZyUHJyMkkvRDBQazFLK0RubkIvRzAxN29UZ0I2YzgzL3lIVDRLb0pPdHJXMUhYV2ZJb1h6SFRINS9DQ0VrUDBwV0NTR0VFRkp1WldkbmF4aGpXczY1cTdlM3QyRk9wcmUzZHgvT2VaOFhhVnUzcXUxSkFGVWxFc2tLQUliRmlCUUt4UURPZWJGYnlPU25VcW1PQTdqUEdPdm43ZTFkOEJ5bVVDaUc2Ri9rMjFzMXFPRGNVNzJjbkJ3L3pua2VnSDdObXpldjhqejNwaHRxWEhBRW5YNElzUnE2MVlkMVc5TE05ZlQwZE05ZnNWNjllbGJlM3Q1R3ZiNjV1Ym1IT2VjaTUzdzRZOHlWTVdaSVZqbm5RUUFjQVl6bm5HZXBWS3F6ei9QK0VFSklmalFNbUJCQ0NDSGxWblIwdEVvdWwvL0ZHUHNBUUpoY0xqL01HS3V0MnhjMEVFQ1J3MmhMNFV2TytUbkcyS2NLaGFJajUvd1NnSG9BMmpER2ZnWXdzYVFHcmwrL251ZnQ3VDFXRUlTL0JFSFlMWmZMSitsNkV5MFlZeDBBTkFUZ2ozeERnRVZSOUN1dXZaczNiNmJJNWZJRGpMR0JscGFXd3dDc2U0NzdtaWFYeTk5aGpCM1Y3VW43RnVlOEQrZjh0a3FsK2h0UGh3bEhLQlNLN3dITWtVcWxTcmxjZmhSQURHUE1HVUJYenZsVkFQdnp4NlZRS0M0QjZBb2dnekZtU0VoRlVUekdHT082NGNHSDlGdldsUGI5SVlTUS9LaG5sUkJDQ0NIbG1pQUlZem5uR3dISUdHTWpkU3Y0ZG1XTWhiOW8yMHFsTW9JeDFoYkFQd0JjQUF6RTArU3JteWlLQmZmOUxGWjRlUGhCclZiYmpuUCtONENtdXFUMFhjNTVtQ2lLN2ZDMHQ3TVc1N3dyZ0d4UkZQYy9xejNHMkhiZGw1ODhxOTR6L0FZZ2puUCtQbVBzVTg1NVE4NzVrcHljbk5iWHIxL1h6eUdGVXFtY0s0cmljTTU1Q0lBT2pMR1JuSE4zQUw5cHRkcFJCUnZWRFFXV2NzNlA1dC9xUjdjbHpoVUFzZ0pEZ0UxK2Z3Z2hwQ0NUVmcwZ2hCQkNDQ0dFRUZMeGVIdDdkeFFFWVEvbjNJcHpQaUE4UFB5VXVXUFNvNTVWUWdnaGhCQkNDQ0hsRGlXcmhCQkNDQ0dFRUVMS0hVcFdDU0dFRUVJSUlZU1VPNVNzRWtJSUlZUVFRZ2dwZHloWkpZUVFRZ2doaEJCUzdsQ3lTZ2doaEJCQ0NDR2szS0ZrbFJCQ0NDR0VFRUpJdVVQSktpR0VFRUlJSVlTUWNvZVNWVUlJSVlRUVFnZ2g1UTRscTRRUVFnZ2hadUR0N2YyMlhDNVBWU2dVbitjdmw4dmxIeWtVaW5TNVhON0JmTkVSUW9qNVViSktDQ0dFRUZMR3ZMMjlLekhHL0Jsamw1Uks1ZnI4eDhMQ3duWnh6b01ZWTN2YzNkMnJteTlLUWdneEwwcFdDU0dFRUVMS21DQUlDeGhqdFVWUm5BQ0FGMUZsSWdCSG1VeTJ4QXpoRVVKSXVVREpLaUdFRUVKSUdmTDA5S3dHWUR5QVg4UER3Mk9McWhNV0ZwWUVZRE5qN0NOdmIrOTZaUjhsSVlTWUh5V3JoQkJDQ0NGbFNDS1JqQUpnQTJCZENWWFhBNUFCR0Z0R29SRkNTTGxDeVNvaGhCQkNTQmxpakhVSGtLeFVLcFhQcXFkVUtxTTU1M2NaWTkzS0xqcENDQ2svS0ZrbGhCQkNDQ2s3VXM1NVc4NzU2V0xtcWhwaGpKMEMwTUxUMDlPMmJNSWpoSkR5ZzVKVlFnZ2hoSkF5SXBmTHF6SEdMRG5uY2FiVTU1d25NTVlFbVV4VzQ5VkhSd2doNVFzbHE0UVFRZ2doWmNkWjkzZVNLWlVaWTQvd05HbDFMcmsySVlSVUxKU3NFa0lJSVlTVUhabnViN1VwbFVWUkZQRTBXV1d2TkNwQ0NDbUhwT1lPd0JUT3pzM3NiS3BJblVXdWRaSUlNcHF6UVVnWjBJZzhXOEo0VWxhS0tqazVPU3JEM1BFUVFrZ0ZrWVNuUGFaT3BsUVdCTUZaVjkra25saENDS2xJeW5XeTZ0eXNtWjJ0S0ozRHdQcUJNU3VCTXl2T2VMbU9tWkNLUWlaQUF5YmsyamxicWV5Y3ZJS3lCUFg4cE92WE04MGRGeUdFdk02U2twSWVPVHM3Y3dBMVRUeWxGdWVjWjJkblAzekZvUkZDU0xsVGJoTS9sMGFlcmpLUitRTG9Dc1lFcVVRQ0Mwc0xTQ1FTYzRkR3lCdEJxeFdoVXFtZzFXckJ3ZDFzUlZsenEwYnVFK09qcjk0eGQyeUVFUEs2U2toSXlLbFdyVm80Z0hhbTFPZWN0MmVNUlVaRjBRZ1hRc2licDF3bXE3VnErZGhJWlpvZERLeUxUQ1pEbDQ3dm91WGJQbkNwV1FQMjl2Ym1EbytRTjBKbVZoWVNFdjVEYUZnNGdvNmZFdFJxZFhlSlZMcXRlblhQM2c4ZlJtU1pPejVDQ0hsZGNjNkRHR096Zkh4OEdvYUdoaGI3QzBDNVhGNkxNZWJHT1Y5WnRoRVNRa2o1VUM2VFZabTk5aXZHMGNuSzJncUx2cG1OYnAwN3djSEJIb3pSMmdLRWxDWE9PUWErMXc4OXVuWEJqRG56a1p1cmFtZFZDVi9qSWVhWk96WkNDSG1ON2VTY3p3UXdHc0RjWjlRYnl6bm5HbzFtUnhuR1JnZ2g1VWE1V3cyNFZxMWFOZ0xqSHpMR2hENDl1NkZYOTY1d2RIU2dSSlVRTTJDTXdjSEJIbDA2ZFVDUHJsM0FHQk1FUWZqSTFkWFYydHl4RVVMSTZ5b3NMT3c2Z0Q4QlRQTHg4WEVzcWs2elpzM3NBRXdCRUJnWkdSbFo5bEVTUW9qNWxidGsxY0toV2pVd1ppV1ZTdUhsNFE1YlcxcjhseEJ6czdheWdyZVhPMlF5R1RnZ2s4bnNxNWs3SmtJSWVaMEpnakFiQU9PYy82K280NWFXbGdzQldPcnFFVUxJRzZuY0phdGFVZTBNenEwc0xDeFFvenA5SGlha3ZLaFZzeVpzYkt3QkRndXRwZFNrTFJjSUlZUVVMVFEwOUk0b2ltTUJUUEwyOW40di96RzVYTjRMd0ZjQUpvYUdodDQwWDVTRUVHSmU1UzVabFFneVc4NGdsVWdFMk5uWm1Uc2NRb2lPZzcwOVpGSVp3Q0FSSUtHVnpnZ2g1QVdGaDRmL0xvcGlmY2JZNWZ6bGdpQ0VhN1hhaG1GaFlUdk5GeDBoaEpoZnVWeGdpUkJDQ0NIa1RSQWVIaDVic0N3ME5QUytlYUloaEpEeXBkejFyQkpDQ0NHRUVFSUlJWlNzRWtJSUlZUVFRZ2dwZHloWkpZUVFRZ2doaEJCUzdsQ3lTZ2doaEJCQ0NDR2szS0ZrbFJCQ0NDR0VFRUpJdVVQSktpR0VFRUlJSVlTUWNvZVNWVUlJSVlRUVFnZ2g1UTRscTRRUVFnZ2hoQkJDeWgxS1Zna2hoQkJDQ0NHRWxEdVVyQkpDQ0NHRUVFSUlLWGNvV1MxSFJGR0VTcVVDNTl5aytzbkp5Y2pKeVhubGNiME9idDY4aWRqWTJFTGxlWGw1Q0FzTFEycHE2a3U1amxhclJWcGFHdFJxOVV0cGp4QkNDQ0dFRUZJMHFia0RJUC9mb1VPSE1ILytmT3pmdngrdXJxN1ByS3ZSYU5DalJ3OTgvdm5uR0RWcUZBQmc3OTY5OFBEd2dKdWJtNkhla0NGRE1ITGtTUFR1M2J2WXRqSXpNeEVYRjRmWTJGalkyOXVqZmZ2MmhtTVpHUms0Zi81OHFlNmpjdVhLYU5teXBWRlpVbElTUkZFc1ZUc0YyZHZidzhiR3BzaGozM3p6RFJvMWFvVHZ2Ly9lcUR3NU9SbGp4NDdGNHNXTGkzMFB0Rm90VkNxVlVSbGpETmJXMWdBQXpqa1lZd0NBNk9ob0RCczJEQ3RXckVDblRwMWU2SDRJSVlRUVFnZ2h4YU5rMVl5Q2c0TVJGeGVIWWNPR0FicWtDQUFrRWdtZ1M2S1dMbDJLb1VPSG9uNzkraVcyOS9QUFArT2pqejdDbFN0WE1HREFBRmhhV2lJcEtRbloyZGtBZ01EQVFIaDZlbUxqeG8xSVRFeEVlbm82MHRQVGtabVphV2pqcmJmZU1rcFdFeE1UTVdmT0hGaFlXRUFRU3U2SXo4dkxnNGVIUjZGazlZTVBQakM2enZPWU5tMGFQdnp3US96MzMzK0ZqcW5WYW1Sblp5TStQdDZvL05HalJ3Q0FsSlNVUXNmczdlMVJxVklsaElTRVlPTEVpVWJISEIwZGNlTEVDUURBMEtGRDRlN3Vqbm56NXIxUS9JUVFRZ2doaEJEVFViSnFSaEVSRWRpK2ZUdmMzTndnbDhzTlBZLzZYcnpmZnZzTmYvNzVKNW8wYVlJYU5XcWdVNmRPbUQ1OU9qNzQ0SU5udHJ0MTYxWXd4akJreUJCRFdWcGFHbjc0NFFmTW1ERURseTlmUm9NR0RUQm8wQ0E0T3pzYi9qZzVPY0hPenE3SU50ZXVYWXNXTFZxVWVFOVRwMDVGV2xwYW9mS1ZLMWRDbzlFVWVVNUdSZ2FXTDE4T3RWcU5iNzc1cHRqZTA3cDE2eUlyS3d2dnYvOStrY2ZqNCtNUkhCeGM1TEhWcTFkajllclZSbVdEQncvR3JGbXpESyszYnQwS0d4c2JCQVVGWWQrK2ZRQ0E3T3hzUkVkSFV5OHFJWVFRUWdnaFpZeVNWVE1hUDM0OGdvT0RNWGZ1WFBqNyt4djFyTjY2ZFF2cjFxMUQrL2J0TVdqUUlHUm5aME90VmtPcnI1d0VJZ0FBSUFCSlJFRlUxVDZ6VFV0TFN3d2VQQmc3ZHV6QXdJRUREZVc3ZHUxQzVjcVYwYTlmUDZ4ZHV4WnQyN2JGeUpFalRZNDFJaUxDcFBteGp4OC9McklIMXNmSHA4ajY5Kzdkd3c4Ly9JQzB0RFNzWExrU3JWcTFnbFJhL0Q5THJWYUxIVHQyRkNxZk8zY3VYRnhjQ3ZXUUppY25ZL3IwNlpnd1lRSmF0MjV0ZEt4cTFhcEdyeHMxYWdSN2UzdUVoNGNieW03Y3VBSE9PZHpkM1o5eDE0UVFRZ2doaEpDWGpaSlZNNUpLcFpnM2J4NCsvdmhqQkFZR3dzcktDZ0FnQ0FLV0xGbUNLbFdxWU9IQ2hhVnVkOUNnUWZEMTlVVlFVQkNnUzlqOC9Qenc5ZGRmUHpNUmZKWXRXN2FVYWhpd0tRSUNBckJ5NVVwVXFWSUZFb2tFUVVGQkNBb0tRbXhzTENaUG5seGtUNjVFSW9HSGh3ZXVYTGtDTnpjM1dGaFlBQUQrNy8vK0Q3VnExU3AwN2N6TVRIejIyV2ZvMkxFakdqWnNhT2kxTnRXMWE5Y0FBTjkrK3kwa0VvbWhkM2p4NHNWWXVuU3BvWjZscFNYMjc5OWZxcllKSVlRUVFnZ2h4YU5rMWN5YU5XdUdYYnQyd2MzTkRiLzk5aHVnUzhpV0xsMktKMCtld05IUnNkUnRWcTFhRlZ1MmJJRzd1enQrL1BGSE9EazVZZG15WldqVHBzMXp4L21pdzREelMwaEl3TEpseTNEdTNEbjA3TmtUWDMvOU5mcjM3dzhBZU8rOTk3QjgrWEpNbURBQmJkcTB3ZVRKay9IV1cyOFpuWitibTR2cDA2ZWplZlBtK1BISEg1R1hsNGVqUjQvQ3djRUJYYnAwTWFxN2QrOWUvUHJycnhnN2Rpd1dMbHdJeGhpbVRwMWE1SERucUtnbzJOalk0TUdEQjRheTgrZlB3OFhGQlYyN2RnVUFwS2FtSWpBd0VBcUZBblhxMURIVWU5NWZBaEJDQ0NHRUVFS0tScCt3elNnd01CQjM3dHdCQUJ3K2ZCZzNidHdBQUd6YXRNblFZd2hkcjJHVktsVk1hak10TFExK2ZuNEFnS3RYcjBLbFV1SHk1Y3Z3OHZLQ3Y3OC91bmZ2RHVpU3JxSzJlZ0dBZXZYcUZTbzdmLzQ4RWhNVFM3eitnd2NQREQzRUJXVm1ac0xYMXhkNzl1eUJWQ3JGdDk5K2kzNzkraG5WVVNnVTJMMTdOLzc2Nnkrc1g3OGV3NFlOdzZCQmcvRDU1NS9EM3Q0ZUFHQmxaWVVWSzFaZy9QanhXTDE2TmU3ZXZZdTR1RGhzM3J5NTBEWFZhalh5OHZJQUFEMTc5c1M4ZWZOdzhlSkYvUERERDRWNllULzc3RE5BdDlDVmc0TURVbE5URVJvYWlyRmp4MkxDaEFtQUxxRU5EQXhFbno1OWFCNHJJWVFRUWdnaHJ4QWxxMlowOSs1ZG8vbVJEeDgrQkhSRFQvTVBWKzNaczZmSnlXcEdSZ1pPbmp3SjZPYVA1dWJtSWp3OEhERXhNUUNBdDk5K0d3Q3dlL2R1N042OXU4ZzJMbDY4V0tpbjhJOC8vakNwOXpBckt3dk5temMzS2t0SlNZR2ZueDkrLy8xM1pHVmxvV3ZYcnBnOGVYS3gyL01JZ29DQkF3ZWlXN2R1V0xWcUZmNzQ0dzhjUDM0Y1gzNzVKZnIyN1FzQThQTHl3c1NKRS9IVFR6L0IxdFlXR3pkdUxOUURDOTBjVi8zdzVWYXRXbUhQbmoxWXRHaVJJZkhONzhTSkU3QzN0NGUvdno4MmJkcUVreWRQUWhSRnRHdlhyc1Q3Sm9RUVFnZ2hoTHhjbEt5YTBaUXBVNHhlTDF1MkRBRUJBZGk1YzJlaHV2cnRaMHBTdTNadHd3cTNJMGFNUUZwYUdzYU5HMWRvQmVIaHc0Y2JGbUFLQ0FqQS92Mzc4Y3N2dndBRmhyUldxbFFKQXdjT3hJZ1JJMUMzYnQwU3IvL0hIMzhVaWpVa0pBUTdkdXlBUXFIQWxDbFRURjZzeU43ZUh2UG56MGVQSGozdzNYZmZZY3VXTGVqY3VUTnNiR3dRR2hvS2YzOS9BRUNOR2pYUXJGa3paR1ptNHVqUm8wWnQzTHg1RTZJb0dsYjNCWUJPblRvaExDd01VcW4wbWZ2WlptVmxvVUdEQm9XU2IwSUlJWVFRUXNpclI4bHFPWktjbkl4S2xTcTlsTGJPbkRtRGhJUUVXRnRiWStmT25jakx5elBzNXdvQVZhcFVNUXozclZ5NU1pUVNpZEh3MzhEQVFNTytxUFhyMThlNWMrZHc3dHc1azY0dGxVb05RNUc5dmIzUm8wZVBJaGMveXUrcnI3NUNqUm8xaWp6V3FsVXI3TjI3RjQ4ZlAwWk9UZzYrLy81N0hEeDRFTjI2ZFVPM2J0MHdjK1pNSEQ5K0hJMGJOOGFLRlN1TXp0V3ZvRnl3SEFBV0xWcjB6R1QxbzQ4K3d0Q2hRNkZTcVl6YUF3Q05SbU5VTHBQSlRGcUFpaEJDQ0NHRUVHSWFTbGJOSkRzN0c3dDI3VElxdTM3OU90UnFOVFp0Mm1SVTNyeDVjeWdVQ3BQYjFtZzAyTGh4STRZUEg0NDllL2JBeGNVRksxZXVoSk9URTdwMzc0N2MzRnhZV2xvK3M0MzkrL2Zqdi8vK0svYTRWcXZGNDhlUFlXOXZYK3djVmVnUzEyYk5tc0hEd3dNSkNRa2w3aEZibEY2OWVtSEJnZ1Z3Y1hGQmVubzY3dDI3aCtYTGw2Tno1ODU0OE9BQnBGSXBEaHc0Z05XclZ4ZEtxQ2RObW9SLy8vMFhHelpzZ0plWDF6T3ZjLzM2ZGRqWTJCak56WDMwNkZHaGViVUFNSHYyYktQWG16WnRNbWtCS2tJSUlZUVFRb2hwS0ZrMWs3eThQQnc1Y3NUd1dxdlY0djc5KzNCMGREUXFoMjUxNE5Ja3ErdlhyMGRpWWlLR0RoMktQWHYyb0V1WExuQjNkOGVDQlF2UXRHbFRxRlNxSXVkczV1ZnI2MnY0K3NhTkc0aUppVUhYcmwwTlNXNTBkRFNHREJtQ21UTm5vbmZ2M2liRnhUbUhXcTFHNzk2OVMwd2M5ZGF1WFd2b3pRUUFSMGRId3pEcG5Kd2NUSjgrSGRETnM5Vm9ORVpEbURVYURhNWV2UW9BT0hyMGFJblhuRHAxcXVFOFcxdGJ3L1crL3ZwclE1MkhEeDlpMjdadEdEUm9rTkVjV1ZPR1NCTkNDQ0dFRUVKTVI4bXFtVlNxVkFrQkFRR0cxMGVQSHNYczJiTXhkKzdjUXR1dm9CUnpWaTlldklqZzRHQjgrKzIzUnR1elRKdzRFVTJiTm9WRUlnRjAyOXVZeXQvZkgyZk9uREdzSkp4ZlpHU2tvYzJDMnJkdkR4c2JtMExsQ29VQ0F3WU1NT25hVzdkdUxiSThNek1UWDMzMUZiS3lzakIzN2x3c1hMZ1E4Zkh4cUYrL3ZxSE8yYk5ua1ptWmlUNTkrdURJa1NPWU9IRmlrZkhvVndzK2NlSUVMQzB0RFFzc0FZQ3RyYTFSYjNCVVZCUzJiZHVHMXExYjAyckFoQkJDQ0NHRXZFS1VySllUZS9mdWhiVzFOZHEyYlZ2a2NZbEVnZzRkT3NERnhlV1o3WERPMGIxNzkwSkRWeGxqNk5LbEM0NGRPd1lBYU5xMHFVbHg2VmNYN3RpeEkyUXlXYUhqKy9idFEyQmdZSkhuK3Z2N0Y1a2N2cWlvcUNqTW1UTUh1Ym01OFBYMVJVWkdCcUJiL1ZpZnJHbzBHbXpldkJseXVSeGZmUEVGamh3NWdpMWJ0aFJhMUVwL2oxS3B0TVNoMFlRUVFnZ2hoSkN5UThscU9YRHk1RWtvbFVwODhza254YzcvdExTMHhNcVZLMHRzcTFXclZuai8vZmVMUFg3NThtVzR1TGlnY3VYS0pzVzJiZHMyWkdabTR0aXhZeGcrZkhpaDdXSG16NTl2OGpEZ2wrSFJvMGNZTldvVWZIeDhzSGp4WWxTcVZBazVPVG1BYmlpMTN2cjE2M0g3OW0xczI3WU5UazVPR0R4NE1QejgvTkMyYmR0Q2MwdnYzTGxUN09KT2hCQkNDQ0dFRVBPZ1pOWE1FaElTc0hqeFlsU3VYQmtmZi95eHllZWxwYVVCdWg3WC9CNCtmSWg3OSs0Wlh2ZnIxdzgyTmphNGZ2MDY2dFdyaDhPSEQyUG8wS0VtWFNNc0xBeCtmbjRZTzNZc3JsMjdobkhqeG1IT25EbEZEZ2N1amRUVVZNVEh4NXRVVnhSRm85ZlZxbFdEcjY4dm1qWnRhdGlMOXViTm13Q0FtalZyQWdDMmJObUNuVHQzWXRTb1VmRDA5QVIwQ3kyZE9YTUdVNlpNd2NxVks5R3FWU3REbXhjdlhvU2JtOXNMM1JNaHhEVE96czNzYktwSW5VV3VkWklJTWx0engwUEtENDNJc3lXTUoyV2xxSktUazZNeXpCM1BtNHgrVHNucmdwNGJGUjhscTJZVUZ4ZUh6ei8vSEUrZVBNSDY5ZXZoNk9qNHpQcWJObTJDUnFPQlRDYkQrZlBuQVFCMTZ0UXhxck43OTI3czNyMjd5UE9IRGgySzNOeGNrK2FMM3JwMUN6Tm16TUJiYjcyRmNlUEdJVHM3RzNQbnpzV2NPWE93Y2VOR3d6RGlzTEF3by9NNDU5QnF0ZEJvTk5Cb05LaFNwUXE2ZHUxcVZHZjkrdlZZdjM1OWlURVV4ODNORFJzMmJJQ2RuUjF5Y25MZzcrK1B4bzBidzhMQ0FsT25Uc1hwMDZjeGVQQmdUSm8weVhDT2xaVVZObXpZZ0hIanhtSFNwRWtZTUdBQUprNmNpSHYzN3VIR2pSc1lPWElrTGx5NEFKbE1oZ3NYTHNEYTJoclhybDNEK1BIakM5MGZBTXlaTTZmUVZqWHIxcTJEWEM1Lzd2c2lwQ0p6YnRiTXpsYVV6bUZnL2NDWWxjQ1pGV2VjL2c4aUJqSUJHakFoMTg3WlNtWG41QldVSmFqbkoxMi9ubW51dU40azlITktYamYwM0tqNDZBRmtSaUVoSVhqdzRBRVdMRmhnMU5OWG5PdlhyeU00T0JnQVlHMXRqZjc5KytQZGQ5ODFITiszYjU4aG1TcUljNDd4NDhkai9QanhxRjY5K2pPdms1Q1FnRkdqUnNIWjJSbkxseStIVkNxRmc0TUQxcTVkaTFPblR1SGd3WU80Y2VNR0xDMHRFUkFRWUxSUVZFR2ZmdnBwb2JKeDQ4YVp2RGhSL29RenZ4TW5UdUR1M2J1d3NyS0NoNGNIdnY3NmF5eGN1QkRoNGVHWU5tMmEwWjZ5ZWk0dUx2RDE5Y1dDQlF2d3p6Ly9vSGZ2M2toSVNFRGp4bzNScVZNbmZQTEpKNGI3K3VLTEwrRHM3SXhSbzBhWkZDY0FHa3BNU0RGY0dubTZ5a1RtQzZBckdCT2tFZ2tzTEMyS1haeU52Sm0wV2hGNUtoVTBXaTA0dUp1dEtHdHUxY2g5WW56MDFUdm1qdTFOUUQrbjVIVkV6NDJLajVrN2dJTHFOZlh1Q01iM09OamIxOWkwZGhYZWFWbXg5NjZNajQ5SDdkcTFTM1dPVnF0OXJ2ODgwdExTWUdkblo3UzlTM0UyYnR5SUlVT0dvRXFWS3Mrc3ArOUoxV3ExNEp4REZFV2poTm5LeXNvUUsrY2NlWGw1a0VxbEwrVS9QODY1WVNnd2RFT2djM056Uzl4R2huT091TGc0UTczYzNGekRYR0dOUmdPSlJHTFVMbm5xMzBzaCtHTGFiQ1NscEtTQlkwRHN6ZkJUNW82SmxIKzFhdm5ZeUJ3MWdRSllGNWxNaGk0ZDMwWEx0MzNnVXJOR2lWdG9rVGRMWmxZV0V2NUxoRExzQ29LT24wQmVuaHFjNDB4T3F0ajc0Y09JTEhQSFY1SFJ6eWw1WGRGejQrWHc5dmJ1S0FqQ0hzNjVGZWQ4UUhoNCtmbU1SejJyWmxiYVJCVkZ6Rk0xVmFWS2xVeXUrOWxubjVsVWp6RUdxVlJxVWdMTUdIdXBLKzRXVENoTDZqSE9mMTcraERiL29sYW0zQWNoeEhReWUrMVhqS09UbGJVVkZuMHpHOTA2ZDRLRGd6MzlRb2dVaVhPT2dlLzFSWTl1blRGanpuems1T1MyczZxRXIvRVE4OHdkVzBWR1A2ZmtkVWJQallwTk1LRU9JWVFRVW1xMWF0V3lFUmova0RFbTlPblpEYjI2ZDRXam93TjlBQ2JGWW96QndkNGVYVHEraTU3ZHVvQXhKZ2lDOEpHcnE2dTF1V09ycU9qbmxMenU2TGxSc1ZHeVNnZ2g1Sld3Y0toV0RZeFpTYVZTZUhtNHc5YVdGaFVscHJHeXNvSzNwd2NzTEN6QUFabE1abC9OM0RGVlZQUnpTaW9LZW01VVRKU3NFa0lJZVNXMG90b1puRnRaV0ZpZ1JuWDZ6RUJLcDJhTjZyQzJ0Z0k0TExTV1VpZHp4MU5SMGM4cHFVam91Vkh4VUxKS0NDSGtsWkFJTWx2T0lKVklCTmpaMlprN0hQS2FzYmUzaDB3cUF4Z2tBaVMweXM4clFqK25wQ0toNTBiRlE4a3FJWVFRUWdnaGhKQnloNVkrZlUyRWhZWGgwYU5IcFRxblJZc1dxRnExNml1TGlSQkNDQ0dFRUVKZUZVcFdYeE83ZHUzQ21UTm5UTnI2aFhNT2xVcUZEUnMybENwWnZYVHBFdmJ1M1l2SXlFaWtwcVpDSXBHZ1dyVnFhTmV1SFdiTW1GR292a2Fqd2NHREIzSDA2RkZFUlVVaFBUMGRkbloyYU5pd0licDI3WW9CQXdaQUpwTVZPdTkvLy9zZkFnSUNzR0xGQ25UcTFNbm8ySjkvL29rbFM1YWdmZnYyV0wxNmRiR3hhalFhOU9qUkEwK2VQTUdoUTRmZzVPUmthTGM0b2FHaGhxOEhEaHlJZS9mdUdWNUxKQkk0T0RpZ1VhTkdhTnUyTFFZTUdFRERvUWdoaEJCQ0NERWpTbFpmSTNLNUhGdTJiQ214WGxSVUZJWU5HMWFxdHRldFc0ZnQyN2NEdXIxZjY5YXRpNVNVRkNRbUppSW9LS2hRc25yLy9uMTg5ZFZYdUgzN05nREF4Y1VGdFdyVlFtcHFLa0pEUXhFYUdvcTllL2ZpcDU5K1FxMWF0VXlPbzJ2WHJsaTJiQmt1WExpQWpJeU1ZamNqdjNqeEl0TFMwdEM2ZFdzNE9SblBuMi9jdUxISmU4b3FGQXBJSkJKb05CcWtwcVlpSkNRRWx5OWZ4dGF0V3pGdjNqeDA2OWJONU5nSklZUVFRZ2doTHc4bHE2K1I5UFIwbkQxN3RzUjYvLzMzWDZuYWpZeU14UGJ0MjJGdmI0OVZxMVpCTHBjYmptVmxaZUg0OGVORzlUTXlNakJ1M0RqY3YzOGZMVnEwd0t4WnM5Q2dRUVBEOGZqNGVDeGR1aFFYTGx6QXA1OStDajgvUDVON0tSMGRIZEc2ZFd1Y1BYc1dKMCtlUlAvKy9ZdXNkK1RJRVFCQTc5NjlDeDJiTUdGQ29SN2I0cXhjdWRJb0lVNVBUOGVmZi82SnJWdTNZdmJzMmNqSXlNREFnUU5OYW9zUVFnZ2hoQkR5OGxDeStocUppWW5CN05telM2ekhPUzlWdXlFaElRQ0FQbjM2R0NXcUFHQnJhMXNvWWZ6cHA1OXcvLzU5dEd6WkVtdlhyb1ZVYXZ6UHFIYnQybGl6WmcwbVQ1Nk1peGN2WXNPR0RaZzVjNmJKOGZUdTNSdG56NTdGMGFOSGkweFdWU29WVHAwNkJTc3JLNU9UVWxNNU9qcGk5T2pSYU4yNk5jYU5HNGNmZnZnQmNya2M5ZXZYZjZuWElZUVFRZ2doaER3YnJRYjhHcEhMNVRoMzdseUpmL1REZVUxbGJXME5BRWhMU3l1eGJrWkdCdjcrKzI5SUpCTE1ueisvVUtLcUo1RklNR3ZXTEFEQVgzLzloZHpjWEpQamVmZmRkMkZqWTROTGx5NGhQVDI5MFBGejU4NGhLeXNMblR0M05zVCtzcm01dVdIY3VISFFhclh3OWZWOUpkY2doQkJDQ0NHRUZJOTZWbDhqS1NrcENBd01MTEhlZ3djUFN0VnVodzRkc0dyVktodzVjZ1R1N3U0WU1tUUlCS0hvMzJPRWhvWkNyVmFqVmF0V3FGbXo1alBiclZ1M0x0NTY2eTNjdW5VTEVSRVJhTm15cFVueFdGbFpvV1BIampoNDhDQk9uanlKOTk5LzMrajQ0Y09IZ1dLR0FMOU1mZnIwd1U4Ly9ZVGc0R0NJb2xqc2UwSUlJWVFRUWdoNStTaFpmWTBrSkNROGM0VmNQYTFXVzZwMmE5YXNpVysrK1FhTEZ5L0dpaFVyc0gvL2ZuejY2YWZvMkxGam9icjZGWFRkM054TWFydFJvMGE0ZGVzV0VoTVRTeFZUNzk2OWNmRGdRUVFGQlJrbHE5bloyUWdPRGtiVnFsV0xUWDYzYk5tQ1AvLzgwNmpzM1hmZnhlREJnMHNWZzVPVEV5cFhyb3pVMUZTa3A2ZWpjdVhLcFRxZkVFSUlJWVFROHZ3b1dYMU50R25UQmdxRkFpTkdqQ2l4N3NPSEQ3RjE2MVpVcjE3ZDVQYjc5dTJMcGsyYjRzY2ZmOFNsUzVjd2JkbzB1TG01WWZiczJYQjNkemZVeThqSUFBQ1RGMHpTMTh2SnlURTVGZ0JvMmJJbHFsU3Bnc3VYTHlNdExjMnd1dStwVTZlZ1Vxbnd3UWNmUUNLUkZIbHVWRlJVb2JMYXRXdVg2dnA2TmpZMlNFMU5SWFoyTmlXcmhCQkNDQ0dFbENGS1ZzdXgyTmhZbkQ5LzN2QmFFQVQ0K2ZtWmRHNzkrdlZ4L3Z4NW5EOS9IaEtKQkVPR0RDbnhuRWFOR21IanhvMElDd3ZEeG8wYkVSb2FpdEdqUjJQKy9Qbm8yN2N2b0J1aUMxMFBweW15c3JJQW9OZ3RhSW9qa1VqUXJWczMrUHY3NC9qeDR4ZzBhQkJRd2lyQWVrWHQzL3E4OUhObUhSMGRYMHA3aEJCQ0NDR0VFTk5Rc2xxTzNiMTdGenQzN254bW5TZFBua0N0VnFOcTFhckYxckcwdERRcFdkV1R5K1hZdkhrekRodzRnSVVMRjJMSmtpVlFLQlNvVmF1V1ljL1Vvbm92aXhJVEV3TUFxRmV2bnNuWDErdlZxeGY4L2YwUkZCU0VRWU1HSVQwOUhmLysreThhTkdpQXBrMmJscnE5MG9xTmpVVm1aaVpjWEZ4TTdra21oRlFjYXJVYWFXbHBjSFoyTm5jb1JyWnQyNGJidDIvaisrKy9MM1JzelpvMVlJemhpeSsrTUV0c2hCQkN5TXRFeVdvNTFxbFRKNk1ld3IxNzkwSXVsNk54NDhhR3Noa3padURXclZ2WXYzLy9TNzkrMzc1OUVSb2Fpc0RBUUp3NWN3WWZmdmdoM243N2JUREdjT25TSmFTa3BEd3pTWTZQajhlTkd6Zmc2T2o0WE1tbGg0Y0hYRjFkRVJvYWlwU1VGSncrZlJvYWplYVZMNnlrRnhBUUFPaStENFNROGlrakl3T1JrWkV2M0k2SGgwZWhFU0R6NTg5SFltSWlkdXpZQWNaWWlXMDhmdndZc2JHeGNIQndRS05HalFBQW1abVpwVm9OdlNCTFM4dENjZDIvZngvUjBkR0Y2dWJrNU9DUFAvNmdaeFo1WXh3NWNnUno1c3pCNk5Hak1XblNwQXB6cmZKZzRNQ0J1SGZ2SGk1ZXZGanN6ZytFbEFYNjEvZWFTRXhNeE5LbFMvSGxsMThhSmF2UURjblZENDh0cUZhdFd2RHc4SGp1NnpvNE9BQzZEMXdBNE96c2pHN2R1aUVvS0FqZmYvODlsaTFiVnVRcXVWcXRGa3VYTGdVQURCNDgrTGtmZEQxNzlzVFdyVnR4L1BoeG5EaHhBdEQxdUw1cUZ5OWV4RysvL1FZYkd4dDgvUEhIci94NmhKRG5FeDBkamNtVEo3OXdPMXUzYm9WY0xqZWE0akJ3NEVCTW5EZ1JJU0VoYU42OE9hQ2JqbUZsWllVRkN4Ymd5Wk1ueU1yS1FtWm1KdTdmdjQ4blQ1NEF1am4zR3pkdUJBQXNYNzRjQnc0Y2VPNjRPbmZ1ak9YTGw1dFVkOSsrZmNqT3pvYTl2WDJ4SzhlM2FkTUdUazVPengwUEllVEZxRlFxU0NTU2w1SUE1dWJtWXQrK2ZUaDkralNpbzZPUmtaRUJPenM3Vks5ZUhlKzg4dzZOc0NBVkFpV3Jyd245QjQ4dVhib1VPdmI0OFdNc1dyU295UE42OU9oUllySzZlL2R1Mk5qWW9GZXZYb1k1cWRBTlF6NTA2QkFBd052YjIxQStiZG8wWEw1OEdTZFBuc1NNR1RNd1k4WU0xS2hSdzNBOExpNE95NVl0dzRVTEY5Q29VU09NR2pYcU9lNzRxVjY5ZW1IcjFxMDRkKzRjd3NMQzRPUGpZM1N0bHkwOVBSMysvdjd3OWZVRjV4eExsaXg1WnU4eEljUzh2THk4Y1BiczJXS1BxMVFxZE8zYUZWT21UTUVISDN4UWJEMHJLeXRrWkdRVXVRcjZwNTkrYXZpNmJ0MjZDQWdJd01HREI5RzRjV00wYU5BQVRabzBnWk9URTV5ZG5WR3paazNEZEFtOTJyVnJZK2JNbWFXK3R6VnIxcGhjVjZWU1lkZXVYUUNBMzM3N3JkaDZtelp0b21TVkVETlp0MjRkZnZ2dE4vejU1NStsV2dTektPSGg0Wmc5ZXphU2twSUFBSFhxMUlHcnF5dFNVbEp3NTg0ZFJFVkZVYkpLS2dSS1ZsOERxYW1wMkwxN053Qmc0OGFOV0xSb2tkR1FORmRYMXhjYUJweVNrb0tWSzFkaTZkS2xhTlNvRVJ3ZEhaR1Nrb0xidDI4REFQcjM3NDhXTFZvWTZqczVPV0hUcGsyWU1tVUtUcDA2aFZPblRxRkJnd2FHOCtMaTRnRGRzTG9mZi93UmxwYVdSVjYzcUMxbUFHRDI3Tmx3ZFhVRmRITmQzZHpjRUJ3Y0RPajJQaTFKY2UyT0dUTUdjcm5jcUd6R2pCbVFTcVhRYURSSVNVbkIzYnQzd1RtSGs1TVR2dnZ1Tzd6OTl0c2xYbzhRWWo2Q0lNREd4Z2IzN3QwekxPaVduMHFsQW5UUDBkalkyRUxIYlcxdFViZHVYY1BYL3Y3K3VIRGhBdHpjM0F5cmtFTTNUejg3T3h1dFdyVXlsSTBZTWNLa2FRbDJkblpvMDZaTnFlOXQrL2J0aHEvLysrOC9oSWFHQXJvdHhESXlNZ3kveEd6VHBnMysrdXN2UEhyMENCNGVIcGczYjU1Uk83bTV1WmcyYlJxeXM3TU45MG9JS1h0WHJsd3A5ZTRJUlFrTEM4T25uMzRLalVhRHdZTUhZL1RvMFVaejZ6TXlNZ3lkRFlTODdpaFpMZWRFVWNUQ2hRdGhhV21KYjc3NUJ2UG16VU4yZGpabXpacUZhdFdxdlpSckRCZ3dBSGw1ZVZBcWxZaU5qVVZlWGg0Y0hSM1J0bTFiOU8vZkgxMjdkaTEwVHNPR0RmSEhIMzhnSUNBQXg0OGZSMHhNRE9MaTRnem45ZXpaRXoxNzlpeHlpTEJlY1lzMEZmekEyYXRYTDl5NGNRTVdGaFpGOWl5YjJtNysvVnIxTGwrK0RBQ1FTcVdvVktrU1dyZHVqUTRkT3FCdjM3NUd2Y3lFa1BMdCsrKy9OL3c4RjJYbnpwMUZMbGozOXR0djQrZWZmd1owaVcrOWV2VXdkKzVjbkR0M0RoczJiSUFnQ01qTHk4T3NXYk9nMFdqUXIxKy81NHJ2d0lFRGNIWjJOaVM3ZCsvZXhheFpzN0JxMVNxNHVMZ1kxWjA3ZDI2aDUrN05temNOVXl2VWFqVkVVVFM4bmpWckZyWnYzNDRHRFJvZ01qSVM4Zkh4UnZOV3Yvbm1HeVFuSjJQeDRzWGxickVvUWtqcDVPVGtZUGJzMmRCb05KZ3paNDVodDRUODdPM3RTNzIzZkZuaW5KdTBEZ0Fob0dTMWZOTnF0VmkrZkRuT25qMkxIMy84RVIwN2RnUmpESXNYTDBiLy92M3h6anZ2SUM0dURsbFpXZmpubjMrTWZ2QzFXaTIwV2kwMEdnM1VhalU2ZCs1YzdKQ1QyclZyWS9yMDZhV096OHJLQ3NPR0RjT3dZY05LZGQ3Y3VYTXhkKzVjaytzUEh6NGN3NGNQZjZudDZoZFBJb1JVSEMxYXRNRC8vdmMvbzdMTXpFd01HalFJbjMvK2VhRkVzNmpuaFZRcXhaSWxTL0RSUng4aE5EVFVrTXdtSnlkang0NGR6LzFMck1qSVNBUUhCK09QUC82QXRiVTE5dS9majl6Y1hEeDY5QWhidG16QnQ5OStDK2lTMHNPSEQyUGd3SUZHNTNmcDBzWHd5N294WThiZ3laTW4rUDMzM3dIZE1HVWJHeHRzM3J3WmE5YXN3ZUxGaStIcTZvcUdEUnRpK2ZMbE9IandJTWFNR1ZObWk5TVI4aXc1T1RuWXMyY1Bnb0tDRUI4ZkQwRVFVTDkrZlV5Wk1nVStQajZBYmpYK1BYdjJRS2xVSWpFeEVWS3BGQXFGQWxPbVRERjVkNEVIRHg1Z3g0NGRPSGZ1SEI0OWVnUTdPenMwYTlZTTgrZlBoN096TTFhdFdvVmZmLzBWcTFldlJ2djI3WTNPWGI5K1BiWnQyNGJGaXhlWCtITmpTcXdyVnF6QW5qMTdET2ZvMjJ6ZHVqWFdyVnRuS0Q5OCtERDgvUHdRSFIwTm1Vd0diMjl2ZlBiWlowYUxWQVlFQkNBNU9Sa2RPblFvTWxGOWxwaVlHR3pmdmgwaElTRjQvUGd4N096czRPWGxoVkdqUnBtOHZvbEdvMEZBUUFEKytlY2Z4TVRFUUtQUndOWFZGVDE2OU1DSUVTT01ucEhIamgzRHJGbXpNSExrU0xSczJSSXJWcXhBYkd3c2xpOWZUZ3ZCRVpOUnNscU8vZkRERHdnSUNNRG5uMzl1bUVmVnJWczNlSHA2WXYvKy9UaHo1Z3pTMDlPUm5wNk8rZlBuRjl1T3RiVTFCZ3dZVUlhUkUwSkkyWlBKWklYbVkrcEhkemc2T2hZNkpwUEpvTkZvREs5OWZYMFJGaFlHNk9aLy9mTExML2psbDE5dzhlSkZWS3RXRFQvKytDTUFQTmM4L0VtVEp1SFlzV1BZdUhFakprNmNpTURBUUl3ZE94WU9EZzQ0ZVBBZ0ZBb0YrdmZ2anoxNzlzRGQzZDN3b2IyZ3pNeE1SRVpHd3RYVkZSY3VYRURyMXEzUm9rVUxmUFRSUjZoY3VUSm16NTZOK1BoNFRKZ3dBUjRlSGdnT0RzYm8wYU14Y2VMRVVzZE15TXVXbHBhR1R6LzlGTGR2MzBhTkdqWFF0V3RYcUZRcVhMbHlCZGV1WFRQOHU1ODZkU3BTVWxMUXNtVkx2UFBPTzdoOSt6Yk9uRG1EYTlldUlTQWdvTVR0NUNJakl6RjU4bVJrWkdUQXpjME5MVnUyUkVwS0NrSkRRNUdVbFBSU1J4aVlFcXRjTG9kV3E4V0pFeWVRbkp5TWZ2MzZ3ZHJhR3ZYcjF6ZTBzMmJOR3V6Y3VSUE96czdvM2JzM3NyS3ljUExrU1lTRWhHRExsaTFvMXF3WkFPRGt5Wk9BYnZISzBqaDc5aXhtenB3SnRWcU5saTFib20zYnRuanc0QUhPbmoyTDRPQmdmUGZkZCtqZXZmc3oyMUNyMWZqaWl5OXc2ZElsT0RzN28xT25UbUNNSVNRa0JCczNic1RaczJleGFkT21Rci9VUzBwS3dvd1pNOUN1WFR0NGVuclNkb0NrVkNoWkxjY0dEaHdJTnplM1FyOWhyMTY5T3NhUEg0L3g0OGNieXZROXFhSW9nbk51K0FNQUVvbUVoclFTUWlxOGl4Y3ZvbTNidGtVZVc3WnNtU0haMU12THl6TktDaHMwYUdBMGRZRnpEbEVVQ3lXT1ZhcFVBUUFzV3JTb1VFK3UzcGd4WXpCNjlHakRhd2NIQjB5Wk1nV0xGeTlHVGs0TzFHbzErdmZ2RHpzN093d1pNZ1JyMXF4QjQ4YU5jZWpRSWNQdzNxS2NPSEVDV3EwV0tTa3BtRHAxS3I3ODhrdU1IVHZXY056S3lncjkrdlhENHNXTEVSd2NqRHAxNnFCejU4N1BlTmNJS1RzTEZ5N0U3ZHUzOGNFSEh4aldqSUF1Q1VwT1RqYlVHeng0TVByMTZ3ZGJXMXREMllJRkMzRGd3QUVjTzNhc3lHazllams1T1pnK2ZUb3lNakt3YU5FaW83VXUwdExTbmprOTZYbVlFcXQrWkVSMGREU1NrNVB4MldlZkdZMTJ1M0RoQW5idTNBa1BEdytzVzdmT2tNeUZoNGRqekpneFdMNTh1V0VPdTM2cWs2ZW5wOGtGL0pqc0FBQWdBRWxFUVZReHBxYW1ZdTdjdWVDY1k4dVdMVWJyZCtqbnZ5NWF0QWd0VzdZMG1xdGYwS1pObTNEcDBpVjA2dFFKUzVZc2dZV0ZCYUQ3L3MyYU5RdW5UNS9HMXExYjhmbm5ueHVkZCtUSUVTeFlzTUNrZFVjSUtZaVMxWExNemMwTmJtNXVKdFdWU0NTUVNDU3ZQQ1pDQ0NtdkdqVnFoREZqeGhpVlBYNzhHRXVYTHNYZ3dZTUxmYmp6OWZVMWVsMXdXRnBJU0FnbVRKaUFnd2NQRmptTllzQ0FBWWFWMG4vNjZTZlVxVlBIOENHNlljT0doZXIzNjljUCsvYnRRMEJBQUlZT0hXcjRRRHBod2dRY1Bud1k0OGVQUiszYXRZdGNrVmh2Ly83OXNMVzFSYlZxMVRCcDBpVE1uRGtUTldyVVFJY09IWERwMGlXc1c3Y08xNjVkUTVzMmJkQzZkV3ZzM3IwYkkwYU1nTHU3T3pwMTZnUWZIeCs0dWJuUnZvbWt6TjI5ZXhkbnpweUJxNnNycGsrZmJ2UnZVQ2FUb1diTm1vYlhIMzc0WWFIek8zVG9nQU1IRGlBbUp1YVoxemx3NEFDU2s1UFJwMCtmUXNuUnN4S3g1L1Vpc2VyNStma0JBT2JNbVdQVTYranQ3UTB2THk5Y3VYSUZhV2xwc0xPelEzWjJOcVJTS1d4c2JFeU9NVEF3RUZsWldSZytmSGloaFNibGNybmgyUlFVRkZSc2o2MUdvOEhldlh0aFpXV0YyYk5uR3hKVjZMNS9NMmJNUUhCd01QYnQyMWNvV2ExWnN5Wk5ReURQamY2M0lvUVFVaUZVclZxMTBNSkVOMjdjQUFDMGE5Y09MVnUyTkRyMjExOS9HUTBERmtYUmFJRTMvYXFkV1ZsWnlNaklBSFREaXEydHJTR0tJdVJ5dVdIWTNQYnQydzN6dG9yREdFT0hEaDBRRVJGaHRMMk5uWjBkeG80ZGkyWExsbUhBZ0FIRkxqeHk1Y29WWEwxNkZaMDdkMFowZERRNmR1eUlKVXVXNFBidDIxaTllalhpNHVMZzVlV0ZEUnMyR0JaeUdqeDRNUDc1NXgvczNic1hhOWV1QllBaTUrZ1I4cXFGaElRQXV1bE1NcG1zeFBwUlVWRUlDUWxCVEV3TTR1UGpjZS9lUFVDM3V2V3o2RmZOTG9zOTJmV2VOMWE5aUlnSVNLVlNIRDE2RkVlUEhqVTZwdCsvT1NFaEFjMmJONGNnQ05Cb05OQm9OQ2IvMGlraUlnSUE4TzY3N3haNXZFV0xGdGkzYng5dTNyeFpiQnN4TVRISXlzcUNRcUVvY3Z1cm1qVnJ3c1hGQlhGeGNYajQ4S0hSTC9nOFBUMXBRU1h5M0NoWkpZUVFVaUVrSnlmanlKRWpSbVYzN3R3QkFGeTllaFdwcWFtRjZ1ZnZhZm52di8rS0hGNzRmLy8zZjRhdjY5YXRpeDA3ZGdDNkZUZEw0OG1USjlpNWN5ZnM3T3l3ZGV0VzlPM2JGdzRPRGdDQTA2ZFBBd0FPSFRxRVljT0dGVGxVY2YzNjllamN1Yk5SejR1UGp3KysrKzQ3dEc3ZEdnc1dMRERhRXh1NkJhUGVlKzg5dlBmZWU0aU5qY1hKa3llZmF4c2RRbDZVZnBodndYMklDOHJKeWNIWFgzK05zMmZQd3NMQ0FvMGJONGFMaXd1Y25KeHc1TWdSd3hTbmtxNVRjSlh0VitGRlk0VnVHbGRtWmlZQVlOdTJiY1hXVTZsVVlJeWhXclZxZVBEZ0FXN2Z2bTN5Nkx1MHREUkFONDJzS1Bya3M2anR2MHh0UTkrT2Z1SFBvdG9uNUhsUXNrb0lJZVMxWjJWbGhmajRlQ3hhdE1pb1hOOXpXbkRJTDRxWXMxcXpaazJqUFpxdlhyMktCUXNXWVBQbXphaGF0U3FnRys2bTcrblFKNXFtK3Zubm55R1ZTdUhyNjR2LzE5NmR4OGQwN244QS81d3pNNUZFRWtrSVFSQkxTa0lXSW5aS1MxMXJORkp1U1dtbGxLcWxvbmExWGR1bFZVVFZUdHJHMG1vcnJSU2xTT3dsSzdHbHhGb2tJY2c2Mi9uOWNXZk9MeU03SVJHZjkrczFyK1NjODV4bnZtZGlqdm5Pc3dVRUJHRDE2dFdZUEhreTl1L2ZqNU1uVDJMMDZORll0V29WZnY3NTV6eXpmRVpFUk9ETW1UUFl2SG16dkw0cUFOaloyV0hmdm4yWU4yOGVSbzhlWGVqenU3cTZZdjM2OVNXS21haTBHTmRjenowMk5UL3IxNjlIWkdRa0JnMGFoREZqeHNqZFRVK2NPSkhueTZpaW5xZHUzYm9GbGpOK0laUmY2MmR4MTBKOTFsaGhHTVpsWm1ZR1VSUng1TWlSSWxzZ1c3VnFoYkN3TUlTSGh4YzdXVFYyR1U1T1RrYWRPblh5SEU5TlRRV0t1S2ZscnFNZ0JkWERWbFY2RnFVN3lweUlpS2dNL09jLy80R2pveVBtelp1SG8wZVB5bzhPSFRyQTA5UFRaSi94OGY3Nzc2TnAwNlp5SFVxbEVyVnExY0tNR1ROdy9mcDFPRG82QW9adXVzSEJ3WkFrQ2JWcjE4Ymx5NWNCUXl0cmNjWEZ4V0hIamgwSUNncEMvZnIxTVdUSUVQejQ0NCtJaW9yQ2tpVkw4UGJiYjJQWXNHSG8yclVydnY3NmF6a2hOcXBac3lZNmQrNmM3L0lTWm1abXlNN09ocTJ0TGNhT0hadnZvMjdkdXNYdWtrajBQQmdUcTJQSGpoWGE0bWhjTDNuNDhPRW00eUtONzd1aUdKZDVPWExrU0tIbGpEMGpidDY4bWVlWWNmaEFVVW9hcXpGcDArdjFKdnRkWEZ5UW5aMWRhRGRjSStPWTBoMDdkaUFtSnFaWWNScnZjd1c5SnNZdTJwNmVuZ1hXMGFoUkk1aVptU0VoSVNGUEx4VVlsZ3E2ZGVzV2F0V3F4WlpVS2xWTVZ1bVpwS1dsNGU3ZHU4LzBNSFl0SVNKNldsWldWdWpYcngrbVQ1K080OGVQQXdEdTNyMkxJMGVPRkxnY3cralJvekZtekJpVGZjWnhXN2xiSHlwWHJveWtwQ1JNblRvVmFyVWE4Zkh4YU5DZ1FiR1hYMUNyMVpnelp3N2F0R2tqajJrZE1tUUlKazJhSkUrc01uNzhlQURBbURGamtKNmVqblhyMXBuVTRlTGlVdWdTWlRDMHNnNGNPRERmaDVPVFU3RmlKWHBlZkh4ODRPVGtoUGo0ZUxrcnZWRm1aaWFTa3BJQVErOEZBRWhNVEpTUDM3NTlHMXUyYkNuVzgvajYra0toVU9ENzc3K1hrN0RjOVJnL2N4aVhndm5sbDEva01la3d6RnhiM0NTd3BMSGEyZGtCZ0R5bTFjZzQrZERpeFl2eDhPRkRrMk1wS1NueU9Gd1lrdjVCZ3daQnE5Vmk5T2pSMkxGakI5UnF0Y2s1eWNuSldMdDJyYnpkcjE4L21KbVpZZXZXclhtdTdlVEprd2dMQzRPRGcwT2VNZis1bVp1Ync5ZlhGNW1abVZpd1lBRTBHbzE4TENzckM0c1dMWUpXcThYZ3dZTUxySVBvYWJBYk1EMlR1WFBueW1PdG50YnJyNytPTDcvOHN0UmlJcUpYMDN2dnZTZXZBeGdRRUlEejU4L0R5Y21wMk90TXA2ZW5ZOE9HRGVqWnN5ZnExNjh2ZDJsVHFWU1lOV3NXUHZqZ0ErellzUU43OSs0dDhYSXd2WHIxTWttYUxTd3M0T3ZyaTVNblQyTHExS2x5NHV2azVJVFpzMmZEMDlNVHMyYk5NcW1qU3BVcUpYck9vcXhac3daWldWa1lPM1pzcVMvblVVNEp6Wm8xYTZMWDYyOGtKQ1NrbDNVd3J4cWxVb241OCtkajlPalJDQTRPUm5oNE9OemQzZkhvMFNORVIwY2pNREFRenM3TzZONjlPMkppWWpCdTNEaDVIZFlqUjQ2Z2ZmdjIyTGR2WDVIUFU3ZHVYVXlhTkFrTEZ5N0VSeDk5Qkc5dmI5U3BVd2QzN3R6QjZkT25FUklTQWx0YlcvajQrTURGeFFXWEwxL0dnQUVEMExKbFM2U2twQ0F1TGc2ZE8zZkdvVU9IaW55dWtzYnE0K09EL2Z2M1k5YXNXZWpZc1NOc2JHd3dkdXhZK1B2NzQ4Q0JBNGlLaW9LZm54OWF0bXlKcWxXcjRzYU5HemgxNmhTR0RSdG1NbVJoL1BqeDBPbDAyTDU5T3hZdlhvemx5NWVqUVlNR1VDZ1V1SHYzTHBLVGt5RkprcnpFb2FPakkyYk9uSWxaczJiaHd3OC9ST3ZXclZHalJnMWN2MzRkTVRFeHNMUzB4T0xGaTR0YzVuRHMyTEU0ZS9Zcy92enpUL1R0MnhldFdyVkNkblkyWW1OamtaeWNqRzdkdW1IZ3dJRkZ2bTR2R2NIVDA5TkZrcVJiY1hGeEJRL3FwZWVHeVNvOWsxR2pSaFY0WTlMcjlWaXpaZzNPbmoyTG9LQWdOR2pRSU45eXhqVUw2WldtOVBiMk50Tm9OSFVVQ29WMWRIVDA2V0tjUTVUSHUrKytpN2k0T0lTRWhBQ0d0Vk8zYmR1R05tM2FvRUdEQm9YT1FycHIxeTZrcDZmTFl6OXpkOVZ6ZDNmSDZ0V3JrWnFhaWp0MzdwaE11bFFVTXpNemt6VlhjKzlmdW5ScG52M0dXVXcxR3MxekhldVZtWm1KNzc3N0R0ZXVYY09DQlF0Z1lXSHgzSjZyakNpOHZMeXNKVW1xTGdoQ0QwRVFBZ1JCY05IcGRPMEJuQ3ZyNEY1RnpabzF3L2ZmZjQvMTY5ZmorUEhqMkwxN04renM3TkNxVlN0NTRxOTMzbmtIYXJVYVAvNzRJL2JzMllOYXRXcGg0c1NKcUZXclZyR1NWUUR3OS9lSHM3TXp0bXpaZ3JpNE9NVEh4Nk42OWVvWU9IQ2dQUEdTUXFGQWNIQXd2dmppQ3h3N2Rnd0hEaHlBbTVzYnZ2bm1HMFJFUkJRcldTMXByUDM2OVVOU1VoTDI3dDJMOFBCdytQbjVBWVpFUGpnNEdDRWhJZGl6Wnc4T0h6Nk15cFVybzJiTm1oZzFhaFQ4L2YxTjZsRW9GSmcwYVJKNjlPaUJIMy84RVdmT25FRmlZaUpVS2hXcVZxMktidDI2NFYvLytwZkpPVDE3OWtTZE9uV3dlZk5teE1URTRQVHAwN0MzdDBlZlBuMFFHQmhZck40WGxwYVdXTDkrUGI3Ly9udnMyYk1IKy9idGcwS2hRS05HalRCeTVFajQrdnBXaFBHcGdyT3pjeVVMQ3d1N1NwVXE5UklFSVZBUUJGZmVOOG9PazFWNkppNHVMdm51ejhqSXdQVHAweEVmSDQvQXdFQzgrKzY3MEdnMHhacXVubDROYm01dVppcVZ5bGtRQkZkQkVOcnE5Zm8zRlFxRkI0QkZBSmlzVXJFOWZ2d1lVVkZSaUlpSXdQNzkrNUdabVFrL1B6KzR1N3NqUER3Y0sxZXV4SW9WSzZCVUtsRzNibDNVcWxVTDl2YjJxRnExS2l3c0xLQlNxV0J0YlkxQmd3YWhiZHUyaUk2T2hsNnZsejlzR2ljTGFkQ2dBYVpObTRaLy9ldGZoVTdjOHJSMjdkcUZhOWV1d2R6Y0hBOGVQTURaczJkTDFFcVJtcG9xSitsUHVuNzllcDc3NzZlZmZvb2FOV3JnaXkrK3dNaVJJN0Z5NWNvU1R4cFZIbmw0ZURncEZJbzJnaUQ0U0pMVVdoVEY1Z0NNRi9hNGlOUHBPVFAySGlpSUlBZ0lDQWhBUUVCQW5tTzV1OFBDMExKWjBISlJMVnUyUk11V0xRdU5wVnExYWxpNGNHR2UvZTd1N25rbUxNdnZ1VW9TS3d4SjZjU0pFekZ4NHNROHh5cFZxb1RodzRkaitQRGhoY2I4Wkp6NWpXTXZyUHdYWDN4UnJMSS8vZlJUdnZ2TnpjMFJHQmlZWjAzci9IVHQyalhmMTZFOGF0Njh1UU1BTndDZUFONEEwRkVRQkdOckN1OGJaWWpKS3BXNm1KZ1lmUDc1NTdoLy96NGNIUjJ4ZS9kdU9EazVZZlhxMVJnNWNpUjY5KzROaFVKUjFtRlNHVEY4a094dStNL0FEWUN6SUFqRzlVTzB4Wm5xbjhobzNyeDUrT1dYWHdEREpFVCsvdjd3OS9kSHpabzFBUUI5Ky9aRmVubzZ6cDQ5aTNQbnp1SGF0V3U0ZmZzMi92Nzdieng4K0JDWm1abUFZUXlwSUFobzBLQUJsaXhaZ2xPblRzSEN3Z0tCZ1lGeWkyTkdSZ1pxMTY2TnlaTW5QNWRyU1V0TFEzaDRPQ1JKZ2lpS2FOZXVIWVlPSFpxbm5FS2h5UGNlbXBxYW1tY3NvRkZHUmthK1h5NE9HalFJU3FVUy8vM3ZmM0h5NUVsMDY5YXRsSzdteFhKemN6TXpNelByS1FqQ1FBQXRBRGhJa2xSRkVJUW4remRMb2lqeUprTkV4dnRHVjFFVSt3SHdsaVRKU1JDRXFnQ2V2TUh5dmxHR21LeFNxVWxQVDhmYXRXc1JHaHFLeG8wYkl6ZzRHQ3RYcmtSQ1FnSzh2YjNSdEdsVHpKMDdGOTkrK3kwKytlUVRkTzdjdWF4RHBoZkl5OHVycHlpSzR3QjBBVkJnRTd2RWJKVks0SU1QUGtERGhnM2w4V2Y1c2JLeVFwczJiZENtVFpzOHh5UkpRa1pHaHNsWXJkV3JWK2RiVDkyNmRRdE1CcmR0MjVidi9qbHo1aFR6U29DaFE0Zm1tNXcrYWNxVUtYbjJMVm15cE5qUDg2UUJBd2JBeDhjSDlldlhmK282WGpSbloyZHpHeHNiRzBtU1hKVks1VUJCRUFZQXFBckQzOVFvOSsrRzdvbUNYcTkvNmZzcEV0RlRVWHA0ZUZRQzBGZ1V4ZmNNUXdPcUlkZTk0c21QSUx4dmxEMG1xL1RNdEZvdHdzTEM4UFhYWCtQQmd3Y1lQSGd3eG93Wlk5TGxySGJ0MmxpNmRDbisrdXN2TEYyNkZFRkJRZkR4OGNHVUtWUGc3T3hjcHZGVDZmUHk4cktWSkttK1hxOTNWU2dVM1VSUi9CY0FSK1B4Z3ZKUlFSQWdWSUFCTCtXUWFIZ0libTV1Z2xxdEZyUmFyYUJXcThWcTFhb0pXcTFXME9sMGdrYWpFVzFzYkFTZFRpZm85WHBCcDlNSkZoWVdvbkZicjljTEZoWVdnbGFyRlNWSmt2ZFZxbFJKME9sMG9pUkpnaVJKZ3BtWm1hRFQ2Y1FNdFZSSDg1eS9lM0J5Y3NLZ1FZT2UrbnhCRUlvOXEyOUY5cElrcWtwUFQ4OFdvaWgyQk9BT3dFY1FoTmNBS0F1N3A4RDBucU1RQk1ISHk4dkw0Y1dGWGI1bGF2U04xUHBpRkNSNk9TbWFObTNhVEtWU3RSSkYwVXVTcFBZQTNBUkJVRW1TbE8vbmtTZnZHNUlrS1VSUjlQRHc4TEIrNGRHL09HNkZOU1NVSlNhcjlOUnljbklRRmhhR2tKQVEzTDU5RzY2dXJsaThlTEhKakhWUDh2SHhRV2hvS0xadTNZclZxMWRqNE1DQkdESmtDQUlEQTR1Y2hZN0tQWVdIaDRlUEtJcGRCRUZvSXdpQ3F5aUt6b0lncUZCRWd2cWNHbE5GQUFwbloyZUZXcTBXYlcxdFJiVmFMVnBZV0NnMEdvMW9abWFtMEdxMW9rcWxVdWgwT2xHcFZDcDBPcDJvMVdvVktwVksxT3Yxb2tLaEVIVTZuVUtwVklvNm5VNmhVQ2hFdlY2dkVFVlIxT3YxeG0xUkZFV0Y4YWNrU2FJZ0NDWS9jLzl1UERmM1QwbVNGSUlnaUpJa0djOHpLWi83K0JQbDVQTDVsUkZGVVRDODlzWjlBZ0N4VXFWS1F1NXRwVklwU0pJay91L1BJWWlpS0FyR1k0SWdDQXFGUWxRb0ZBSUFVWklrUWZ6ZjFMR0NVcWswMWlFb0ZBcFJFQVRCY0wyQ0tJcWlWU1ZZUDh6V3ZSTFR6Tkx6WmE2UStyUm8wV0ttSkVtdkFhZ09RR1g0OTVhbmJHSGZkMG1TWkM2SzRoSUEydWNjOGt2RFhJVkxtbXlKNzFPcWNNd1ZVdmNXTFZxTWt5U3BxU0FJZFNSSnFtUzhieFRRZ2xwZ1ZRQ1dLQlFLVFdHRlhtYUNJSmdEc0MyUDQzT1pyTkpUdTNmdkhwWXZYdzU3ZTNzc1dMQUFiNzMxVnJGbWdWTW9GQWdJQ0VEbnpwM2xic0hkdW5YRGE2Kzk5a0xpcHRMVnFGR2pTdGJXMWg4QkdBM0FKWGZMNkpQL0lSVDE3ME9TSkFXQW9WNWVYbStJb3FpVUpFa0pRQ2tJZ3Z5N1lWdVJhMXNoQ0lMUzhJMWdvZE9aR3I4UU1iYjZLNVgvdXdVYXgvK0pvcGhuRXByY3gvTDdhVHh1L0dtOHhpZC81bGRuUWVjOCtYcmw5N093WTAvV1ZWVDl6KzhZQU9CZW5oZUFxSVFFVVJBa1NUSUhZR2JjVjVJdnVYTDl1eFFBbUJudUgvUy9iNlJVQUVkZlVJVmtCYUFSZ0ZyR1ZzTm51RzlVRXdTaG9yOVJOSUlnUENwdi8yL3paazFQclU2ZE9saTNiaDFjWEZ6a0QvMVA2dCsvUDdwMDZaTHZNU2NuSjZ4WnN3WlhybHhCdzRZTm4zTzA5THdrSmlicVBEMDlMNHFpdUVjUWhIdVNKTFVBWUpsZmttYjhUNktnQk1mUVNsZFBGTVY2VDVZckxDbks1M2trQUpMaFB4YTk0WG4xaG0zSmNEelB0dkVjNC9tR2JYMnVNdkoyZnZ0eWJ6OVJSNTduTUpUWDV5NVRXR3hGYkJjVVorN1hKRnVTSkwwZ0NEcEprblNHbjdtM2piL3JDemh1c2kyS29rNnYxK3NOMXlyWGthdXNUcXRIWXozdzRkUDl5eUw2ZjFrYWhKMlBqdzVxMnJTcHEwcWw2aUlJZ3JzZ0NENkdybXZtUll4VGhTUkp4dCt6OUhyOU9BQkpaWEVkNVZHbVJ0OUlFakN2ck9NZ0ttM1pPbUhuaGFpb3NVMmJOdlV3TXpQcklRaENNd0Nla2lTNUNJSlFxWVQzalU4VkNzWDFzcmlPRjBtbjA5Mk5qWTI5VU5aeDVNWmtsWjZKcTZzckFNRFgxeGQzNzk0dHNOemN1WFB6N0t0Um93WjI3ZHJGUlBYbHA0Mk5qZDBMWUsrYm01dWptWm5acHdDOEpFbHlGa1d4cnFIN1RLR1RudVRhMWt1U2RCeEFCQUNkSWJuVEdmWWJFeXBqY3FUUG5XQVpFeVJKa3JTR2V2VUFKRU5DSlFHUWREcWRYaEFFU1JBRXZWNnZseE04VVJUMU9wMU9UbTROdit0emI0dWlxSC9pdUNRSWdrbFpZLzNHc3FJbzZqVWFqWlRmTWExV3F4Y0VRVklvRkhwQkVDUzFXcTBYUlZFeS9pNElncVJVS3ZXWm1abVNVcW5VS3hRS1NhVlM2UlVLaFpTZW5xNVhLQlJTYW1xcXBGS3A5RXFsVXJLMHROUW5KQ1RJQ2JIaFo1bHlidUxWV1JDWXJGS3BrYzZkTzVjQUlNSEp5Y25DMXRhMm1paUtyeWtVQ2w4QS9RVkJxSVZDN2pYNDMzMUJwOWZyLzRxTmplVjZpUWJPVGJ5QUN0OWdSSzh3NmR5NWM3RUFZdDNjM0t4VUtsVXRRUkRjSkVucUtRaENIMEVRSEZHTSt3YUFvMUZSVWJ4dmxBRW1xMVFxY25KeThOcHJyNkZ2Mzc3RktoOFdGb1o3OThwVkx3TXFCUWtKQ1hlOHZiMW5wS2FtS2l3dExaVXFsYXFLSkVuOVJWRWNMb3BpTTJPNVFoSlhQWUNEMGRIUlR5N0M5K1FucWFLMmlaNjdPM2Z1b0VxVkt2TFNOb1c1ZVBFaXFsYXRpbXJWcXBYNGVlN2Z2dzk3ZS90aWxIeDEzTHg1TSt2bXpaczNBTndBY0FCQWtJZUhSdytsVWhrQW9CMkFLb1llSGlKTTd6TmNnb0xvRlpXUWtKQU80SkxoOFl1M3Q3ZEtvOUgwVlNnVWdZSWd0RGNNTlZBWmh6UHh2bEUrTUZtbFVsTzNibDM0Ky9zWHEyeE1UQXlUMVFycXpKa3pHZ0RHU1FqU0Fhd0FzTUxMeTh0TEVJVCtnaUM4TGdoQ1BVbVNhZ2lDVUFsNWsxZWRvVFdWcUZ5YlBYczJLbGV1akMrKytLTElzcE1tVGNMQWdRTkxQSFB4clZ1MzBMZHZYM3owMFVjWU1XTEUwd2RiOFduaTR1TENBSVI1ZUhoVUYwV3huU0FJclFDMGxpVEpHNENOWWR3Wmw2QWdJdUQvUDYvc0JMRFQyOXU3cGw2djd5SUlRbHRKa2xvWXVneGI4NzVSOXBpc0V0RUxFUk1URXdNZ3BuSGp4dFlXRmhZZWtpUTFOM3lnYkErZ2p2R2JUQzVkUXkrRDlQUjBSRWRIWStyVXFmSytFeWRPSUQwOUhRQmdhMnNMVzF0YlhMcDBDUUNRbVptSjgrZlBJenc4SEFCZ1oyZUh0bTNiNXFuMzZ0V3JKbC9rSFQxNlZLN3Y1TW1UZWNwYlcxdkR6YzN0T1Z6aHl5c3VMdTRlZ0Y4QS9OYXNXYk9xZ2lBNEtaWEtycElrRFJBRWdlTk95b0hIang5ajY5YXRPSGp3SUs1ZnZ3NjFXZzByS3lzMGFOQUE0OGVQaDd1N2UxbUgrTXA2L1BneDNuLy9mYmk0dUdEUm9rWHkvcVNrSkFRR0JtTHc0TUVZTm14WW1jYjRQSnc1YytZZkFLSGUzdDQvQUtpcDAra2FDSUx3aGlSSnZvSWdjSTNGTXNSa2xZaGVxSXNYTHo0R2NCVEFNVGMzdDgwcWxhb0tnUGFpS0E0RjhHWlp4MGRVSEVlT0hJRldxOFhEaHc4UkZoYUdhdFdxNGZ2dnYwZFNVaExTMHRMUXBFa1QrUG41NFpkZmZnRU15VzFjWEJ6dTNMbURmLzc1QjFXclZzMDNXZjMyMjI4UkZoYUdTcFVxeWZ2TXpjMnhmUG55UEdYVmFqWGMzZDJ4Y2VQRzUzeTFMeTN0MmJObjd3SzRDK0FNZ1A5NmVucTZaV2RuVi9oSlVzcXptemR2WXNTSUViaDc5eTRzTFMzUnFGRWpDSUtBZi83NUJ6RXhNYmg0OFNLVDFUSTBaODRjcEtlblk4cVVLU2I3bloyZDhkRkhIMkhKa2lWd2QzZUhqNDlQbWNYNFBCbGFXNjhiSG9jQXpPSjlvMnd4V2FWU2s1bVppUnMzYmhTN0xMM3lKTVA0a1hRQU93RHNhTnEwcWIwZ0NIWmxIUmhSVVg3ODhVZFVybHdaTzNic0FBQjRlSGhnMWFwVnlNcktRdCsrZmZINjY2K2pWNjllNk5XckYyQ1loTTdZRFhqOSt2V0lqSXdzc083NjlldmpoeDkrQUFCY3VuUUppeFl0d3BneFk5QzhlWE9UY2hNbVRFQmFXdHB6dmM0S1J1TEVTbVZ2OGVMRnVIdjNMdnIwNllOSmt5YkIwdEpTUGhZZkgxK21zYjNxRGgwNmhJTUhEMkxldkhtd3RiWE5jM3pBZ0FFSUN3dkQvUG56c1hQblRubjV0UXFPOTQweXhtU1ZTczNodzRkeCtQRGhZcGQzY0hCNHJ2SFF5K2ZjdVhQM0Fkd3Y2emlJQ2hNVkZZWG82R2lzWHIwYXJWcTFNam0yZGV0V0NJS0ErdlhybTNRUlRrMU54VysvL1liNCtIaGN1WElGeWNuSm1EcDFLdWJObTJleTlKZGVyemRabHFsNjllcW9WcTBhUHZ6d1EvVHExUXV6WjgrVzEvZ2xlaG45OWRkZmdPSExsdHlKS2dDMnFKYXg5ZXZYdzhuSkNkMjdkeSt3ekljZmZvaWdvQ0RzM2JzWFBYdjJmS0h4MGF1SnlTcVZtdmJ0MjJQMDZOSEZLcnRxMVNwNUxCY1IwY3RrMDZaTmNIRnhnYXVyS3g0L2Znd0FxRlNwRXRScU5VSkNRakJxMUNnNE9qcktTM3NCd01tVEoxR2pSZzM1blBUMGRMaTZ1a0lRQkpPZUpwbVptVkFxbGZJK016TXp6SjQ5RzIzYXRFRjZlanF5czdQbHNucTlIbnE5M3FSc1FXdGVFNVVYbHBhV2VQandJZExTMG1CalkxT3NjL2JzMllQUTBGQWtKaVpDcFZMQnk4c0xvMGFOUXBNbVRVeks2ZlY2L1BqamovanBwNTl3N2RvMVdGcGFva3VYTGdnTURFVHYzcjNoNHVLQ2JkdTJBWWIzV3NlT0hlSHE2b3J2dnZ2T3BCNnRWb3ZXclZ2RHlja0p1M2J0TWptV2twS0NiNzc1QnBHUmtVaExTMFBObWpYUnUzZHZ2UC8rK3lidnYzZmVlUWRYcmx6QnNXUEhzR3ZYTG16ZnZoMjNidDFDOWVyVk1YandZQXdjT0REUGRXWmxaV0hyMXEzWXQyOGZidHk0QVZFVVViOStmWXdiTnc3ZTN0NXl1WVNFQkt4WnN3WXhNVEhRYURSbzJMQWhoZ3daZ203ZHVoWHpyNUJYZkh3OHpwOC9qL0hqeHhmYVl2cjY2NitqZXZYcStQSEhINW1zMGd2Qi85V29WSVNGaFVFVXhXSi9VRnF4WXNWemo0bUk2SG5vM3IwN3RtelpnczZkTzh2N1B2bmtFMlJtWnFKeTVjcnc4L09EU3FXQ2k0dUxmSHpuenAzdzhmSEJvRUdEb0ZhcjhmanhZd3daTWdRQTBMRmp4enpQa2Q4K0FQbU9YVFdXblRWclZyR1hEeU1xSzIrKytTWisrdWtuVEpzMkRZc1dMWUtUazFPaDVaY3ZYNDZRa0JBNE9EaWdaOCtleU1qSXdNR0RCM0g2OUdtc1c3Zk9aSUt4ZWZQbUlTd3NERFkyTm5qampUZWcwK253NTU5LzR1TEZpNlVTKzgyYk54RVlHSWlVbEJTMGJkc1dUazVPY2krTHhNUkVrd21KakZhdFdvWGR1M2VqVmF0V3FGV3JGbzRkTzRiLy92ZS9xRnk1TW5yMzdpMlhTMHRMdzhpUkkzSDU4bVU0T2pxaWE5ZXV5TW5KUVd4c0xNNmRPeWNucTRjT0hjTGt5Wk9oVkNyUnVYTm5tSnViSXpJeUVsT21UTUdEQnc4d1lNQ0FwN3EyRXlkT0FBRGF0R2xUYURsQkVOQ21UUnZzM3IwYjZlbnBzTEt5ZXFybkl5b3VKcXRVS3N6TXpNbzZCQ0tpRjZKMzc5NW8xYW9WbGkxYmhqdDM3bURLbENsd2NIQ0FuNThmR2pWcWhJMGJONkpodzRaSVRrN0d1blhyQUFDUEhqM0NxbFdyc0g3OWV1VGs1S0JSbzBaeWZaczNid1lNczNDT0hUc1cvZnIxZzYrdkx3QWdPam9hN3U3dStYNFJ1SHo1Y3FTbnAyUDY5T2tBVU9TSGZxTHlZTXlZTWJoOCtUTGk0K1BoNysrUGQ5NTVCME9IRHMxM0RlTGp4NDhqSkNRRTd1N3VDQTRPbGhPam1KZ1lCQVlHWXNtU0pkaTBhUk5nU09MQ3dzTFFvRUVEckZ1M1RoNXplZi8rZll3YU5hcFVZcDh4WXdaU1VsS3djT0ZDdlBYV1c0Q2hGWGJDaEFuNDQ0OC8wSzlmdnp6SjNva1RKL0RERHovSWF5WC85Tk5QbUQ5L1ByWnUzV3FTck02Wk13ZVhMMStHdjc4L1B2dnNNL2s5cjlGb2tKS1NBZ0I0OE9BQlB2LzhjMWhZV0dEejVzMXdkdjdmSkxWcGFXa1lPSEFnbGk5ZmpoNDllc0RhMnJyRTEzYm16Qm5ZMnRxYWZNbFdFRzl2YjRTRmhTRXVMZzd0MnJVcjhYTVJsUVFIdmhBUkVaVlE5ZXJWWVd0cmk4cVZLNk54NDhhd3Q3ZEh1M2J0WUdkbmg5MjdkK1Bnd1lQbzBhTUgxcTVkaTdWcjE2SjY5ZW9ZT0hBZzFxNWRpNkNnSUpNUGVPN3U3bkIzZDBkQ1FnSWtTVUsvZnYzZzd1Nk9ldlhxWWRPbVRWaTRjQ0VVQ29WY3p2aXdzTENBbFpXVnZHMW54N25KcVB5enNiSEIrdlhyTVc3Y09KaWJteU0wTkJSOSsvYkZxbFdyb0ZhclRjcUdob1lDQUtaTm0yYlNndWZsNVFWUFQwL0V4Y1hKazR6dDNMa1RNQ1REdVNjSHNyZTN4L2p4NDU4NTdyTm56eUkrUGg2ZE8zZVdFMVVBVUNxVkdEeDRNR0NZdStOSlk4YU1rUk5WQU9qYnR5K3NyS3h3NmRJbDZQVjZ3TEJrVlVSRUJKeWNuREJ4NGtTVEw2ZFVLaFZxMXF3SkdIcXhaV1JrWU1TSUVYS2lDc1BTVm4zNzlrVjJkbmErUzF3Vng1MDdkMUNqUm8xaWxUV1d5NzNNRnRIendwWlZJaUtpRWdnTkRjWEpreWZ4OTk5L0l5c3JDK1BHalFNQWZQSEZGMUFxbFpnNmRUekFsNGdBQUNBQVNVUkJWQ3JzN2UyaDFXcmxDV1FFUVlCS3BZS2xwU1hhdEdrRGxVcGxVbWRNVEF3MmJOaUFkdTNhb1ZtelpvRGhRMzFvYUNobXpKaUJEejc0QUV1WExzV1ZLMWZrdFZ6UG5EbURMbDI2dlBEckozcFdTcVVTUTRZTWdaK2ZIN1p1M1lydnZ2c09HemR1eElrVEo3QjY5V281TVkyTGk0TlNxY1FmZi95QlAvNzR3NlNPUjQ4ZUFZYXV1YmEydG9pUGo0Y29pdm0yOURWdTNQaVpZNDZMaXdNTVkxMVhyVnBsY3V6aHc0ZHlMRTlxMnJScG5tdDNkSFJFWW1JaU1qTXpZV1ZsaGRPblR3TUF1blhybHVmZWtGdHNiQ3dBSURFeE1VOE1GeTVjQUFEY3VuWHJxYTd2d1lNSHFGMjdkckhLR3I4WWUvRGd3Vk05RjFGSk1Ga2xJaUlxQVRzN085U3BVd2QzNzk2RkpFbW9VNmNPc3JLeUVCa1ppUzVkdWlBMU5SV3VycTRJQ2dwQ1FrSUNZSmo0WmNPR0RmS2FxSTBiTjVZbmRUbDgrREJtenB3Skd4c2J6Snc1MCtTNWF0YXNpVFZyMW1EanhvMW8wYUlGSWlJaXNHL2ZQdWgwT3RTcFV3ZnZ2LzkrR2J3Q1JLWER5c29LdzRjUFIvLysvZkhaWjU4aEppWUdLMWV1eE5TcFU2SFQ2ZVF2WmdwYlN6Z25Kd2M2blE2UEh6K0dnNE5EdmwzbUMwc0FpOHZZZ252cTFDbWNPbldxd0ZpZVZMbHk1VHo3ek0zTkFRQ1NKQUdHU1pzQW9GYXRXb1hHWUV5S241ejBxYWdZaWtPcjFSWjczaEhqak9URytJbWVKeWFyUkVSRUpkQ2pSdy8wNk5FRGl4Y3Z4bzBiTnpCeDRrUWtKaWJpM1hmZlJYaDRPUDcrKzIvNCsvdGp5NVl0OGptNTExbDlVbHBhR3F5c3JEQnk1RWhjdlhvVlY2OWV6VlBHMDlNVFo4K2VSZGV1WGRHMWExZDUvLzM3OXpuSkNiMzA3TzN0TVgvK2ZQVHExUXY3OXUzRDFLbFRvVkFvWUdabUJsRVVjZVRJRVpNbG5mS2pVQ2prMmJtZlpFenljak1tWExsbjJEYkt5c3JLczgvWVMyTGN1SEh5NUdpbHBWS2xTa0N1cExVZ0ZoWVdBSUNRa0pBOExiYlB5czdPcnRqck5odGJWRG4wZ0Y0RUpxdjB5amw2OUNpbVRwMktnSUFBakJneG9xekRJYUlLb0ZHalJtamN1REVXTEZpQXRMUTB1THE2SWpJeVVqNmVuWjJOSzFldW1PenIwS0VEQkVHQXI2OHZ1bmJ0aW84Ly9oam56NStYVzRHMFdpMTBPcDM4UVZhbjAwR2owWmkweXVUazVHRHo1czFjbjVKZWVzWkpnVEl6TXlGSkVnUkJnSXVMQzg2ZE80Y0xGeTZZTEFXVm4zcjE2dUhLbFNzNGYvNThuckpSVVZGNXlwdWJtME9sVXVIdTNidDVXaFhQbnorZnA3eHg0cUdvcUtoU1QxYU44UjQ3ZGd6RGh3OHZNREYzY1hIQjhlUEhFUjBkWGVySmFyVnExWkNjbkZ5c3NzWnkrVTJLUlZUYU9NRlNCWlNUa3dPdFZsdG9tZVBIajJQR2pCbm8zYnMzMnJWcmg0NGRPOExYMXhjVEowN0U3Ny8vL3NKaUxRMStmbjd3OXZZdThyRjA2VklBd01XTEY1R1JrU0dQUHlFaWVoYVBIajFDWkdRa0FnTURFUkVSZ2NhTkcwTVFCS3hhdFVwK3BLV2xJVEl5MG1TZmNYSVY1T29xK05aYmIrSG8wYU00ZXZRbzNubm5IVFJwMGtUZW5qaHhJbFFxbGJ4dG5BV1Y2R1doVnFzeGVmSmtYTDU4MldTL1ZxdVZaODcyOFBDUWt6WGpPcDZMRnkvTzB6cWFrcEtDTTJmT3lOdkdIZ2RMbHk2VnV3OER3TFZyMS9ETk45L2tHNCtycXlzeU16UHg0NDgveXZ2UzA5TVJIQnljcDJ5clZxMVFyVm8xUkVaRzV2bWNKRWtTOXUzYlY0Slh3cFNQancrY25Kd1FIeDh2enc1dWxKbVppYVNrSkNEWDY3Rmh3d1lrSmlhYWxNdkp5Y0doUTRlZU9nWjNkM2ZjdVhNSGQrN2NLYkpzZEhRMEJFSGdsMlQwUXJCbHRZSUpEZzdHdG0zYnNIUG56bnhuZFV0TFM4UDA2ZFBsOWJRY0hSM2g1dVlHclZhTFc3ZHU0ZURCZ3poKy9EaDY5T2hSQnRFL0hVOVBUMVN2WGwzZXZucjFLbEpTVXVEaTRtSXlJMkM5ZXZVQUFBRUJBWEIyZG9hWGwxZVp4RXRFRllOR28wRnljakkrK09BRHVMbTVZY2FNR2JDMHRFUk9UZzVzYlcyeGJkczJ1V3hoM1lDSlhoV1NKR0gvL3YzWXYzOC9hdFNvZ2JwMTYwS3IxZUxxMWF0SVMwdURqWTBOUHZ2c003bTh2NzgvRGh3NGdLaW9LUGo1K2FGbHk1YW9XclVxYnR5NGdWT25UbUhZc0dIeStxUHZ2ZmNlOXUzYmg1aVlHUFR2M3g4dFc3WkVlbm82VHA4K0RWOWZYMnpmdmoxUFBJTUhEMFpjWEJ5V0xGbUN3NGNQbzFxMWFqaDkralJhdEdpQmMrZk9tWlJWcVZTWU9YTW1nb0tDTUdQR0RPellzUU11TGk3UWFEU0lpb3JDelpzM1RXWUpMZ21sVW9uNTgrZGo5T2pSQ0E0T1JuaDRPTnpkM2ZIbzBTTkVSMGNqTURBUXpzN09jSEZ4d2JCaHc3Qng0MFlNSGp3WXJWdTNSdTNhdFpHV2xvYVRKMCtpWWNPR0p1cy9sMFRidG0wUkdocUtFeWRPb0YrL2ZvV1dQWG55SkJvM2JtenlHWXZvZVdHeVdzSEV4c2JtTzlZQ2htOExBd01Ea1pTVUJCOGZIMHlZTUFHdnZmYWFTWm1yVjYvaTExOS9mVUhSbG81WnMyYVpiTStkT3hlN2R1M0NSeDk5bE85TW1XWm1abmpqalRkZVlJUkVWTkZvTkJxY09YTUcxNjlmaDdlM040S0NnckJseXhhSW9vaWNuQnlNSERrU0N4WXNRTjI2ZFFIRGVMcWl4dHdSVlhSbVptYjQvUFBQY2ZEZ1FWeTRjQUZSVVZGUXFWU29YYnMyZXZmdWpZQ0FBRGc0T01qbGxVb2xnb09ERVJJU2dqMTc5dUR3NGNPb1hMa3lhdGFzaVZHalJzSGYzMTh1YTJscGlRMGJObURWcWxVNGRPZ1FEaHc0QUNjbko0d2JOdzQ5ZXZUSU4xbnQyclVyWnMrZWpTMWJ0aUFxS2dxMnRyYm8wNmNQUHZ6d1ErelpzeWRQK1E0ZE9tRERoZzFZdjM0OVltTmpjZUhDQlZTdlhoMk5HemZHbkRsem51bTFhZGFzR2I3Ly9udXNYNzhleDQ4ZngrN2R1MkZuWjRkV3JWcVp6SEE4ZXZSb05HalFBTnUzYjhlWk0yY1FIUjBOUjBkSGRPL2VIUUVCQVUvOS9ENCtQcWhSb3daMjdkcFZhTElhRlJXRkd6ZHVZTktrU1UvOVhFUWx3V1MxRk9uMWVubkFma21PdlNqejU4OUhVbElTdW5mdmpubno1a0doVU9RcFU3OStmWXdkTzdaTTRpTWllbG5rNU9SQXJWYWpkKy9lbURsekptSmpZN0Z4NDBaTW1EQUJyNy8rT2laT25BaC9mMzkwN05nUkhoNGVDQXdNaEptWkdmYnYzdytkVGdlMVdvMnNyQ3kwYmR0VzdzNzM2TkVqM0wxN0Z3Y1BIZ1FNeTJBOGZ2eFkzcjUwNlJJa1NaSzNiOSsrRFJnK1BLYWtwTURKeVVrZVYwZFVIaG5IYVB2NitoYjduRXFWS21INDhPRVlQbng0a1dWdGJXMHhmZnAwVEo4KzNXUi9RUk12QVVDZlBuM1FwMCtmUFB0emR6SE9yVm16WnZqcXE2K0tqT1dISDM0bzhGanV5ZGR5YzNKeXd1elpzNHVzMnpqSlcybFNxVlI0Ly8zM3NYanhZcHcrZlJvdFc3Yk10OXlHRFJ0UXRXclZJbHRmaVVyTEs1R3NabVZsWWV2V3JkaTNieDl1M0xnQlVSUlJ2MzU5akJzM0R0N2Uzb2lNak1UNDhlTVJFQkNBVHovOTFPVGNreWRQNHVPUFA0YXZyeTgrLy94endOQ1Y5czAzMzBTelpzMndZTUVDekowN0Z6RXhNWGpublhjd2NlSkVMRjY4R0R0MjdNREtsU3R4NWNvVmhJU0VJRFUxRlljT0haSW5FTml6Wnc5Q1EwT1JtSmdJbFVvRkx5OHZqQm8xQ2syYU5KR2ZlLy8rL1pnOGVUS0dEaDBLUHo4L2ZQWFZWL2pycjcrZzFXcmg0K09EU1pNbXlkT2NMMTI2RkZ1M2JwWFBOWTVyYU51MkxZS0RnM0g1OG1YczI3Y1BWYXRXeGVlZmY1NXZvbHFRZ0lBQW5EOS9IcEdSa2ZKc2VFYkRoZzFEYkd3c3dzUERUYm9kNStUazROdHZ2OFh1M2J0eCsvWnRWS2xTQlowNmRjTEhIMzlzc2ppMlhxOUhXRmdZZHU3Y2lldlhyME92MTZOZXZYb1lOMjRjZkh4OGlsMm1KUGJ1M1l0cDA2WmgyTEJoR0QxNmRKNi82WW9WSzdCczJUSkVSRVJBcDlPaFk4ZU9tRFJwRW14c2JCQWVIbzR0VzdiZzJyVnJzTGUzaDUrZkh3SURBL08wbUtTa3BPQ2JiNzVCWkdRazB0TFNVTE5tVGZUdTNSdnZ2Lzkra1ZQRCsvajRZTXlZTVNXZXdHSDkrdlhZdEdrVGpoNDlXdUxYaEloS3hzcktDbXZYcmtXdFdyV2cxV294YmRvMHRHelpFdjcrL2hCRkVWdTJiSkhYaHZ6dHQ5K1FscGFHN094c3FOVnF3TkJpNU9Ua2hFYU5HbUhHakJseXZmZnUzVFBaQm1DeXJWUXFUYmJOemMyeGR1MWFBRUQvL3YweFljS0VGM0QxUkZRUnZmMzIyL2psbDErd2JOa3liTjY4T2MrU1B4RVJFVGh4NGdUbXpwMHJUL3hHOUx4VitHUTFMUzBOSTBlT3hPWExsK0hvNklpdVhic2lKeWNIc2JHeE9IZnVuRHpXNFdsSWtvU0pFeWZDMnRvYWI3LzlOcHljbkV5T0h6eDRFUHYzNzBmWHJsMlJscFltSnpUTGx5OUhTRWdJSEJ3YzBMTm5UMlJrWk9EZ3dZTTRmZm8wMXExYkJ6YzNONU42a3BPVE1YVG9VTlNyVncrZE9uVkNWRlFVSWlNamNmMzZkV3pmdmgwcWxRck5temVIVHFmRG4zLytpWlNVRlBUcDB3Y1dGaGFvWDc4K0FPRFBQLzhFRE9PbWpETkpQaTlxdFJxalI0OUdkSFEwWG52dE5majUrU0VwS1FrLy8vd3pUcDgramUrKyswNWVabUh1M0xuNDlkZGYwYUJCQS9UcTFRdnA2ZW1JalkzRjVjdVg1VVMwT0dWS00vYVJJMGZDek13TTdkdTN4NmxUcC9ENzc3OGpOVFVWYjd6eEJwWXVYWXIyN2R1alRwMDZpSXlNeE9yVnEyRmhZWUhCZ3dmTGRkeThlUk9CZ1lGSVNVbEIyN1p0NGVUa2hPam9hS3hldlJxSmlZbFl0R2hScWNaTVJHV2pkdTNhZ0tGRll2YnMyWEIzZDVkNzBJaWlpTzdkdTZONzkrNUYxc012bUlpb1BGQ3BWUGp2Zi8rTFFZTUdZY1dLRlFnS0NwS1AzYnQzRDdObnowYmZ2bjNScTFldk1vMlRYaTBWUGxtZE0yY09MbCsrREg5L2YzejIyV2R5cTVaR295bHlQYXVpWExod0FiMTY5Y296WnRKbzc5NjlDQWtKZ2JPenM3enYrUEhqQ0FrSmdidTdPNEtEZytXa0xTWW1Cb0dCZ1ZpeVpFbWVHUjdEdzhNeGVmSmtEQmd3QURDTVBSMHlaQWl1WGJ1RzQ4ZVBvMU9uVG5qenpUZng1cHR2SWpFeEVTa3BLUmcxYXBSSlM2ZHhHbllQRDQ5bnV1YmlXTHQyTGFLam96Rmd3QUI4OXRsbjhvZTNqUnMzWXRXcVZkaXlaUXRHang2TisvZnY0OWRmZjBYdDJyVVJHaG9xZjRPbjErdng2TkVqd0xDR1lGRmxTdE9sUzVjd2NPQkFlU3hHV2xvYS9QMzljZXJVS1VSSFIyUFpzbVh5MkpIRGh3OWp3b1FKMkxsenAwbXlPbVBHREtTa3BHRGh3b1h5WkF0YXJSWVRKa3pBSDMvOGdYNzkrcUZObXphbEhqc1JsWjIyYmR1V2RRaEVSTS9NeWNrSlAvLzhjNTc1VHl3c0xMQmx5eFk0T2pxV1dXejBhcXJRUzlkY3ZYb1ZFUkVSY0hKeXdzU0pFMDI2WDZwVUt0U3NXZk9aNnRmcjlZV3UwOW0xYTFlVFJCVUFRa05EQVFEVHBrMHpXY1RkeThzTG5wNmVpSXVMeTdNb3M2dXJxNXlvd3REOXpEaFc0TUtGQzhXSzFWaG5mak8zL2Z2Zi84Nnp6RXZ1dFFCTFFxdlZZc2VPSGJDenM4T0VDUk5NeHVrR0JBUkFGRVY1YW5YajhqcDZ2UjZTSk1ubFJGR1U0eXhPbWRKa1ptYUdqei8rV042MnRiVkZ0MjdkQUFCdDJyUXhtZVNnVTZkT3NMR3h3YlZyMTZEUmFBQUFaOCtlUlh4OFBEcDM3bXd5SzZCU3FaUVQyc09IRDh2N2RUb2RidHk0WWZLQVlRSHozUHVNQzNEbjl1REJBNU15eG1uOW42eFBwOU9WK3V0RVJFUkVGVlBWcWxYejlCYTB0clpHblRwMThuUU5KbnJlS25UTDZ1blRwd0VBM2JwMWV5NXZydXJWcXhlYThIcDZldWJaRnhjWEI2VlNLWTlseXMzWVVuano1azJUUkN5L2haK05ONUhDSmczSXpkajFOeU1qSTg4eEx5OHZlV0hudi8vK0cvZnUzU3RXbmZuNSsrKy9rWkdSQVh0N2Uza2NWVzVtWm1hNGRlc1dZSGo5dkwyOWNlYk1HYno3N3JzWU9uUW91bmZ2YmpJT29qaGxTbFB0MnJWTnZrUUFJUCtObjJ5VkZnUUJEZzRPZVBUb0VUSXpNMUdsU2hWNTdkYk16RXlzV3JYS3BMd3htYng1ODZhODc4R0RCL2xPVXJCNTgyYVR0ZFp5ajVrMit2cnJyL0hUVHovbE9mZkorcDRjVDB4RVJQUXFzYmEyTG5EQ0pDSXEzeXAwc21yczVtdWNoS2kwVmExYXRVVEhkVHFkdkZEMXhvMGJDend2SnlmSFpOdTRXSHh1eHVRemQydGpZWXl2d2VYTGwvTjBRWjB5WllyOHUzSFpsNmVWdTNXdnNHczArdkxMTDdGeTVVcjg4c3N2bURObkRwWXZYNDRQUHZnQWd3Y1Bsc2Y0RnFkTWFjbnZ0VGEyeU9kM3pNek1ETWoxZHpDMllKODZkUXFuVHAzSzl6bHkvMzF0Ykd5d2VQRmlrK05UcGt4Qno1NDkwYWxUSjNtZmNXeGNidjM3OTBmcjFxM2w3UU1IRHVEUW9VT1lOMitlU2JrcVZhb1VlTDFFUkVSRVJPVlZoVTVXamExdlJZMU5OU1k4VHlhSk1MU1FGYVNvcFdpZVBLNVFLR0JtWmdaUkZISGt5SkVYdXVaZTY5YXRzV3ZYTHZ6KysrOTQ3NzMzU25SdTd0Zm55ZG1BbjN4OUxDd3NBQUR0MjdmSGloVXJpcXpieXNvS1U2ZE94VWNmZllTZmYvNFozMzc3TFpZdFc0YU1qQXg4OU5GSHhTNVRYaGhmbjNIanhoVnJObDh6TXpOMDdkclZaSjhnQ0dqVXFGR2UvVTlxMHFTSnllelJTVWxKaUlpSUtQSThJaUlpSXFLWFFZVWVzK3JxNmdvQU9IYnNXS0V0a0RZMk5zQVQzVE9OakJNVGxSWVhGeGRrWjJjWGU2eHBTUmtUUzcxZWI3TC9qVGZlUUkwYU5YRHg0a1Y4OTkxM0phcXpvTmNuSXlOREhtTnAxS0JCQTRpaWlJU0VoSHlULzRMWTI5c2pNREJRWG52c3Q5OStlNm95WmMyNHhtRlVWRlJaaDBKRVJFUkU5RktyME1tcWo0OFBuSnljRUI4ZmJ6TCtENFlXd2FTa0pBQkF3NFlOb1ZLcGNQTGtTVnk4ZUZFdWs1U1VoTzNidDVkcVRNYjFUeGN2WGl4M21UVktTVWw1NWpFVmRuWjJBSUJyMTY2WjdGZXBWSmcxYXhaRVVjU3laY3V3ZE9sUzNMOS8zNlRNdzRjUGNlZk9uVHgxR3BmUytlNjc3K1FrV0pJa3JGaXhBdG5aMlNabEsxZXVqTmRmZngwUEhqekFzbVhMNUFtU2pNNmZQeThudUE4ZVBKRC9Ccm5QUjY2dXQ4VXBVNTYwYXRVSzFhcFZRMlJrSkg3Ly9YZVRZNUlrWWQrK2ZXVVdHeEVSRVJIUnk2VDhmZG92UlVxbEV2UG56OGZvMGFNUkhCeU04UEJ3dUx1NzQ5R2pSNGlPamtaZ1lDQ2NuWjFSdVhKbHZQMzIyOWl4WXdlR0RSdUdkdTNhUVpJa25EaHhBcDA2ZGNMZXZYdExMU1ovZjM4Y09IQUFVVkZSOFBQelE4dVdMVkcxYWxYY3VIRURwMDZkd3JCaHc1NXA3VmNmSHgvczM3OGZzMmJOUXNlT0hXRmpZNE94WThjQ2hxN0FTNWN1eFl3Wk03QjE2MVpzMjdZTjlldlhSNVVxVlpDV2xvWWJOMjVBcTlWQ29WQ1lURExrNStlSDBOQlE3TisvSDlldVhVUGp4bzF4OGVKRmFEUWErZmZjSms2Y2lQajRlUHp3d3c4NGNlSUV2THk4VUtsU0pWeTRjQUZuejU3Rm1qVnJVS2RPSGFTbXB1TGYvLzQzV3Jac0NSY1hGK1RrNU1pekVBY0VCQUJBc2NxVUp5cVZDak5uemtSUVVCQm16SmlCSFR0MndNWEZCUnFOQmxGUlViaDU4NmJKTE1INXFWcTFxdHlkdWlRc0xTMkxIRWROUkVSRVJQU3lxTkF0cXdEUXJGa3pmUC85OStqVHB3OGVQWHFFM2J0MzQrelpzMmpWcXBYSk1pUkJRVUVZT25Rb3JLMnRFUkVSZ2F0WHIyTEtsQ253OWZVdDFYaVVTaVdDZzRNeGN1UkkyTnJhNHZEaHc5aTdkeThlUEhpQVVhTkdtYXpYK1RUNjlldUhkOTk5RjNxOUh1SGg0VkNyMVNiSFgzLzlkWVNGaFdINDhPRm8wcVFKN3QyN2g3aTRPTnkvZngvTm1qWERpQkVqOE1zdnY2QjU4K2J5T1RWcjFzUTMzM3lENXMyYjQvcjE2emgwNkJEcTE2K1BOV3ZXeUJNOTVlYm82SWh2di8wV2ZuNSt5TTdPeHUrLy80NklpQWlZbTV0ai92ejVjdDNWcTFkSG56NTljT1BHRGZ6d3d3ODRkT2dRR2pac2lPRGdZUFR2MzcvWVpjcWJEaDA2WU1PR0RlallzU09Ta3BMdzY2Ky9JaW9xQ28wYk44YUdEUnVLUEgvUG5qMTQ1NTEzU3Z5OGd3WU5RbGhZMkZOR1RVUkVSRVJVdnJ5NEdYNkt5Ym1KVjJjSTBsWWJhMnZITlN1WG9VMnJsbVVkRWhFQk9ISHFOTVlHVFVGeWFtb2FKTHlkZENIbVVGbkhST1ViNytmMExIalBlVEg0UHFXS2hQZU5pcWZDdDZ3U0VSRVJFUkhSeTRmSktoRVJFUkVSRVpVN1RGYUppT2k1MEVuYWRBSFE2SFg2UXRlc0pzcFBabVltdERvdElFR25rN1RwWlIxUFJjWDNLVlVrR2J4dlZEaE1Wb21JNkxtUUpQVS9rSkNsMW1od0x6bWxyTU9obDh5OTVCUmtaK2NBUUk0a3FmOHA2M2dxS3I1UHFTSzVkeS9adUt3aTd4c1ZCSk5WSWlKNkxtNWV1blJYQWpJMEdnM09YN3lVWjExbW9vS28xUm9rWExpSW5Kd2NBRkxPelV1WDdwWjFUQlVWMzZkVVVhalZhaVJjdUdqNGtvdjNqWXFDeVNvUkVUMHZXa2o2N1pJazZYZjlGbzYvb21LUWxaME5TWkxLT2k0cXB5UkpRbloyTnVMUEplRG5YYjlCcjlmckFXa0xBRzFaeDFhQjhYMUtMelhqZmVQc3VmUDQ1ZGZka0NTSjk0MEtSRm5XQVJBUlVjV2xmcHk2MHN5bWVzOUhqeDUzR2pOaEVycDA2Z2hQajJhb1hhc21ySzJzeWpvOEtrY2VwNmZqMXEzYmlEK1hnQU9ISXBHUm1Ra0pPSzU1bExLa3JHT3I2UGcrcFpkVm52dEdCdThiRlEyVDFWZEFUazRPbEVvbEZBcEZrV1VmUG53SVFSQmdZMlB6UW1Jam9vcnQ5dTNibWJXc3E0MVFTY0w2aHc4ZnRkdjFXN2o0Kzk0L1lHbHBDYVdTL3dYUi85Tm9OY2pNeklKR280RWtTUklrSE5GQjk4bnQyN2M1Njg5enh2Y3B2YXg0MzZqNGVBZXE0TzdjdVlOZXZYcmg4ODgvaDYrdmI1SGxQLzMwVTFoYVdpSTRPQmdBRUJFUkFiMWVqODZkTzh0bDVzK2ZENFZDZ1NsVHBoUllqMXF0eHMyYk4zSHQyalU4ZVBBQWZuNStwWFJGUlBTeXVYMHg3cUpkZ3dhOWJjeXMveU5BOHMzUnFGVTVEelVxQUVWL2cwYXZFaDBnYVFSQUl3blMzc2ZhektEN2lZbVB5anFvVndYZnAvU1M0bjJqZ21PeVdzRWtKU1ZoNTg2ZCtQVFRUeUdLL3o4a09mZnZtelp0Z291TEN6cDA2RkJrZmIvKytpdDBPaDMwZWozcTFhdUhoZzBiSWkwdFRmNm05ZFNwVTlEcGREaC8vandpSXlQeDhPRkQrV0VjNzZKU3FkQzVjMmZZMjl1WHlqWGV2SGtUR3pkdXhJa1RKNUNhbWdvckt5djQrUGhnMGFKRmNwbTR1RGlFaG9ZaVBqNGVhV2xwcUZtekpucjM3bzFCZ3diQnpNeXNWT0lnb3VKN2NPWEt3d2ZBR0FjSHQ2bVc5a29IdmFTdHBoQlZsY3M2TGlvL3RIb3BVeUZJeVJuM3Rjbkp5UWxjY3FJTThIMUtMeHZlTnlvK0pxc1Z6TjI3ZHhFYUdnbzdPenNNR3pZTWVyMGV5SldzSmlRazRPdXZ2MGJYcmwzUm9VTUhmUERCQjZoWnN5WVdMRmhRYUwxaFlXRlFxVlJZc3NSMENNREtsU3RScjE0OTVPVGtJRGs1R2YzNjlZT0Rnd09xVmFzR0J3Y0hPRGc0d05iV0ZvSWdsTXIxblRoeEFrRkJRY2pKeVlHM3R6ZmF0bTJMKy9mdkl6NCszcVJjWUdBZzdPenM0TzN0RFFBNGR1d1lWcTVjaVhQbnp1VzVCaUo2Y1pLVEU5S1JqSFFBVjhzNkZpTEtIOStuUkZSZU1GbXRZRnEzYm8wQkF3YmdtMisrZ1krUEQrenM3QUJEc3BxUmtZSHAwNmZEd2NFQjA2Wk5Bd0JvTkJwb05Kb2k2eDB5WkFpR0R4K092Ly8rVzk1My9QaHhYTGh3QWZQbXpjT3FWYXZnN095TUR6Lzg4TGxkMiszYnR4RVVGQVJ6YzNPc1hic1dUWnMybFk5cHRhWVR2cjMvL3ZzWVBueTQzSXFha3BLQ2dRTUg0czgvLzBSeWNqSWNIQnllVzV4RVJFUkVSUFRzdUhSTkJmVEpKNS9BM3Q0ZUd6ZHVsSk00aFVLQlRaczI0ZmJ0MjFpMGFCR3NyYTFMVkdlTEZpM2c0dUtDNzc3N1R0NjNmUGx5OU96WkU4N096aVdxNjhLRkMzajQ4R0dKemdHQUZTdFdJRHM3R3dzV0xEQkpWQUhrbVFCaTlPalJKdDE5cTFXckJpOHZMd0RBNDhlUFMvemNSRVJFUkVUMFlyRmx0UUtxWExreWdvT0RVYmR1WFZ5N2RnMHdKS3ZEaHc5SHExYXQ0T0hoOFZUMXpwczNEN1ZxMWNMczJiTUJBTE5telpKYmJrdmkrUEhqMkxKbEMwYU1HSUVCQXdZVWE2YkJ0TFEwSER4NEVPN3U3bWpkdW5XSm56TW5Kd2NYTGx5QW5aMGQ2dGF0VytMemlZaUlpSWpveFdLeVdzRkVSMGZqMEtGRDh2YjkrL2NCQUx0MzcwWmNYQndBNE9qUm8yalRwZzNhdG0xYjdIcDM3dHlKbkp3Y0FNQ05HemNnaWlLaW82TUJRRzZ4ek1yS1FsSlNVcjduT3pvNnd0emNIQURRbzBjUFhMcDBDVjk4OFFXMmI5K084ZVBIbzB1WExvVSsvNWt6WjZEVmF0RytmWHRrWjJmandJRUR1SExsQ3F5dHJkR3hZMGMwYk5pd3dIUDFlajMrODUvLzRNNmRPMWk0Y0NHbjRTY2lJaUlpZWdud1Uzc0ZrNXljakppWUdIazdQZjEvRTZOZHUzWU5xYW1wOHY2U2R0ME5Edy9IbzBlUGtKV1ZoWC8rK1FkV1ZsYjQrZWVmQVFDV2xwWUFnSmlZR1BUdjN6L2Y4Ny8rK211NVJkVFIwUkVMRnk1RVFFQUF2dnJxSzB5Y09CSE5temRIVUZBUVhGMWQ4ejAvTVRFUkFHQmxaWVdBZ0FCY3Zmci9jejRFQndmajQ0OC94ckJody9LY0owa1M1czZkaS9Ed2NIejIyV2Q0NjYyM1NuVGRSRVJFUkVSVU5waXNWakJ2dmZXV1NVTDI1NTkvNHJQUFBzUHMyYlBoN3U3KzFQVnUyTEFCQVBERkYxOGdORFFVN2RxMXc4S0ZDK1hqUjQ4ZWhaZVhGMmJPbkFrQXVIVHBFcVpPbllwbHk1YWhidDI2Y0hSMHpGTm4wNlpOc1c3ZE9rUkVSR0Q1OHVVSUNBaEF6NTQ5OGNrbm42QkdqUm9tWmRQUzBnRERzanR0MnJUQlYxOTloU3BWcXVEWXNXTllzR0FCVnExYUJROFBEN1JzMmRMa3ZHKysrUWEvL3ZvcnhvOGZqMy8vKzk5UGZmMUVSRVJFUlBSaWNZS2xDaTRsSlFVQVlHdHIrOHgxcGFhbVl1Zk9uYWhSb3daaVkyTXhkZXBVZVdrY0FMQ3dzSUN6c3pPY25aMVJzMlpOQUVDdFdyWGc3T3dzZHdIT1Q2ZE9uYkJqeHc1TW16WU5mL3p4Qjk1KysyMlRyc3d3akRrMTFqZG56aHc0T1RuQjJ0b2EzYnQzeHllZmZBSVl1aXJubHAyZGpaQ1FFRFJ2M2h6dnZmZmVNMTgvRVJFUkVSRzlPR3hacldDMmI5OHV0MExDTU5ZVEFINzY2U2VUaE5IT3pnNERCZ3dvVWQzcjE2K0hoNGNIcksydDhjOC8vK0RZc1dOWXNtUUpKaytlak96czdFSVQwc0xvOVhyczM3OGYyN2R2aDBhalFjZU9IVkcvZm4yVE1zYXV4bSs4OFVhZU5WdmJ0V3NIQUNaZGcyRklWdFZxZFo2NmlJaUlpSWlvL0dPeVdzRWNPWElFdDI3ZGtyZHYzYnFGU3BVcTRmRGh3eWJsNnRhdFc2Sms5Y2lSSTlpeFl3ZldybDJMYmR1Mm9VNmRPdmo0NDQ4eGR1eFlORy9lSE9ucDZhaFdyVnFKWXRWcXRRZ1BEOGVtVFp0dy9mcDF0R3ZYRHJObno0YWJtMXVlc3JWcjE1YlBlVkxseXBVQncvalUzR3h0YmRHOWUvY1NMOU5EUkVSRVJFUmxqOGxxQmJOeTVVcjU5NVNVRlBUczJSTyt2cjZZUEhueVU5ZDUvLzU5ekpvMUMzMzY5SUczdHplMmJkc0dHRm8wdi96eVM3UnUzUnJMbHk5SGl4WXRpbFdmV3ExR1dGZ1lObS9lakgvKytRZHQyclRCM0xsekN4MVQyN3g1Y3dCQVZGUlVub21VTGx5NEFBRDV0cUF1V0xDZ1JOZEtSRVJFUkVUbEE1UFZDbXpuenAzUTZYU0Z6b0RyN2UwTmUzdjdRdXN4TXpPRGc0TURKazJhbE9kWXAwNmRrSmFXaGp0MzdxQkpreWJGaW12cjFxMVlzV0lGZkh4OE1ILytmSGg2ZWhaNVRwTW1UZURtNW9iang0OGpNaklTSFR0MkJBQThmdndZd2NIQkFJRGV2WHZuT1M4Mk5oYjM3OTh2Y21rY0lpSWlJaUlxWDVpc1ZsQjM3OTVGU0VnSTNOM2Q1VmJKL0h6NjZhZEYxbVZsWllVdnYveFNIamY2cEZPblRnRkFzV2NiYnRpd0lkYXRXMWZzbGxpam1UTm40c01QUDhTbm4zNktEaDA2d05yYUdxZE9uVUpLU2dyOC9QelFvVU1Iay9McDZla1lNV0lFdEZvdDFxOWZYK2pyUUVSRVJFUkU1UXVUMVFwSXJWWmo4dVRKeU1uSndiaHg0MHAwYmxwYVdwNHhubzhmUDhiMTY5ZmxiWGQzZHdpQ2dJU0VCTlNwa05lN2hBQUFCR2hKUkVGVVV3ZGhZV0ZvM3J4NXZzdlQ1T2ZKcExLNFhudnROWVNFaENBNE9CaW5UNTlHZG5ZMjZ0ZXZqeEVqUnNEUHp5OVBlWE56YzdpNXVlSGV2WHZ5bUZjaUlpSWlJbm81TUZtdFlMS3lzakJwMGlURXg4ZGorUERoUmJZbWhvZUg0L0xseTdDd3NNRFZxMWR4N2RvMXRHL2YzcVJNVkZSVWdVdS92UHZ1dXpoKy9EZ1dMVnBVcXRkUkVHZG5aeXhkdXJSWVpaVktKVFp0MnZUY1l5SWlJaUlpb3RMSFpMV0NTVXBLUW5SME5QejgvREJpeElnaXk2ZWtwT0RiYjcrRkpFbFFLcFZvM3J3NWhnd1pJaCtmUFhzMnBrK2ZYdUQ1SzFldVJPdldyZEd0VzdmU3VnUWlJaUlpSWlJbXF4V05xNnNydG03ZGlqcDE2aFNyL0pBaFF6Qmt5QkRvOVhvSWdwQm5EVlBqc2pBRm1UWnRHaDQvZnB4bnY3dTd1N3pHS3hFUkVSRVJVVWt4V2EyQWlwdW81aWFLNGxNOWwwS2hnSzJ0N1ZPZFMwUkVSRVJFVkpDbnkxQ0lpSWlJaUlpSW5pTW1xMFJFUkVSRVJGVHVNRmtsSWlJaUlpS2ljb2ZKS2hFUkVSRVJFWlU3VEZhSmlJaUlpSWlvM0dHeVNrUkVSRVJFUk9VT2sxVWlJaUlpSWlJcWQ1aXNFaEVSRVJFUlVibkRaSldJaUlpSWlJaktIU2FyUkVSRVJFUkVWTzZVdTJSVkoyblRCVUNqMSttUm1abFoxdUVRa1VGbVZoWjBPaDBnUWFlVHRPbGxIUThSRVJFUlZXemxMbG1WSlBVL2tKQ2wxbWh3THptbHJNTWhJb09VbEZSazUyUURRSTRrcWY4cDYzaUlpSWlJcUdJcmQ4bnF6VXVYN2twQWhrYWp3Zm1MbDVDZG5WM1dJUkc5OGpSYUxTNWRUa1IyZGc0QUtlZm1wVXQzeXpvbUlpSWlJcXJZeWwyeUNrQUxTYjlka2lUOXJ0L0M4VmRVRExLeXN5RkpVbG5IUmZSSzB1bDBTRXo4Rzd0Mi93NjlYcThIcEMwQXRHVWRGeEVSRVJGVmJFSlpCNUNmV3JWcVdaclpWUDlkRU5ESnhzWWFYVHAxZ0tkN016alZyZ1VySzZ1eURvL29sWkNUazRQSDZlazRmK0VTZnY1MU4rN2N1UXU5SkIzVlBFcCs2L2J0Mnh4UVRrUkVSRVRQVmJsTVZnR2dWbU9QeGlvSTZ3VUI3UVJCRUZVcUZTcGJXa0twVkpaMWFFU3ZCTDFlRDQxR2c0ek1UT2gwT2drU2ptaWgrK1RteGJOeFpSMGJFUkVSRVZWODVUWlpCUUM3QmcycTJKaFovMGNVNENzQktrQlFBVkNVZFZ4RXJ3Z2RJR2tFUUtPSHRQZXhKalBvZm1MaW83SU9pb2lJaUloZURlVTZXVFZ5Y0hDenNyUlhPdWdsWFRXRnFLcGMxdkVRdlFxMGVpbFRJVWpKbWZlMXljbkpDVnlxaG9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lJaUlpSWdLOG4raGVYYmNyeno5SFFBQUFBQkpSVTVFcmtKZ2dnPT0iLAoJIlRoZW1lIiA6ICIiLAoJIlR5cGUiIDogImZsb3ciLAoJIlVzZXJJZCIgOiAiMTcyNDY4Mjg4OSIsCgkiVmVyc2lvbiIgOiAiMjEiCn0K"/>
    </extobj>
  </extobjs>
</s:customData>
</file>

<file path=customXml/itemProps1.xml><?xml version="1.0" encoding="utf-8"?>
<ds:datastoreItem xmlns:ds="http://schemas.openxmlformats.org/officeDocument/2006/customXml" ds:itemID="{0B5CB41D-7DAF-4B52-AE6B-8833F4F63AE4}">
  <ds:schemaRefs>
    <ds:schemaRef ds:uri="http://www.wps.cn/officeDocument/2013/wpsCustomData"/>
  </ds:schemaRefs>
</ds:datastoreItem>
</file>

<file path=docProps/app.xml><?xml version="1.0" encoding="utf-8"?>
<Properties xmlns="http://schemas.openxmlformats.org/officeDocument/2006/extended-properties" xmlns:vt="http://schemas.openxmlformats.org/officeDocument/2006/docPropsVTypes">
  <Template>欢迎文档</Template>
  <TotalTime>33</TotalTime>
  <Words>1150</Words>
  <Application>Microsoft Office PowerPoint</Application>
  <PresentationFormat>宽屏</PresentationFormat>
  <Paragraphs>155</Paragraphs>
  <Slides>13</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13</vt:i4>
      </vt:variant>
    </vt:vector>
  </HeadingPairs>
  <TitlesOfParts>
    <vt:vector size="16" baseType="lpstr">
      <vt:lpstr>Microsoft YaHei UI</vt:lpstr>
      <vt:lpstr>Arial</vt:lpstr>
      <vt:lpstr>欢迎文档</vt:lpstr>
      <vt:lpstr>OurEDA 2025级大一上作业答辩 方向：WEB</vt:lpstr>
      <vt:lpstr>Git</vt:lpstr>
      <vt:lpstr>知识点自测</vt:lpstr>
      <vt:lpstr>Wordle</vt:lpstr>
      <vt:lpstr>Wordle</vt:lpstr>
      <vt:lpstr>Wordle</vt:lpstr>
      <vt:lpstr>劣质手搓版</vt:lpstr>
      <vt:lpstr>“提示词工程”</vt:lpstr>
      <vt:lpstr>Wordle</vt:lpstr>
      <vt:lpstr>核心函数</vt:lpstr>
      <vt:lpstr>总体评价</vt:lpstr>
      <vt:lpstr>还做了哪些？</vt:lpstr>
      <vt:lpstr>结束语</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鹏城实验室讨论稿汇报</dc:title>
  <dc:creator>Ming Zhu</dc:creator>
  <cp:lastModifiedBy>Yu Lei</cp:lastModifiedBy>
  <cp:revision>179</cp:revision>
  <dcterms:created xsi:type="dcterms:W3CDTF">2018-12-19T12:19:00Z</dcterms:created>
  <dcterms:modified xsi:type="dcterms:W3CDTF">2026-03-07T07:44:55Z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v-rimour@microsoft.com</vt:lpwstr>
  </property>
  <property fmtid="{D5CDD505-2E9C-101B-9397-08002B2CF9AE}" pid="5" name="MSIP_Label_f42aa342-8706-4288-bd11-ebb85995028c_SetDate">
    <vt:lpwstr>2018-02-19T06:21:30.1318915Z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Extended_MSFT_Method">
    <vt:lpwstr>Automatic</vt:lpwstr>
  </property>
  <property fmtid="{D5CDD505-2E9C-101B-9397-08002B2CF9AE}" pid="9" name="Sensitivity">
    <vt:lpwstr>General</vt:lpwstr>
  </property>
  <property fmtid="{D5CDD505-2E9C-101B-9397-08002B2CF9AE}" pid="10" name="ICV">
    <vt:lpwstr>0BC0A10890164F49BA951004C777E52E_13</vt:lpwstr>
  </property>
  <property fmtid="{D5CDD505-2E9C-101B-9397-08002B2CF9AE}" pid="11" name="KSOProductBuildVer">
    <vt:lpwstr>2052-12.1.0.23542</vt:lpwstr>
  </property>
</Properties>
</file>