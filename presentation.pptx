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9"/>
  </p:notesMasterIdLst>
  <p:handoutMasterIdLst>
    <p:handoutMasterId r:id="rId10"/>
  </p:handoutMasterIdLst>
  <p:sldIdLst>
    <p:sldId id="273" r:id="rId2"/>
    <p:sldId id="270" r:id="rId3"/>
    <p:sldId id="276" r:id="rId4"/>
    <p:sldId id="275" r:id="rId5"/>
    <p:sldId id="277" r:id="rId6"/>
    <p:sldId id="278" r:id="rId7"/>
    <p:sldId id="274" r:id="rId8"/>
  </p:sldIdLst>
  <p:sldSz cx="12192000" cy="6858000"/>
  <p:notesSz cx="6858000" cy="9144000"/>
  <p:custDataLst>
    <p:tags r:id="rId11"/>
  </p:custDataLst>
  <p:defaultTextStyle>
    <a:defPPr rtl="0"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3" name="Author" initials="A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BEBEB"/>
    <a:srgbClr val="F8F8F8"/>
    <a:srgbClr val="D24726"/>
    <a:srgbClr val="D2B4A6"/>
    <a:srgbClr val="734F29"/>
    <a:srgbClr val="DD462F"/>
    <a:srgbClr val="AEB785"/>
    <a:srgbClr val="EFD5A2"/>
    <a:srgbClr val="3B3026"/>
    <a:srgbClr val="ECE1C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310" autoAdjust="0"/>
    <p:restoredTop sz="94274" autoAdjust="0"/>
  </p:normalViewPr>
  <p:slideViewPr>
    <p:cSldViewPr>
      <p:cViewPr>
        <p:scale>
          <a:sx n="74" d="100"/>
          <a:sy n="74" d="100"/>
        </p:scale>
        <p:origin x="444" y="64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>
      <p:cViewPr varScale="1">
        <p:scale>
          <a:sx n="88" d="100"/>
          <a:sy n="88" d="100"/>
        </p:scale>
        <p:origin x="3786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commentAuthors" Target="commentAuthors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gs" Target="tags/tag1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44022C-5079-4642-AC6E-7894F9978BBA}" type="datetime2">
              <a:rPr lang="zh-CN" altLang="en-US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2026年2月26日</a:t>
            </a:fld>
            <a:endParaRPr lang="zh-CN" altLang="en-US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1BE3BD5-D202-4020-A93E-A1AA1A84DE69}" type="slidenum">
              <a:rPr lang="en-US" altLang="zh-CN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‹#›</a:t>
            </a:fld>
            <a:endParaRPr lang="zh-CN" altLang="en-US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endParaRPr lang="zh-CN" altLang="en-US" noProof="0" dirty="0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fld id="{70747F27-0AFF-49DE-ABD2-AA502995B8AE}" type="datetime2">
              <a:rPr lang="zh-CN" altLang="en-US" smtClean="0"/>
              <a:t>2026年2月26日</a:t>
            </a:fld>
            <a:endParaRPr lang="en-US" dirty="0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en-US" dirty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en-US" dirty="0"/>
              <a:t>单击此处编辑母版文本样式</a:t>
            </a:r>
          </a:p>
          <a:p>
            <a:pPr lvl="1" rtl="0"/>
            <a:r>
              <a:rPr lang="en-US" dirty="0"/>
              <a:t>第二级</a:t>
            </a:r>
          </a:p>
          <a:p>
            <a:pPr lvl="2" rtl="0"/>
            <a:r>
              <a:rPr lang="en-US" dirty="0"/>
              <a:t>第三级</a:t>
            </a:r>
          </a:p>
          <a:p>
            <a:pPr lvl="3" rtl="0"/>
            <a:r>
              <a:rPr lang="en-US" dirty="0"/>
              <a:t>第四级</a:t>
            </a:r>
          </a:p>
          <a:p>
            <a:pPr lvl="4" rtl="0"/>
            <a:r>
              <a:rPr lang="en-US" dirty="0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endParaRPr lang="zh-CN" altLang="en-US" noProof="0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fld id="{DF61EA0F-A667-4B49-8422-0062BC55E249}" type="slidenum">
              <a:rPr lang="en-US" smtClean="0"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Microsoft YaHei UI" panose="020B0503020204020204" pitchFamily="34" charset="-122"/>
        <a:ea typeface="Microsoft YaHei UI" panose="020B0503020204020204" pitchFamily="34" charset="-122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Microsoft YaHei UI" panose="020B0503020204020204" pitchFamily="34" charset="-122"/>
        <a:ea typeface="Microsoft YaHei UI" panose="020B0503020204020204" pitchFamily="34" charset="-122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Microsoft YaHei UI" panose="020B0503020204020204" pitchFamily="34" charset="-122"/>
        <a:ea typeface="Microsoft YaHei UI" panose="020B0503020204020204" pitchFamily="34" charset="-122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Microsoft YaHei UI" panose="020B0503020204020204" pitchFamily="34" charset="-122"/>
        <a:ea typeface="Microsoft YaHei UI" panose="020B0503020204020204" pitchFamily="34" charset="-122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Microsoft YaHei UI" panose="020B0503020204020204" pitchFamily="34" charset="-122"/>
        <a:ea typeface="Microsoft YaHei UI" panose="020B0503020204020204" pitchFamily="34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DF61EA0F-A667-4B49-8422-0062BC55E249}" type="slidenum">
              <a:rPr lang="en-US" altLang="zh-CN" smtClean="0"/>
              <a:t>1</a:t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DF61EA0F-A667-4B49-8422-0062BC55E249}" type="slidenum">
              <a:rPr lang="en-US" smtClean="0"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D1BFAD-9210-CCF0-7AB6-F5AF7AC8FA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A43A1FDC-F674-FBFC-56E2-303FC32BA0D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DC9D8E1F-AECE-4B7A-663C-317DB3A7900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E662970-BB98-308A-F2E3-C29AB7FB98B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DF61EA0F-A667-4B49-8422-0062BC55E249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285063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D7E94A-A4FC-5436-2037-D4B3631D77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5E143D2F-A659-07D2-C069-F8458C99C0F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F7ED729E-A187-F3CA-5C5C-01128BCF2A7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1E2103C-252F-CDBF-6316-3D675E2C917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DF61EA0F-A667-4B49-8422-0062BC55E249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968241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r>
              <a:rPr lang="en-US" sz="1200" kern="1200" dirty="0">
                <a:solidFill>
                  <a:schemeClr val="tx1"/>
                </a:solidFill>
                <a:effectLst/>
                <a:cs typeface="+mn-cs"/>
              </a:rPr>
              <a:t>在幻灯片放映模式下，选择箭头访问相应链接</a:t>
            </a:r>
            <a:r>
              <a:rPr lang="en-US" dirty="0"/>
              <a:t>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DF61EA0F-A667-4B49-8422-0062BC55E249}" type="slidenum">
              <a:rPr lang="en-US" smtClean="0"/>
              <a:t>7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长方形 6"/>
          <p:cNvSpPr/>
          <p:nvPr/>
        </p:nvSpPr>
        <p:spPr>
          <a:xfrm>
            <a:off x="254950" y="262784"/>
            <a:ext cx="11682101" cy="6332433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CN" altLang="en-US" sz="1800" noProof="0" dirty="0">
              <a:latin typeface="Microsoft YaHei UI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长方形 6"/>
          <p:cNvSpPr/>
          <p:nvPr/>
        </p:nvSpPr>
        <p:spPr>
          <a:xfrm>
            <a:off x="8963" y="10923"/>
            <a:ext cx="12192000" cy="691468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CN" altLang="en-US" sz="1800" noProof="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4433" y="10923"/>
            <a:ext cx="10749367" cy="730034"/>
          </a:xfrm>
        </p:spPr>
        <p:txBody>
          <a:bodyPr rtlCol="0" anchor="b">
            <a:normAutofit/>
          </a:bodyPr>
          <a:lstStyle>
            <a:lvl1pPr>
              <a:defRPr sz="360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 rtl="0"/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838201" y="980728"/>
            <a:ext cx="4167753" cy="5196235"/>
          </a:xfrm>
        </p:spPr>
        <p:txBody>
          <a:bodyPr lIns="0" tIns="0" rIns="0" bIns="0" rtlCol="0">
            <a:normAutofit/>
          </a:bodyPr>
          <a:lstStyle>
            <a:lvl1pPr marL="0" indent="0">
              <a:lnSpc>
                <a:spcPct val="130000"/>
              </a:lnSpc>
              <a:spcBef>
                <a:spcPts val="500"/>
              </a:spcBef>
              <a:spcAft>
                <a:spcPts val="1000"/>
              </a:spcAft>
              <a:buNone/>
              <a:defRPr sz="1600" baseline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  <a:lvl2pPr>
              <a:lnSpc>
                <a:spcPct val="130000"/>
              </a:lnSpc>
              <a:spcBef>
                <a:spcPts val="500"/>
              </a:spcBef>
              <a:spcAft>
                <a:spcPts val="1000"/>
              </a:spcAft>
              <a:defRPr sz="1400" baseline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2pPr>
            <a:lvl3pPr>
              <a:lnSpc>
                <a:spcPct val="130000"/>
              </a:lnSpc>
              <a:spcAft>
                <a:spcPts val="1000"/>
              </a:spcAft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3pPr>
            <a:lvl4pPr>
              <a:lnSpc>
                <a:spcPct val="130000"/>
              </a:lnSpc>
              <a:spcAft>
                <a:spcPts val="1000"/>
              </a:spcAft>
              <a:defRPr sz="1100" baseline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4pPr>
            <a:lvl5pPr>
              <a:lnSpc>
                <a:spcPct val="130000"/>
              </a:lnSpc>
              <a:spcAft>
                <a:spcPts val="1000"/>
              </a:spcAft>
              <a:defRPr sz="1100" baseline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5pPr>
          </a:lstStyle>
          <a:p>
            <a:pPr lvl="0" rtl="0"/>
            <a:r>
              <a:rPr lang="zh-CN" altLang="en-US"/>
              <a:t>编辑母版文本样式
第二级
第三级
第四级
第五级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baseline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fld id="{94B3CDE5-BC73-4849-8D92-CB00948283D7}" type="datetime2">
              <a:rPr lang="zh-CN" altLang="en-US" smtClean="0"/>
              <a:t>2026年2月26日</a:t>
            </a:fld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baseline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baseline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长方形 8"/>
          <p:cNvSpPr/>
          <p:nvPr userDrawn="1"/>
        </p:nvSpPr>
        <p:spPr>
          <a:xfrm>
            <a:off x="254951" y="262784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CN" altLang="en-US" sz="1800" noProof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10" name="长方形 9"/>
          <p:cNvSpPr/>
          <p:nvPr userDrawn="1"/>
        </p:nvSpPr>
        <p:spPr>
          <a:xfrm>
            <a:off x="254950" y="262784"/>
            <a:ext cx="11682101" cy="2072643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CN" altLang="en-US" sz="1800" noProof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rtl="0"/>
            <a:r>
              <a:rPr lang="zh-CN" altLang="en-US" noProof="0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zh-CN" altLang="en-US" noProof="0" dirty="0"/>
              <a:t>编辑母版文本样式</a:t>
            </a:r>
          </a:p>
          <a:p>
            <a:pPr lvl="1" rtl="0"/>
            <a:r>
              <a:rPr lang="zh-CN" altLang="en-US" noProof="0" dirty="0"/>
              <a:t>第二级</a:t>
            </a:r>
          </a:p>
          <a:p>
            <a:pPr lvl="2" rtl="0"/>
            <a:r>
              <a:rPr lang="zh-CN" altLang="en-US" noProof="0" dirty="0"/>
              <a:t>第三级</a:t>
            </a:r>
          </a:p>
          <a:p>
            <a:pPr lvl="3" rtl="0"/>
            <a:r>
              <a:rPr lang="zh-CN" altLang="en-US" noProof="0" dirty="0"/>
              <a:t>第四级</a:t>
            </a:r>
          </a:p>
          <a:p>
            <a:pPr lvl="4" rtl="0"/>
            <a:r>
              <a:rPr lang="zh-CN" altLang="en-US" noProof="0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fld id="{131E3292-D461-4042-A5EB-629C7A8279A7}" type="datetime2">
              <a:rPr lang="zh-CN" altLang="en-US" smtClean="0"/>
              <a:t>2026年2月26日</a:t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648200" y="63563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077200" y="63563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fld id="{9860EDB8-5305-433F-BE41-D7A86D811DB3}" type="slidenum">
              <a:rPr lang="en-US" altLang="zh-CN" smtClean="0"/>
              <a:t>‹#›</a:t>
            </a:fld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l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Microsoft YaHei UI" panose="020B0503020204020204" pitchFamily="34" charset="-122"/>
          <a:ea typeface="Microsoft YaHei UI" panose="020B0503020204020204" pitchFamily="34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Microsoft YaHei UI" panose="020B0503020204020204" pitchFamily="34" charset="-122"/>
          <a:ea typeface="Microsoft YaHei UI" panose="020B0503020204020204" pitchFamily="34" charset="-122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Microsoft YaHei UI" panose="020B0503020204020204" pitchFamily="34" charset="-122"/>
          <a:ea typeface="Microsoft YaHei UI" panose="020B0503020204020204" pitchFamily="34" charset="-122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Microsoft YaHei UI" panose="020B0503020204020204" pitchFamily="34" charset="-122"/>
          <a:ea typeface="Microsoft YaHei UI" panose="020B0503020204020204" pitchFamily="34" charset="-122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Microsoft YaHei UI" panose="020B0503020204020204" pitchFamily="34" charset="-122"/>
          <a:ea typeface="Microsoft YaHei UI" panose="020B0503020204020204" pitchFamily="34" charset="-122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Microsoft YaHei UI" panose="020B0503020204020204" pitchFamily="34" charset="-122"/>
          <a:ea typeface="Microsoft YaHei UI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openxmlformats.org/officeDocument/2006/relationships/hyperlink" Target="https://github.com/rain-lei/oureda-25-web-winter.git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hyperlink" Target="https://www.codewars.com/kata/62013b174c72240016600e60/train/javascript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idx="4294967295"/>
          </p:nvPr>
        </p:nvSpPr>
        <p:spPr>
          <a:xfrm>
            <a:off x="811306" y="1164325"/>
            <a:ext cx="10613286" cy="2389365"/>
          </a:xfrm>
        </p:spPr>
        <p:txBody>
          <a:bodyPr rtlCol="0">
            <a:noAutofit/>
          </a:bodyPr>
          <a:lstStyle/>
          <a:p>
            <a:pPr rtl="0"/>
            <a:r>
              <a:rPr lang="en-US" altLang="zh-CN" sz="4600" dirty="0" err="1">
                <a:solidFill>
                  <a:schemeClr val="bg1"/>
                </a:solidFill>
                <a:cs typeface="Arial" panose="020B0604020202020204" pitchFamily="34" charset="0"/>
              </a:rPr>
              <a:t>OurEDA</a:t>
            </a:r>
            <a:r>
              <a:rPr lang="zh-CN" altLang="en-US" sz="4600" dirty="0">
                <a:solidFill>
                  <a:schemeClr val="bg1"/>
                </a:solidFill>
                <a:cs typeface="Arial" panose="020B0604020202020204" pitchFamily="34" charset="0"/>
              </a:rPr>
              <a:t> </a:t>
            </a:r>
            <a:r>
              <a:rPr lang="en-US" altLang="zh-CN" sz="4600">
                <a:solidFill>
                  <a:schemeClr val="bg1"/>
                </a:solidFill>
                <a:cs typeface="Arial" panose="020B0604020202020204" pitchFamily="34" charset="0"/>
              </a:rPr>
              <a:t>2025</a:t>
            </a:r>
            <a:r>
              <a:rPr lang="zh-CN" altLang="en-US" sz="4600">
                <a:solidFill>
                  <a:schemeClr val="bg1"/>
                </a:solidFill>
                <a:cs typeface="Arial" panose="020B0604020202020204" pitchFamily="34" charset="0"/>
              </a:rPr>
              <a:t>级大一上作业</a:t>
            </a:r>
            <a:r>
              <a:rPr lang="zh-CN" altLang="en-US" sz="4600" dirty="0">
                <a:solidFill>
                  <a:schemeClr val="bg1"/>
                </a:solidFill>
                <a:cs typeface="Arial" panose="020B0604020202020204" pitchFamily="34" charset="0"/>
              </a:rPr>
              <a:t>答辩</a:t>
            </a:r>
            <a:br>
              <a:rPr lang="en-US" altLang="zh-CN" sz="4600" dirty="0">
                <a:solidFill>
                  <a:schemeClr val="bg1"/>
                </a:solidFill>
                <a:cs typeface="Arial" panose="020B0604020202020204" pitchFamily="34" charset="0"/>
              </a:rPr>
            </a:br>
            <a:r>
              <a:rPr lang="zh-CN" altLang="en-US" sz="4600" dirty="0">
                <a:solidFill>
                  <a:schemeClr val="bg1"/>
                </a:solidFill>
                <a:cs typeface="Arial" panose="020B0604020202020204" pitchFamily="34" charset="0"/>
              </a:rPr>
              <a:t>方向：</a:t>
            </a:r>
            <a:r>
              <a:rPr lang="en-US" altLang="zh-CN" sz="4600" dirty="0">
                <a:solidFill>
                  <a:schemeClr val="bg1"/>
                </a:solidFill>
                <a:cs typeface="Arial" panose="020B0604020202020204" pitchFamily="34" charset="0"/>
              </a:rPr>
              <a:t>WEB</a:t>
            </a:r>
            <a:endParaRPr lang="en-US" sz="4600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sp>
        <p:nvSpPr>
          <p:cNvPr id="3" name="副标题 2"/>
          <p:cNvSpPr>
            <a:spLocks noGrp="1"/>
          </p:cNvSpPr>
          <p:nvPr>
            <p:ph type="subTitle" idx="4294967295"/>
          </p:nvPr>
        </p:nvSpPr>
        <p:spPr>
          <a:xfrm>
            <a:off x="827465" y="4437112"/>
            <a:ext cx="9582736" cy="1133856"/>
          </a:xfrm>
        </p:spPr>
        <p:txBody>
          <a:bodyPr rtlCol="0">
            <a:normAutofit/>
          </a:bodyPr>
          <a:lstStyle/>
          <a:p>
            <a:pPr marL="0" indent="0" rtl="0">
              <a:buNone/>
            </a:pPr>
            <a:r>
              <a:rPr lang="zh-CN" altLang="en-US" sz="2400" dirty="0">
                <a:solidFill>
                  <a:schemeClr val="bg1"/>
                </a:solidFill>
                <a:cs typeface="Arial" panose="020B0604020202020204" pitchFamily="34" charset="0"/>
              </a:rPr>
              <a:t>答辩人</a:t>
            </a:r>
            <a:r>
              <a:rPr lang="zh-CN" altLang="en-US" sz="2400" dirty="0">
                <a:solidFill>
                  <a:schemeClr val="bg1"/>
                </a:solidFill>
                <a:cs typeface="Arial" panose="020B0604020202020204" pitchFamily="34" charset="0"/>
                <a:sym typeface="Wingdings" panose="05000000000000000000" pitchFamily="2" charset="2"/>
              </a:rPr>
              <a:t>：雷宇</a:t>
            </a:r>
            <a:r>
              <a:rPr lang="en-US" altLang="zh-CN" sz="2400" dirty="0">
                <a:solidFill>
                  <a:schemeClr val="bg1"/>
                </a:solidFill>
                <a:cs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zh-CN" altLang="en-US" sz="2400" dirty="0">
                <a:solidFill>
                  <a:schemeClr val="bg1"/>
                </a:solidFill>
                <a:cs typeface="Arial" panose="020B0604020202020204" pitchFamily="34" charset="0"/>
                <a:sym typeface="Wingdings" panose="05000000000000000000" pitchFamily="2" charset="2"/>
              </a:rPr>
              <a:t>求实</a:t>
            </a:r>
            <a:r>
              <a:rPr lang="en-US" altLang="zh-CN" sz="2400" dirty="0">
                <a:solidFill>
                  <a:schemeClr val="bg1"/>
                </a:solidFill>
                <a:cs typeface="Arial" panose="020B0604020202020204" pitchFamily="34" charset="0"/>
                <a:sym typeface="Wingdings" panose="05000000000000000000" pitchFamily="2" charset="2"/>
              </a:rPr>
              <a:t>2501 QQ</a:t>
            </a:r>
            <a:r>
              <a:rPr lang="zh-CN" altLang="en-US" sz="2400" dirty="0">
                <a:solidFill>
                  <a:schemeClr val="bg1"/>
                </a:solidFill>
                <a:cs typeface="Arial" panose="020B0604020202020204" pitchFamily="34" charset="0"/>
                <a:sym typeface="Wingdings" panose="05000000000000000000" pitchFamily="2" charset="2"/>
              </a:rPr>
              <a:t>：</a:t>
            </a:r>
            <a:r>
              <a:rPr lang="en-US" altLang="zh-CN" sz="2400" dirty="0">
                <a:solidFill>
                  <a:schemeClr val="bg1"/>
                </a:solidFill>
                <a:cs typeface="Arial" panose="020B0604020202020204" pitchFamily="34" charset="0"/>
                <a:sym typeface="Wingdings" panose="05000000000000000000" pitchFamily="2" charset="2"/>
              </a:rPr>
              <a:t>3012291549</a:t>
            </a:r>
            <a:endParaRPr lang="en-US" altLang="zh-CN" sz="2400" dirty="0">
              <a:solidFill>
                <a:schemeClr val="bg1"/>
              </a:solidFill>
              <a:cs typeface="Arial" panose="020B0604020202020204" pitchFamily="34" charset="0"/>
            </a:endParaRPr>
          </a:p>
          <a:p>
            <a:pPr marL="0" indent="0" rtl="0">
              <a:buNone/>
            </a:pPr>
            <a:r>
              <a:rPr lang="zh-CN" altLang="en-US" sz="2400" dirty="0">
                <a:solidFill>
                  <a:schemeClr val="bg1"/>
                </a:solidFill>
                <a:cs typeface="Arial" panose="020B0604020202020204" pitchFamily="34" charset="0"/>
              </a:rPr>
              <a:t>答辩时间：</a:t>
            </a:r>
            <a:r>
              <a:rPr lang="en-US" sz="2400" dirty="0">
                <a:solidFill>
                  <a:schemeClr val="bg1"/>
                </a:solidFill>
                <a:cs typeface="Arial" panose="020B0604020202020204" pitchFamily="34" charset="0"/>
              </a:rPr>
              <a:t>2026.03.XX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r>
              <a:rPr lang="en-US" altLang="zh-CN" b="1" dirty="0"/>
              <a:t>Git</a:t>
            </a:r>
            <a:endParaRPr lang="en-US" altLang="zh-CN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F4D5FA61-F154-D23A-8E9E-6CE3E193FA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4433" y="1412776"/>
            <a:ext cx="1438476" cy="1600423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766ACE0F-0C11-705E-8E0A-0DBBBDB4F45D}"/>
              </a:ext>
            </a:extLst>
          </p:cNvPr>
          <p:cNvSpPr txBox="1"/>
          <p:nvPr/>
        </p:nvSpPr>
        <p:spPr>
          <a:xfrm>
            <a:off x="2423592" y="1556792"/>
            <a:ext cx="9937104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 err="1"/>
              <a:t>Github</a:t>
            </a:r>
            <a:r>
              <a:rPr lang="zh-CN" altLang="en-US" sz="2400" b="1" dirty="0"/>
              <a:t>：</a:t>
            </a:r>
            <a:r>
              <a:rPr lang="en-US" altLang="zh-CN" sz="2400" b="1" dirty="0"/>
              <a:t>fork</a:t>
            </a:r>
          </a:p>
          <a:p>
            <a:r>
              <a:rPr lang="en-US" altLang="zh-CN" sz="2400" b="1" dirty="0"/>
              <a:t>git clone </a:t>
            </a:r>
            <a:r>
              <a:rPr lang="en-US" altLang="zh-CN" sz="2400" b="1" dirty="0">
                <a:hlinkClick r:id="rId4"/>
              </a:rPr>
              <a:t>https://github.com/rain-lei/oureda-25-web-winter.git</a:t>
            </a:r>
            <a:endParaRPr lang="en-US" altLang="zh-CN" sz="2400" b="1" dirty="0"/>
          </a:p>
          <a:p>
            <a:r>
              <a:rPr lang="en-US" altLang="zh-CN" sz="2400" b="1" dirty="0"/>
              <a:t>git checkout -b git-homework</a:t>
            </a:r>
          </a:p>
          <a:p>
            <a:r>
              <a:rPr lang="en-US" altLang="zh-CN" sz="2400" b="1" dirty="0"/>
              <a:t>git add .</a:t>
            </a:r>
          </a:p>
          <a:p>
            <a:r>
              <a:rPr lang="en-US" altLang="zh-CN" sz="2400" b="1" dirty="0"/>
              <a:t>git commit -m “”</a:t>
            </a:r>
          </a:p>
          <a:p>
            <a:r>
              <a:rPr lang="en-US" altLang="zh-CN" sz="2400" b="1" dirty="0"/>
              <a:t>git push origin git-homework</a:t>
            </a:r>
          </a:p>
          <a:p>
            <a:r>
              <a:rPr lang="en-US" altLang="zh-CN" sz="2400" b="1" dirty="0" err="1"/>
              <a:t>Github</a:t>
            </a:r>
            <a:r>
              <a:rPr lang="zh-CN" altLang="en-US" sz="2400" b="1" dirty="0"/>
              <a:t>操作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FAE478A5-9D2C-DBE1-25B7-4CE048242A5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266" y="5597858"/>
            <a:ext cx="7449590" cy="103837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BD95CE-7652-1E64-DF1F-19BB64BF94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4CEB370-C7CF-0F62-3A2D-F31748C267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r>
              <a:rPr lang="zh-CN" altLang="en-US" dirty="0"/>
              <a:t>知识点自测</a:t>
            </a:r>
            <a:endParaRPr lang="en-US" altLang="zh-CN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75B7CCA4-D692-8F7B-2EAB-3F8F8D3441D5}"/>
              </a:ext>
            </a:extLst>
          </p:cNvPr>
          <p:cNvSpPr txBox="1"/>
          <p:nvPr/>
        </p:nvSpPr>
        <p:spPr>
          <a:xfrm>
            <a:off x="335360" y="5318082"/>
            <a:ext cx="993710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/>
              <a:t>【3</a:t>
            </a:r>
            <a:r>
              <a:rPr lang="zh-CN" altLang="en-US" sz="2400" b="1" dirty="0"/>
              <a:t>小时前端入门教程（</a:t>
            </a:r>
            <a:r>
              <a:rPr lang="en-US" altLang="zh-CN" sz="2400" b="1" dirty="0"/>
              <a:t>HTML+CSS+JS</a:t>
            </a:r>
            <a:r>
              <a:rPr lang="zh-CN" altLang="en-US" sz="2400" b="1" dirty="0"/>
              <a:t>）</a:t>
            </a:r>
            <a:r>
              <a:rPr lang="en-US" altLang="zh-CN" sz="2400" b="1" dirty="0"/>
              <a:t>】 https://www.bilibili.com/video/BV1BT4y1W7Aw/?share_source=copy_web&amp;vd_source=058ab172730a5bc8ad036318d540a3c0</a:t>
            </a:r>
            <a:endParaRPr lang="zh-CN" altLang="en-US" sz="2400" b="1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BADCB2CE-2AF1-DC3B-EB7F-F03DFD658D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360" y="1124744"/>
            <a:ext cx="4427316" cy="3809551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3E5783A4-4E30-DA92-C312-EF6808832C4E}"/>
              </a:ext>
            </a:extLst>
          </p:cNvPr>
          <p:cNvSpPr txBox="1"/>
          <p:nvPr/>
        </p:nvSpPr>
        <p:spPr>
          <a:xfrm>
            <a:off x="5159896" y="2960674"/>
            <a:ext cx="518457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 dirty="0"/>
              <a:t>+	</a:t>
            </a:r>
            <a:r>
              <a:rPr lang="zh-CN" altLang="en-US" sz="3200" b="1" dirty="0"/>
              <a:t>专项问题补充（黑马）</a:t>
            </a:r>
            <a:endParaRPr lang="en-US" altLang="zh-CN" sz="3200" b="1" dirty="0"/>
          </a:p>
          <a:p>
            <a:r>
              <a:rPr lang="en-US" altLang="zh-CN" sz="3200" b="1" dirty="0"/>
              <a:t>+	AI</a:t>
            </a:r>
          </a:p>
          <a:p>
            <a:r>
              <a:rPr lang="en-US" altLang="zh-CN" sz="3200" b="1" dirty="0"/>
              <a:t>+	</a:t>
            </a:r>
            <a:r>
              <a:rPr lang="zh-CN" altLang="en-US" sz="3200" b="1" dirty="0"/>
              <a:t>菜鸟教程</a:t>
            </a: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314302C7-F40C-E2E7-F9BF-69999BB2EF6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75920" y="775495"/>
            <a:ext cx="5663952" cy="18099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61617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4609A7-3C36-AF99-3E58-3974C40B89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D3516FF-B2D4-9A5D-2EF3-54078FD0A6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r>
              <a:rPr lang="en-US" altLang="zh-CN" b="1" dirty="0"/>
              <a:t>Wordle</a:t>
            </a:r>
            <a:endParaRPr lang="en-US" altLang="zh-CN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6F4B4106-A4F8-06ED-1935-BFB3D90803B3}"/>
              </a:ext>
            </a:extLst>
          </p:cNvPr>
          <p:cNvSpPr txBox="1"/>
          <p:nvPr/>
        </p:nvSpPr>
        <p:spPr>
          <a:xfrm>
            <a:off x="2423592" y="1556792"/>
            <a:ext cx="99371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altLang="zh-CN" sz="2400" b="1" dirty="0" err="1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51017C1F-8065-496B-5F6D-1E38766208D7}"/>
              </a:ext>
            </a:extLst>
          </p:cNvPr>
          <p:cNvSpPr txBox="1"/>
          <p:nvPr/>
        </p:nvSpPr>
        <p:spPr>
          <a:xfrm>
            <a:off x="604433" y="1196752"/>
            <a:ext cx="10964175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1.</a:t>
            </a:r>
            <a:r>
              <a:rPr lang="zh-CN" altLang="en-US" dirty="0"/>
              <a:t>尝试</a:t>
            </a:r>
            <a:r>
              <a:rPr lang="en-US" altLang="zh-CN" dirty="0" err="1"/>
              <a:t>TRAEsolo</a:t>
            </a:r>
            <a:r>
              <a:rPr lang="zh-CN" altLang="en-US" dirty="0"/>
              <a:t>功能，新建</a:t>
            </a:r>
            <a:r>
              <a:rPr lang="en-US" altLang="zh-CN" dirty="0" err="1"/>
              <a:t>aisolo</a:t>
            </a:r>
            <a:r>
              <a:rPr lang="zh-CN" altLang="en-US" dirty="0"/>
              <a:t>分支</a:t>
            </a:r>
            <a:r>
              <a:rPr lang="en-US" altLang="zh-CN" dirty="0"/>
              <a:t>-&gt;</a:t>
            </a:r>
            <a:r>
              <a:rPr lang="zh-CN" altLang="en-US" dirty="0"/>
              <a:t>整体效果不理想</a:t>
            </a:r>
            <a:endParaRPr lang="en-US" altLang="zh-CN" dirty="0"/>
          </a:p>
          <a:p>
            <a:r>
              <a:rPr lang="en-US" altLang="zh-CN" dirty="0"/>
              <a:t>2.</a:t>
            </a:r>
            <a:r>
              <a:rPr lang="zh-CN" altLang="en-US" dirty="0"/>
              <a:t>转为</a:t>
            </a:r>
            <a:r>
              <a:rPr lang="en-US" altLang="zh-CN" dirty="0"/>
              <a:t>ai</a:t>
            </a:r>
            <a:r>
              <a:rPr lang="zh-CN" altLang="en-US" dirty="0"/>
              <a:t>讲解步骤，指导每一步该做什么</a:t>
            </a:r>
            <a:r>
              <a:rPr lang="en-US" altLang="zh-CN" dirty="0"/>
              <a:t>+</a:t>
            </a:r>
            <a:r>
              <a:rPr lang="zh-CN" altLang="en-US" dirty="0"/>
              <a:t>下一步该做什么</a:t>
            </a:r>
            <a:r>
              <a:rPr lang="en-US" altLang="zh-CN" dirty="0"/>
              <a:t>+</a:t>
            </a:r>
            <a:r>
              <a:rPr lang="zh-CN" altLang="en-US" dirty="0"/>
              <a:t>本步是否有</a:t>
            </a:r>
            <a:r>
              <a:rPr lang="en-US" altLang="zh-CN" dirty="0"/>
              <a:t>bug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/>
              <a:t>总体使用</a:t>
            </a:r>
            <a:r>
              <a:rPr lang="en-US" altLang="zh-CN" dirty="0"/>
              <a:t>copilot</a:t>
            </a:r>
            <a:r>
              <a:rPr lang="zh-CN" altLang="en-US" dirty="0"/>
              <a:t>辅助</a:t>
            </a:r>
            <a:endParaRPr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/>
              <a:t>新建</a:t>
            </a:r>
            <a:r>
              <a:rPr lang="en-US" altLang="zh-CN" dirty="0" err="1"/>
              <a:t>ai_guide</a:t>
            </a:r>
            <a:r>
              <a:rPr lang="zh-CN" altLang="en-US" dirty="0"/>
              <a:t>文件，所有交互尽量集成在该</a:t>
            </a:r>
            <a:r>
              <a:rPr lang="en-US" altLang="zh-CN" dirty="0"/>
              <a:t>markdown</a:t>
            </a:r>
            <a:r>
              <a:rPr lang="zh-CN" altLang="en-US" dirty="0"/>
              <a:t>文档中</a:t>
            </a:r>
            <a:endParaRPr lang="en-US" altLang="zh-CN" dirty="0"/>
          </a:p>
          <a:p>
            <a:pPr marL="800100" lvl="1" indent="-342900">
              <a:buFont typeface="+mj-lt"/>
              <a:buAutoNum type="arabicPeriod"/>
            </a:pPr>
            <a:r>
              <a:rPr lang="zh-CN" altLang="en-US" dirty="0"/>
              <a:t>不直接修改代码，确保代码完整性不被大部分修改</a:t>
            </a:r>
            <a:endParaRPr lang="en-US" altLang="zh-CN" dirty="0"/>
          </a:p>
          <a:p>
            <a:pPr marL="800100" lvl="1" indent="-342900">
              <a:buFont typeface="+mj-lt"/>
              <a:buAutoNum type="arabicPeriod"/>
            </a:pPr>
            <a:r>
              <a:rPr lang="zh-CN" altLang="en-US" dirty="0"/>
              <a:t>能把握编程节奏</a:t>
            </a:r>
            <a:endParaRPr lang="en-US" altLang="zh-CN" dirty="0"/>
          </a:p>
          <a:p>
            <a:pPr marL="800100" lvl="1" indent="-342900">
              <a:buFont typeface="+mj-lt"/>
              <a:buAutoNum type="arabicPeriod"/>
            </a:pPr>
            <a:r>
              <a:rPr lang="zh-CN" altLang="en-US" dirty="0"/>
              <a:t>避免上下文过长使得</a:t>
            </a:r>
            <a:r>
              <a:rPr lang="en-US" altLang="zh-CN" dirty="0"/>
              <a:t>ai</a:t>
            </a:r>
            <a:r>
              <a:rPr lang="zh-CN" altLang="en-US" dirty="0"/>
              <a:t>记忆失效</a:t>
            </a:r>
            <a:endParaRPr lang="en-US" altLang="zh-CN" dirty="0"/>
          </a:p>
          <a:p>
            <a:pPr marL="800100" lvl="1" indent="-342900">
              <a:buFont typeface="+mj-lt"/>
              <a:buAutoNum type="arabicPeriod"/>
            </a:pPr>
            <a:r>
              <a:rPr lang="zh-CN" altLang="en-US" dirty="0"/>
              <a:t>使开发过程有迹可循，条理顺序清晰</a:t>
            </a:r>
            <a:endParaRPr lang="en-US" altLang="zh-CN" dirty="0"/>
          </a:p>
          <a:p>
            <a:pPr marL="800100" lvl="1" indent="-342900">
              <a:buFont typeface="+mj-lt"/>
              <a:buAutoNum type="arabicPeriod"/>
            </a:pPr>
            <a:endParaRPr lang="en-US" altLang="zh-CN" dirty="0"/>
          </a:p>
          <a:p>
            <a:pPr lvl="1"/>
            <a:r>
              <a:rPr lang="zh-CN" altLang="en-US" dirty="0"/>
              <a:t>类似于</a:t>
            </a:r>
            <a:r>
              <a:rPr lang="en-US" altLang="zh-CN" dirty="0"/>
              <a:t>Skill</a:t>
            </a:r>
          </a:p>
          <a:p>
            <a:pPr marL="800100" lvl="1" indent="-342900">
              <a:buFont typeface="+mj-lt"/>
              <a:buAutoNum type="arabicPeriod"/>
            </a:pPr>
            <a:endParaRPr lang="en-US" altLang="zh-CN" dirty="0"/>
          </a:p>
          <a:p>
            <a:pPr marL="800100" lvl="1" indent="-342900">
              <a:buFont typeface="+mj-lt"/>
              <a:buAutoNum type="arabicPeriod"/>
            </a:pPr>
            <a:endParaRPr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zh-CN" altLang="en-US" dirty="0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4B22BC85-FD9B-7F70-E2A1-148237F184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60096" y="1787624"/>
            <a:ext cx="5826984" cy="44910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63876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66C33DE-4B05-6F3C-0446-6588E68BF1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14" name="内容占位符 13">
            <a:extLst>
              <a:ext uri="{FF2B5EF4-FFF2-40B4-BE49-F238E27FC236}">
                <a16:creationId xmlns:a16="http://schemas.microsoft.com/office/drawing/2014/main" id="{78A9B2AE-B318-6EC3-827A-72F2A61BE24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1344" y="980727"/>
            <a:ext cx="11665296" cy="55819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35658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B2B2B07-D27B-C301-41D8-031B99B384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核心函数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CC421AF-F9D6-8339-6BA4-15F5D275F1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980728"/>
            <a:ext cx="10154343" cy="5196235"/>
          </a:xfrm>
        </p:spPr>
        <p:txBody>
          <a:bodyPr numCol="3">
            <a:normAutofit fontScale="92500" lnSpcReduction="10000"/>
          </a:bodyPr>
          <a:lstStyle/>
          <a:p>
            <a:pPr>
              <a:lnSpc>
                <a:spcPct val="120000"/>
              </a:lnSpc>
            </a:pPr>
            <a:r>
              <a:rPr lang="en-US" altLang="zh-CN" u="sng" dirty="0" err="1">
                <a:hlinkClick r:id="rId2"/>
              </a:rPr>
              <a:t>codewars</a:t>
            </a:r>
            <a:endParaRPr lang="en-US" altLang="zh-CN" dirty="0"/>
          </a:p>
          <a:p>
            <a:pPr>
              <a:lnSpc>
                <a:spcPct val="120000"/>
              </a:lnSpc>
            </a:pPr>
            <a:r>
              <a:rPr lang="en-US" altLang="zh-CN" dirty="0"/>
              <a:t>function resolver(guess, answer) {</a:t>
            </a:r>
          </a:p>
          <a:p>
            <a:pPr>
              <a:lnSpc>
                <a:spcPct val="120000"/>
              </a:lnSpc>
            </a:pPr>
            <a:r>
              <a:rPr lang="en-US" altLang="zh-CN" dirty="0"/>
              <a:t>  let </a:t>
            </a:r>
            <a:r>
              <a:rPr lang="en-US" altLang="zh-CN" dirty="0" err="1"/>
              <a:t>answerLength</a:t>
            </a:r>
            <a:r>
              <a:rPr lang="en-US" altLang="zh-CN" dirty="0"/>
              <a:t> = 5;</a:t>
            </a:r>
          </a:p>
          <a:p>
            <a:pPr>
              <a:lnSpc>
                <a:spcPct val="120000"/>
              </a:lnSpc>
            </a:pPr>
            <a:r>
              <a:rPr lang="en-US" altLang="zh-CN" dirty="0"/>
              <a:t>  let result = ['b', 'b', 'b', 'b', 'b'];</a:t>
            </a:r>
          </a:p>
          <a:p>
            <a:pPr>
              <a:lnSpc>
                <a:spcPct val="120000"/>
              </a:lnSpc>
            </a:pPr>
            <a:r>
              <a:rPr lang="en-US" altLang="zh-CN" dirty="0"/>
              <a:t>  let </a:t>
            </a:r>
            <a:r>
              <a:rPr lang="en-US" altLang="zh-CN" dirty="0" err="1"/>
              <a:t>guessArr</a:t>
            </a:r>
            <a:r>
              <a:rPr lang="en-US" altLang="zh-CN" dirty="0"/>
              <a:t> = </a:t>
            </a:r>
            <a:r>
              <a:rPr lang="en-US" altLang="zh-CN" dirty="0" err="1"/>
              <a:t>guess.toUpperCase</a:t>
            </a:r>
            <a:r>
              <a:rPr lang="en-US" altLang="zh-CN" dirty="0"/>
              <a:t>().split("");</a:t>
            </a:r>
          </a:p>
          <a:p>
            <a:pPr>
              <a:lnSpc>
                <a:spcPct val="120000"/>
              </a:lnSpc>
            </a:pPr>
            <a:r>
              <a:rPr lang="en-US" altLang="zh-CN" dirty="0"/>
              <a:t>  let </a:t>
            </a:r>
            <a:r>
              <a:rPr lang="en-US" altLang="zh-CN" dirty="0" err="1"/>
              <a:t>answerArr</a:t>
            </a:r>
            <a:r>
              <a:rPr lang="en-US" altLang="zh-CN" dirty="0"/>
              <a:t> = </a:t>
            </a:r>
            <a:r>
              <a:rPr lang="en-US" altLang="zh-CN" dirty="0" err="1"/>
              <a:t>answer.toUpperCase</a:t>
            </a:r>
            <a:r>
              <a:rPr lang="en-US" altLang="zh-CN" dirty="0"/>
              <a:t>().split("");</a:t>
            </a:r>
          </a:p>
          <a:p>
            <a:pPr>
              <a:lnSpc>
                <a:spcPct val="120000"/>
              </a:lnSpc>
            </a:pPr>
            <a:r>
              <a:rPr lang="en-US" altLang="zh-CN" dirty="0"/>
              <a:t>  for (let </a:t>
            </a:r>
            <a:r>
              <a:rPr lang="en-US" altLang="zh-CN" dirty="0" err="1"/>
              <a:t>i</a:t>
            </a:r>
            <a:r>
              <a:rPr lang="en-US" altLang="zh-CN" dirty="0"/>
              <a:t> = 0 ; </a:t>
            </a:r>
            <a:r>
              <a:rPr lang="en-US" altLang="zh-CN" dirty="0" err="1"/>
              <a:t>i</a:t>
            </a:r>
            <a:r>
              <a:rPr lang="en-US" altLang="zh-CN" dirty="0"/>
              <a:t> &lt; </a:t>
            </a:r>
            <a:r>
              <a:rPr lang="en-US" altLang="zh-CN" dirty="0" err="1"/>
              <a:t>answerLength</a:t>
            </a:r>
            <a:r>
              <a:rPr lang="en-US" altLang="zh-CN" dirty="0"/>
              <a:t> ; </a:t>
            </a:r>
            <a:r>
              <a:rPr lang="en-US" altLang="zh-CN" dirty="0" err="1"/>
              <a:t>i</a:t>
            </a:r>
            <a:r>
              <a:rPr lang="en-US" altLang="zh-CN" dirty="0"/>
              <a:t>++) {</a:t>
            </a:r>
          </a:p>
          <a:p>
            <a:pPr>
              <a:lnSpc>
                <a:spcPct val="120000"/>
              </a:lnSpc>
            </a:pPr>
            <a:r>
              <a:rPr lang="en-US" altLang="zh-CN" dirty="0"/>
              <a:t>    if (</a:t>
            </a:r>
            <a:r>
              <a:rPr lang="en-US" altLang="zh-CN" dirty="0" err="1"/>
              <a:t>guessArr</a:t>
            </a:r>
            <a:r>
              <a:rPr lang="en-US" altLang="zh-CN" dirty="0"/>
              <a:t>[</a:t>
            </a:r>
            <a:r>
              <a:rPr lang="en-US" altLang="zh-CN" dirty="0" err="1"/>
              <a:t>i</a:t>
            </a:r>
            <a:r>
              <a:rPr lang="en-US" altLang="zh-CN" dirty="0"/>
              <a:t>] === </a:t>
            </a:r>
            <a:r>
              <a:rPr lang="en-US" altLang="zh-CN" dirty="0" err="1"/>
              <a:t>answerArr</a:t>
            </a:r>
            <a:r>
              <a:rPr lang="en-US" altLang="zh-CN" dirty="0"/>
              <a:t>[</a:t>
            </a:r>
            <a:r>
              <a:rPr lang="en-US" altLang="zh-CN" dirty="0" err="1"/>
              <a:t>i</a:t>
            </a:r>
            <a:r>
              <a:rPr lang="en-US" altLang="zh-CN" dirty="0"/>
              <a:t>]) {</a:t>
            </a:r>
          </a:p>
          <a:p>
            <a:pPr>
              <a:lnSpc>
                <a:spcPct val="120000"/>
              </a:lnSpc>
            </a:pPr>
            <a:r>
              <a:rPr lang="en-US" altLang="zh-CN" dirty="0"/>
              <a:t>      result[</a:t>
            </a:r>
            <a:r>
              <a:rPr lang="en-US" altLang="zh-CN" dirty="0" err="1"/>
              <a:t>i</a:t>
            </a:r>
            <a:r>
              <a:rPr lang="en-US" altLang="zh-CN" dirty="0"/>
              <a:t>] = 'g';</a:t>
            </a:r>
          </a:p>
          <a:p>
            <a:pPr>
              <a:lnSpc>
                <a:spcPct val="120000"/>
              </a:lnSpc>
            </a:pPr>
            <a:r>
              <a:rPr lang="en-US" altLang="zh-CN" dirty="0"/>
              <a:t>      </a:t>
            </a:r>
            <a:r>
              <a:rPr lang="en-US" altLang="zh-CN" dirty="0" err="1"/>
              <a:t>answerArr</a:t>
            </a:r>
            <a:r>
              <a:rPr lang="en-US" altLang="zh-CN" dirty="0"/>
              <a:t>[</a:t>
            </a:r>
            <a:r>
              <a:rPr lang="en-US" altLang="zh-CN" dirty="0" err="1"/>
              <a:t>i</a:t>
            </a:r>
            <a:r>
              <a:rPr lang="en-US" altLang="zh-CN" dirty="0"/>
              <a:t>] = '';</a:t>
            </a:r>
          </a:p>
          <a:p>
            <a:pPr>
              <a:lnSpc>
                <a:spcPct val="120000"/>
              </a:lnSpc>
            </a:pPr>
            <a:r>
              <a:rPr lang="en-US" altLang="zh-CN" dirty="0"/>
              <a:t>    }</a:t>
            </a:r>
          </a:p>
          <a:p>
            <a:pPr>
              <a:lnSpc>
                <a:spcPct val="120000"/>
              </a:lnSpc>
            </a:pPr>
            <a:r>
              <a:rPr lang="en-US" altLang="zh-CN" dirty="0"/>
              <a:t>  }</a:t>
            </a:r>
          </a:p>
          <a:p>
            <a:pPr>
              <a:lnSpc>
                <a:spcPct val="120000"/>
              </a:lnSpc>
            </a:pPr>
            <a:r>
              <a:rPr lang="en-US" altLang="zh-CN" dirty="0"/>
              <a:t>  for (let </a:t>
            </a:r>
            <a:r>
              <a:rPr lang="en-US" altLang="zh-CN" dirty="0" err="1"/>
              <a:t>i</a:t>
            </a:r>
            <a:r>
              <a:rPr lang="en-US" altLang="zh-CN" dirty="0"/>
              <a:t> = 0 ; </a:t>
            </a:r>
            <a:r>
              <a:rPr lang="en-US" altLang="zh-CN" dirty="0" err="1"/>
              <a:t>i</a:t>
            </a:r>
            <a:r>
              <a:rPr lang="en-US" altLang="zh-CN" dirty="0"/>
              <a:t> &lt; </a:t>
            </a:r>
            <a:r>
              <a:rPr lang="en-US" altLang="zh-CN" dirty="0" err="1"/>
              <a:t>answerLength</a:t>
            </a:r>
            <a:r>
              <a:rPr lang="en-US" altLang="zh-CN" dirty="0"/>
              <a:t> ; </a:t>
            </a:r>
            <a:r>
              <a:rPr lang="en-US" altLang="zh-CN" dirty="0" err="1"/>
              <a:t>i</a:t>
            </a:r>
            <a:r>
              <a:rPr lang="en-US" altLang="zh-CN" dirty="0"/>
              <a:t>++) {</a:t>
            </a:r>
          </a:p>
          <a:p>
            <a:pPr>
              <a:lnSpc>
                <a:spcPct val="120000"/>
              </a:lnSpc>
            </a:pPr>
            <a:r>
              <a:rPr lang="en-US" altLang="zh-CN" dirty="0"/>
              <a:t>    if (result[</a:t>
            </a:r>
            <a:r>
              <a:rPr lang="en-US" altLang="zh-CN" dirty="0" err="1"/>
              <a:t>i</a:t>
            </a:r>
            <a:r>
              <a:rPr lang="en-US" altLang="zh-CN" dirty="0"/>
              <a:t>] !== 'g')</a:t>
            </a:r>
          </a:p>
          <a:p>
            <a:pPr>
              <a:lnSpc>
                <a:spcPct val="120000"/>
              </a:lnSpc>
            </a:pPr>
            <a:r>
              <a:rPr lang="en-US" altLang="zh-CN" dirty="0"/>
              <a:t>    {</a:t>
            </a:r>
          </a:p>
          <a:p>
            <a:pPr>
              <a:lnSpc>
                <a:spcPct val="120000"/>
              </a:lnSpc>
            </a:pPr>
            <a:endParaRPr lang="en-US" altLang="zh-CN" dirty="0"/>
          </a:p>
          <a:p>
            <a:pPr>
              <a:lnSpc>
                <a:spcPct val="120000"/>
              </a:lnSpc>
            </a:pPr>
            <a:r>
              <a:rPr lang="en-US" altLang="zh-CN" dirty="0"/>
              <a:t>    </a:t>
            </a:r>
          </a:p>
          <a:p>
            <a:pPr>
              <a:lnSpc>
                <a:spcPct val="120000"/>
              </a:lnSpc>
            </a:pPr>
            <a:r>
              <a:rPr lang="en-US" altLang="zh-CN" dirty="0"/>
              <a:t>            for (let j = 0 ; j &lt; </a:t>
            </a:r>
            <a:r>
              <a:rPr lang="en-US" altLang="zh-CN" dirty="0" err="1"/>
              <a:t>answerLength</a:t>
            </a:r>
            <a:r>
              <a:rPr lang="en-US" altLang="zh-CN" dirty="0"/>
              <a:t> ; </a:t>
            </a:r>
            <a:r>
              <a:rPr lang="en-US" altLang="zh-CN" dirty="0" err="1"/>
              <a:t>j++</a:t>
            </a:r>
            <a:r>
              <a:rPr lang="en-US" altLang="zh-CN" dirty="0"/>
              <a:t>) {</a:t>
            </a:r>
          </a:p>
          <a:p>
            <a:pPr>
              <a:lnSpc>
                <a:spcPct val="120000"/>
              </a:lnSpc>
            </a:pPr>
            <a:r>
              <a:rPr lang="en-US" altLang="zh-CN" dirty="0"/>
              <a:t>                         if (</a:t>
            </a:r>
            <a:r>
              <a:rPr lang="en-US" altLang="zh-CN" dirty="0" err="1"/>
              <a:t>guessArr</a:t>
            </a:r>
            <a:r>
              <a:rPr lang="en-US" altLang="zh-CN" dirty="0"/>
              <a:t>[</a:t>
            </a:r>
            <a:r>
              <a:rPr lang="en-US" altLang="zh-CN" dirty="0" err="1"/>
              <a:t>i</a:t>
            </a:r>
            <a:r>
              <a:rPr lang="en-US" altLang="zh-CN" dirty="0"/>
              <a:t>] === </a:t>
            </a:r>
            <a:r>
              <a:rPr lang="en-US" altLang="zh-CN" dirty="0" err="1"/>
              <a:t>answerArr</a:t>
            </a:r>
            <a:r>
              <a:rPr lang="en-US" altLang="zh-CN" dirty="0"/>
              <a:t>[j]) </a:t>
            </a:r>
          </a:p>
          <a:p>
            <a:pPr>
              <a:lnSpc>
                <a:spcPct val="120000"/>
              </a:lnSpc>
            </a:pPr>
            <a:r>
              <a:rPr lang="en-US" altLang="zh-CN" dirty="0"/>
              <a:t>                        {</a:t>
            </a:r>
          </a:p>
          <a:p>
            <a:pPr>
              <a:lnSpc>
                <a:spcPct val="120000"/>
              </a:lnSpc>
            </a:pPr>
            <a:r>
              <a:rPr lang="en-US" altLang="zh-CN" dirty="0"/>
              <a:t>                         result[</a:t>
            </a:r>
            <a:r>
              <a:rPr lang="en-US" altLang="zh-CN" dirty="0" err="1"/>
              <a:t>i</a:t>
            </a:r>
            <a:r>
              <a:rPr lang="en-US" altLang="zh-CN" dirty="0"/>
              <a:t>] = 'y';</a:t>
            </a:r>
          </a:p>
          <a:p>
            <a:pPr>
              <a:lnSpc>
                <a:spcPct val="120000"/>
              </a:lnSpc>
            </a:pPr>
            <a:r>
              <a:rPr lang="en-US" altLang="zh-CN" dirty="0"/>
              <a:t>                         </a:t>
            </a:r>
            <a:r>
              <a:rPr lang="en-US" altLang="zh-CN" dirty="0" err="1"/>
              <a:t>answerArr</a:t>
            </a:r>
            <a:r>
              <a:rPr lang="en-US" altLang="zh-CN" dirty="0"/>
              <a:t>[j] = '';</a:t>
            </a:r>
          </a:p>
          <a:p>
            <a:pPr>
              <a:lnSpc>
                <a:spcPct val="120000"/>
              </a:lnSpc>
            </a:pPr>
            <a:r>
              <a:rPr lang="en-US" altLang="zh-CN" dirty="0"/>
              <a:t>                         break;</a:t>
            </a:r>
          </a:p>
          <a:p>
            <a:pPr>
              <a:lnSpc>
                <a:spcPct val="120000"/>
              </a:lnSpc>
            </a:pPr>
            <a:r>
              <a:rPr lang="en-US" altLang="zh-CN" dirty="0"/>
              <a:t>                         }</a:t>
            </a:r>
          </a:p>
          <a:p>
            <a:pPr>
              <a:lnSpc>
                <a:spcPct val="120000"/>
              </a:lnSpc>
            </a:pPr>
            <a:r>
              <a:rPr lang="en-US" altLang="zh-CN" dirty="0"/>
              <a:t>            }</a:t>
            </a:r>
          </a:p>
          <a:p>
            <a:pPr>
              <a:lnSpc>
                <a:spcPct val="120000"/>
              </a:lnSpc>
            </a:pPr>
            <a:r>
              <a:rPr lang="en-US" altLang="zh-CN" dirty="0"/>
              <a:t>    }</a:t>
            </a:r>
          </a:p>
          <a:p>
            <a:pPr>
              <a:lnSpc>
                <a:spcPct val="120000"/>
              </a:lnSpc>
            </a:pPr>
            <a:r>
              <a:rPr lang="en-US" altLang="zh-CN" dirty="0"/>
              <a:t>}</a:t>
            </a:r>
          </a:p>
          <a:p>
            <a:pPr>
              <a:lnSpc>
                <a:spcPct val="120000"/>
              </a:lnSpc>
            </a:pPr>
            <a:endParaRPr lang="en-US" altLang="zh-CN" dirty="0"/>
          </a:p>
          <a:p>
            <a:pPr>
              <a:lnSpc>
                <a:spcPct val="120000"/>
              </a:lnSpc>
            </a:pPr>
            <a:r>
              <a:rPr lang="en-US" altLang="zh-CN" dirty="0"/>
              <a:t>  return </a:t>
            </a:r>
            <a:r>
              <a:rPr lang="en-US" altLang="zh-CN" dirty="0" err="1"/>
              <a:t>result.join</a:t>
            </a:r>
            <a:r>
              <a:rPr lang="en-US" altLang="zh-CN" dirty="0"/>
              <a:t>('');</a:t>
            </a:r>
          </a:p>
          <a:p>
            <a:pPr>
              <a:lnSpc>
                <a:spcPct val="120000"/>
              </a:lnSpc>
            </a:pPr>
            <a:r>
              <a:rPr lang="en-US" altLang="zh-CN" dirty="0"/>
              <a:t>}</a:t>
            </a:r>
            <a:endParaRPr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405739E8-9044-6877-F682-02FAB591AE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9376" y="-10923"/>
            <a:ext cx="1138841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40074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 idx="4294967295"/>
          </p:nvPr>
        </p:nvSpPr>
        <p:spPr>
          <a:xfrm>
            <a:off x="838200" y="2492896"/>
            <a:ext cx="10515600" cy="1325563"/>
          </a:xfrm>
        </p:spPr>
        <p:txBody>
          <a:bodyPr rtlCol="0"/>
          <a:lstStyle/>
          <a:p>
            <a:pPr algn="ctr" rtl="0"/>
            <a:r>
              <a:rPr lang="zh-CN" altLang="en-US" dirty="0">
                <a:solidFill>
                  <a:srgbClr val="FF0000"/>
                </a:solidFill>
              </a:rPr>
              <a:t>结束语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PP_MARK_KEY" val="1c29d4c5-cc17-4b6f-87aa-cc5e40ecfbd0"/>
  <p:tag name="COMMONDATA" val="eyJoZGlkIjoiYjdlZjIwZmNkNzI3MzEwMzZmOTQyZTUzYzc4MjYwZjAifQ=="/>
</p:tagLst>
</file>

<file path=ppt/theme/theme1.xml><?xml version="1.0" encoding="utf-8"?>
<a:theme xmlns:a="http://schemas.openxmlformats.org/drawingml/2006/main" name="欢迎文档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欢迎文档</Template>
  <TotalTime>405</TotalTime>
  <Words>415</Words>
  <Application>Microsoft Office PowerPoint</Application>
  <PresentationFormat>宽屏</PresentationFormat>
  <Paragraphs>66</Paragraphs>
  <Slides>7</Slides>
  <Notes>5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0" baseType="lpstr">
      <vt:lpstr>Microsoft YaHei UI</vt:lpstr>
      <vt:lpstr>Arial</vt:lpstr>
      <vt:lpstr>欢迎文档</vt:lpstr>
      <vt:lpstr>OurEDA 2025级大一上作业答辩 方向：WEB</vt:lpstr>
      <vt:lpstr>Git</vt:lpstr>
      <vt:lpstr>知识点自测</vt:lpstr>
      <vt:lpstr>Wordle</vt:lpstr>
      <vt:lpstr>PowerPoint 演示文稿</vt:lpstr>
      <vt:lpstr>核心函数</vt:lpstr>
      <vt:lpstr>结束语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鹏城实验室讨论稿汇报</dc:title>
  <dc:creator>Ming Zhu</dc:creator>
  <cp:lastModifiedBy>Yu Lei</cp:lastModifiedBy>
  <cp:revision>165</cp:revision>
  <dcterms:created xsi:type="dcterms:W3CDTF">2018-12-19T12:19:00Z</dcterms:created>
  <dcterms:modified xsi:type="dcterms:W3CDTF">2026-02-26T08:05:07Z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f42aa342-8706-4288-bd11-ebb85995028c_Enabled">
    <vt:lpwstr>True</vt:lpwstr>
  </property>
  <property fmtid="{D5CDD505-2E9C-101B-9397-08002B2CF9AE}" pid="3" name="MSIP_Label_f42aa342-8706-4288-bd11-ebb85995028c_SiteId">
    <vt:lpwstr>72f988bf-86f1-41af-91ab-2d7cd011db47</vt:lpwstr>
  </property>
  <property fmtid="{D5CDD505-2E9C-101B-9397-08002B2CF9AE}" pid="4" name="MSIP_Label_f42aa342-8706-4288-bd11-ebb85995028c_Owner">
    <vt:lpwstr>v-rimour@microsoft.com</vt:lpwstr>
  </property>
  <property fmtid="{D5CDD505-2E9C-101B-9397-08002B2CF9AE}" pid="5" name="MSIP_Label_f42aa342-8706-4288-bd11-ebb85995028c_SetDate">
    <vt:lpwstr>2018-02-19T06:21:30.1318915Z</vt:lpwstr>
  </property>
  <property fmtid="{D5CDD505-2E9C-101B-9397-08002B2CF9AE}" pid="6" name="MSIP_Label_f42aa342-8706-4288-bd11-ebb85995028c_Name">
    <vt:lpwstr>General</vt:lpwstr>
  </property>
  <property fmtid="{D5CDD505-2E9C-101B-9397-08002B2CF9AE}" pid="7" name="MSIP_Label_f42aa342-8706-4288-bd11-ebb85995028c_Application">
    <vt:lpwstr>Microsoft Azure Information Protection</vt:lpwstr>
  </property>
  <property fmtid="{D5CDD505-2E9C-101B-9397-08002B2CF9AE}" pid="8" name="MSIP_Label_f42aa342-8706-4288-bd11-ebb85995028c_Extended_MSFT_Method">
    <vt:lpwstr>Automatic</vt:lpwstr>
  </property>
  <property fmtid="{D5CDD505-2E9C-101B-9397-08002B2CF9AE}" pid="9" name="Sensitivity">
    <vt:lpwstr>General</vt:lpwstr>
  </property>
  <property fmtid="{D5CDD505-2E9C-101B-9397-08002B2CF9AE}" pid="10" name="ICV">
    <vt:lpwstr>0BC0A10890164F49BA951004C777E52E_13</vt:lpwstr>
  </property>
  <property fmtid="{D5CDD505-2E9C-101B-9397-08002B2CF9AE}" pid="11" name="KSOProductBuildVer">
    <vt:lpwstr>2052-12.1.0.19302</vt:lpwstr>
  </property>
</Properties>
</file>